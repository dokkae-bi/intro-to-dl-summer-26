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ktcwK67Wkb2ilcQHOJSFeNW5m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Good afternoon. I'm Anthony, this is Aadit. Our project is an image captioning system — a CNN encoder paired with five different language decoders. The word to hold onto in this title is 'controlled': the interesting part of our work isn't that we built a captioner, it's that we built one testbed strict enough to say something trustworthy about whether attention actually helps.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Image captioning sits exactly at the intersection of the two halves of this course. The model has to perceive what's in the image, and then render that perception as fluent grammatical English. Two applications motivate us beyond the coursework. First, accessibility: automatically produced alt-text is how screen readers convey visual web content to users with visual impairments. Second, weak labeling: a model that maps images to descriptive text can pre-annotate large image collections before a human ever looks at them.</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Here's the framing that makes this an experiment rather than a demo. Early captioning work — Show, Attend and Tell — showed attention was decisive, but it was built on much weaker visual features. A ResNet-50 pretrained on ImageNet already hands the decoder a rich representation before any language model sees it. So our hypothesis is that the incremental benefit of spatial attention may be more modest than the classic literature suggests, when the encoder is this capable and the dataset is this small. We deliberately built the setup so attention is free to help, tie, or lose — and we measure it under conditions strict enough to trust the answer either way.</a:t>
            </a:r>
            <a:endParaRPr/>
          </a:p>
        </p:txBody>
      </p:sp>
      <p:sp>
        <p:nvSpPr>
          <p:cNvPr id="41" name="Google Shape;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Every model shares the same encoder-decoder structure. An image goes once through a frozen convolutional encoder to produce spatial feature vectors; a decoder then generates the caption token by token conditioned on those features. The only component that changes across our five experiments is the decoder. Because the encoder is frozen and its outputs are cached to disk, every decoder trains on numerically identical image features — that's what lets us attribute any difference to architecture.</a:t>
            </a:r>
            <a:endParaRPr/>
          </a:p>
        </p:txBody>
      </p:sp>
      <p:sp>
        <p:nvSpPr>
          <p:cNvPr id="54" name="Google Shape;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encoder is a ResNet-50 pretrained on ImageNet, torchvision's IMAGENET1K_V2 weights. We strip the global-average-pool and classification layers and keep the last convolutional feature map. One correction worth flagging: our proposal said a 14 by 14 grid. At the 224 by 224 input resolution we actually use, ResNet-50's final stage produces a 7 by 7 grid — 49 locations. The implementation and every number we report use the correct 7 by 7 features; the proposal figure was an error. Freezing is both computational — each image is encoded exactly once and cached — and experimental, since it guarantees identical inputs to every decoder.</a:t>
            </a:r>
            <a:endParaRPr/>
          </a:p>
        </p:txBody>
      </p:sp>
      <p:sp>
        <p:nvSpPr>
          <p:cNvPr id="79" name="Google Shape;7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 are the five decoders. The baseline mean-pools the 49 spatial vectors into one image vector, projects it through a learned linear layer with tanh to initialize a single-layer GRU, and then generates autoregressively — crucially, after initialization it never attends back to the image. All visual information has to squeeze through that fixed-size initial hidden state. That bottleneck is exactly what attention was invented to remove, which makes the no-attention GRU the natural reference point. The GRU variants use 256-dimensional embeddings and 512-dimensional hidden states; the Transformer uses d_model 512 and feed-forward dimension 1024.</a:t>
            </a:r>
            <a:endParaRPr/>
          </a:p>
        </p:txBody>
      </p:sp>
      <p:sp>
        <p:nvSpPr>
          <p:cNvPr id="99" name="Google Shape;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pieces of machinery make the comparison mechanically fair rather than just nominally fair. First, a shared decoder interface: every decoder implements the same teacher-forced forward pass and the same incremental single-step decode. Because the harness calls one interface, the training loop, decoding, scoring, and logging code are identical for all five models. The recurrent attention models expose per-step spatial weights for visualization; our Transformer implementation does not expose native cross-attention matrices, so we do not show Transformer heatmaps. Second, data-integrity safeguards. The data definition is content-hashed with SHA-256, and the cached features are bound to a hash of the image ordering. A feature cache built from a different image order would have the identical tensor shape and would silently mispair every image with another image's features — the hash catches it. We train on separate machines and merge results, so this is not hypothetical.</a:t>
            </a:r>
            <a:endParaRPr/>
          </a:p>
        </p:txBody>
      </p:sp>
      <p:sp>
        <p:nvSpPr>
          <p:cNvPr id="129" name="Google Shape;12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Flickr8k: 8,091 images, five human-written captions each. We use the Karpathy splits — 6,000 train, 1,000 validation, 1,000 test — because they're widely used and make our setup comparable to published work in structure, if not in absolute numbers. Captions are </a:t>
            </a:r>
            <a:r>
              <a:rPr lang="en-US"/>
              <a:t>lowercase</a:t>
            </a:r>
            <a:r>
              <a:rPr lang="en-US"/>
              <a:t> and tokenized; the vocabulary is built from training captions only, keeping words that appear at least five times, giving 2,541 tokens including start, end, pad, and unk. Since we pair each image with each of its five captions, training is 30,000 image-caption pairs.</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Training is deliberately boring and shared wherever it should be shared. Adam, cross-entropy with teacher forcing, gradient-norm clipping at 5.0, batch size 64, up to 30 epochs with early stopping on validation BLEU-4 with patience 6. Padding tokens are masked out of the loss. The GRU models use embedding size 256 and hidden size 512, while the Transformer uses model dimension 512 and feed-forward dimension 1024. Dropout, the data pipeline, evaluation code, and the same three-value learning-rate search budget were fixed before model implementation. Everything ran on a single T4 in Colab.</a:t>
            </a:r>
            <a:endParaRPr/>
          </a:p>
        </p:txBody>
      </p:sp>
      <p:sp>
        <p:nvSpPr>
          <p:cNvPr id="169" name="Google Shape;16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slide I'd point to if you asked what's actually novel about our setup. Three steps. One: a per-architecture learning-rate search over 1e-4, 3e-4, 1e-3 using one dedicated search seed — a shared rate wouldn't be equally fair to architectures with different optimization behavior. Two: three independent fresh seeds at the selected rate. We do not reuse the search run as one of the three, because its score was optimistically selected. And because the same three seeds are used for every model, we can compare pairwise seed-by-seed. Three: model selection only on validation BLEU-4; the test set is evaluated once, after every decision is frozen into a manifest. One honest disclosure at the bottom: during early pipeline development, before this protocol existed, we did compute preliminary test scores for the baseline. After the protocol was adopted we stopped. So the test set was not entirely unseen for the baseline, and we report final numbers with that caveat.</a:t>
            </a:r>
            <a:endParaRPr/>
          </a:p>
        </p:txBody>
      </p:sp>
      <p:sp>
        <p:nvSpPr>
          <p:cNvPr id="199" name="Google Shape;1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1:notes"/>
          <p:cNvSpPr txBox="1"/>
          <p:nvPr>
            <p:ph idx="1" type="body"/>
          </p:nvPr>
        </p:nvSpPr>
        <p:spPr>
          <a:xfrm>
            <a:off x="709613" y="4424363"/>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Here's the baseline across its three final seeds at the selected rate of 3e-4. Look at the standard deviation on BLEU-4: 0.0002. Validation BLEU-4 varies by only four ten-thousandths across seeds. That tightness is itself a useful result, because it establishes the noise floor. Any improvement from an attention model that's smaller than roughly this spread cannot be distinguished from seed variation — and without having measured it, we'd have been tempted to read any difference as real.</a:t>
            </a:r>
            <a:endParaRPr/>
          </a:p>
        </p:txBody>
      </p:sp>
      <p:sp>
        <p:nvSpPr>
          <p:cNvPr id="220" name="Google Shape;2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Training dynamics for one representative seed. Training loss falls monotonically; validation loss flattens and then ticks up slightly after about epoch 11 — the familiar sign of mild overfitting. But validation BLEU-4 doesn't track validation loss. It sits on a noisy narrow plateau from about epoch 5 onward, and the two criteria disagree about the best epoch: validation loss bottoms out around epoch 11, while validation BLEU-4 for this seed peaks at epoch 8. That divergence is exactly why we select checkpoints on BLEU-4 — the quantity we actually report — rather than on loss.</a:t>
            </a:r>
            <a:endParaRPr/>
          </a:p>
        </p:txBody>
      </p:sp>
      <p:sp>
        <p:nvSpPr>
          <p:cNvPr id="284" name="Google Shape;28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headline validation table, all five decoders, three matched seeds each. Bahdanau is the best decoder at 0.1974 mean validation BLEU-4, about ten points of a thousandth above the baseline, and the gain is positive on all three matched seeds. The Transformer also improves validation BLEU-4 on all three seeds, but it needed a lower learning rate — 1e-4 — and two and a half times the parameters. Now the surprises. Luong attention is lower than having no attention at all: about minus 0.013, negative on every seed. And multi-head attention shows no consistent advantage — the per-seed deltas straddle zero despite fifty percent more parameters. So attention is not a free win, and that is only a defensible claim because we ran matched seeds and know what the variation looks like.</a:t>
            </a:r>
            <a:endParaRPr/>
          </a:p>
        </p:txBody>
      </p:sp>
      <p:sp>
        <p:nvSpPr>
          <p:cNvPr id="300" name="Google Shape;30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final test pass, run against the frozen manifest. The ordering from validation mostly holds: Bahdanau has the highest mean BLEU-4 at 0.2062, baseline is 0.1987, and Luong is lowest at 0.1798. But look at METEOR: the baseline is actually highest, 0.4150 against Bahdanau's 0.4115. So which model wins depends on which metric you ask, and none of these gaps is large. Two caveats we want to be explicit about. The TF-IDF overlap score is a simplified cosine inspired by CIDEr, not CIDEr-D, so we do not compare it to published CIDEr numbers. And on latency, the Transformer's 2.6 milliseconds per image is not a like-for-like architectural limit — it decodes by recomputing the whole prefix each step, while every GRU variant reuses recurrent state.</a:t>
            </a:r>
            <a:endParaRPr/>
          </a:p>
        </p:txBody>
      </p:sp>
      <p:sp>
        <p:nvSpPr>
          <p:cNvPr id="385" name="Google Shape;38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Beyond the numbers, the qualitative side. This slide compares the best BLEU-4 model and the lowest-scoring model on the same validation image. Bahdanau attention varies across generated words and spreads over the dog and surrounding water regions. Luong, after the first word, repeatedly returns to almost the same lower-right region. This is a single illustrative example, not proof of the architecture-wide cause, and each panel is independently min-max normalized for visibility. The point is that visualizations can suggest a plausible failure mode that the metrics alone would not show.</a:t>
            </a:r>
            <a:endParaRPr/>
          </a:p>
        </p:txBody>
      </p:sp>
      <p:sp>
        <p:nvSpPr>
          <p:cNvPr id="458" name="Google Shape;45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Most of what we learned is about experimental discipline rather than modeling. First: measure seed-to-seed variation before ranking anything. Without that, we would have read any difference between models as real. Second: the selection metric matters. Loss and BLEU-4 peaked at different epochs, so checkpointing on loss would have reported a worse model by the metric we actually report. Third: reproducibility infrastructure earns its keep. We trained on separate machines and merged results — a differently ordered feature cache or a stale checkpoint were real risks, and content-hashing caught them mechanically instead of by luck. And the fourth is the payoff: the strong frozen encoder did shrink the attention gap the way we hypothesized. Only Bahdanau achieved a higher mean test BLEU-4 than the baseline, while the baseline still led on METEOR. The gain was about ten thousandths of BLEU-4 — not the decisive win early literature reports on weaker features.</a:t>
            </a:r>
            <a:endParaRPr/>
          </a:p>
        </p:txBody>
      </p:sp>
      <p:sp>
        <p:nvSpPr>
          <p:cNvPr id="468" name="Google Shape;46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close. Bahdanau attention is the strongest decoder by mean BLEU-4 and TF-IDF overlap, but the honest headline is that the margin is small and not every attention mechanism earned its keep — Luong was lower than no attention on all three matched seeds, multi-head was a wash, and METEOR actually prefers the plain baseline. If you want a recommendation for this dataset and this encoder: Bahdanau if you want the strongest captioning scores and interpretable heatmaps; the plain GRU if you want the cheapest model that is nearly as good. Two limits we would fix with more time: three seeds are not enough for a strong statistical claim, and Flickr8k is small enough that the Transformer likely never got the data it wants. Thank you — happy to take questions.</a:t>
            </a:r>
            <a:endParaRPr/>
          </a:p>
        </p:txBody>
      </p:sp>
      <p:sp>
        <p:nvSpPr>
          <p:cNvPr id="487" name="Google Shape;48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5" name="Shape 15"/>
        <p:cNvGrpSpPr/>
        <p:nvPr/>
      </p:nvGrpSpPr>
      <p:grpSpPr>
        <a:xfrm>
          <a:off x="0" y="0"/>
          <a:ext cx="0" cy="0"/>
          <a:chOff x="0" y="0"/>
          <a:chExt cx="0" cy="0"/>
        </a:xfrm>
      </p:grpSpPr>
      <p:sp>
        <p:nvSpPr>
          <p:cNvPr id="16" name="Google Shape;16;p1"/>
          <p:cNvSpPr/>
          <p:nvPr/>
        </p:nvSpPr>
        <p:spPr>
          <a:xfrm>
            <a:off x="914400" y="1421011"/>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914400" y="838200"/>
            <a:ext cx="4874821"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FINAL PROJECT PRESENTATION</a:t>
            </a:r>
            <a:endParaRPr b="0" i="0" sz="1800" u="none" cap="none" strike="noStrike">
              <a:solidFill>
                <a:schemeClr val="dk1"/>
              </a:solidFill>
              <a:latin typeface="Calibri"/>
              <a:ea typeface="Calibri"/>
              <a:cs typeface="Calibri"/>
              <a:sym typeface="Calibri"/>
            </a:endParaRPr>
          </a:p>
        </p:txBody>
      </p:sp>
      <p:sp>
        <p:nvSpPr>
          <p:cNvPr id="18" name="Google Shape;18;p1"/>
          <p:cNvSpPr/>
          <p:nvPr/>
        </p:nvSpPr>
        <p:spPr>
          <a:xfrm>
            <a:off x="14191208" y="838200"/>
            <a:ext cx="3500631"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UNC CHARLOTTE · ECE</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914400" y="3769072"/>
            <a:ext cx="15304770" cy="1790700"/>
          </a:xfrm>
          <a:prstGeom prst="rect">
            <a:avLst/>
          </a:prstGeom>
          <a:noFill/>
          <a:ln>
            <a:noFill/>
          </a:ln>
        </p:spPr>
        <p:txBody>
          <a:bodyPr anchorCtr="0" anchor="t" bIns="25400" lIns="25400" spcFirstLastPara="1" rIns="25400" wrap="square" tIns="25400">
            <a:noAutofit/>
          </a:bodyPr>
          <a:lstStyle/>
          <a:p>
            <a:pPr indent="0" lvl="0" marL="0" marR="0" rtl="0" algn="l">
              <a:lnSpc>
                <a:spcPct val="71318"/>
              </a:lnSpc>
              <a:spcBef>
                <a:spcPts val="0"/>
              </a:spcBef>
              <a:spcAft>
                <a:spcPts val="0"/>
              </a:spcAft>
              <a:buClr>
                <a:srgbClr val="201E1D"/>
              </a:buClr>
              <a:buSzPts val="6900"/>
              <a:buFont typeface="Arial"/>
              <a:buNone/>
            </a:pPr>
            <a:r>
              <a:rPr b="1" i="0" lang="en-US" sz="6900" u="none" cap="none" strike="noStrike">
                <a:solidFill>
                  <a:srgbClr val="201E1D"/>
                </a:solidFill>
                <a:latin typeface="Arial"/>
                <a:ea typeface="Arial"/>
                <a:cs typeface="Arial"/>
                <a:sym typeface="Arial"/>
              </a:rPr>
              <a:t>Image Captioning with a CNN Encoder and Attention-Based Decoders</a:t>
            </a:r>
            <a:endParaRPr b="0" i="0" sz="6900" u="none" cap="none" strike="noStrike">
              <a:solidFill>
                <a:schemeClr val="dk1"/>
              </a:solidFill>
              <a:latin typeface="Calibri"/>
              <a:ea typeface="Calibri"/>
              <a:cs typeface="Calibri"/>
              <a:sym typeface="Calibri"/>
            </a:endParaRPr>
          </a:p>
        </p:txBody>
      </p:sp>
      <p:sp>
        <p:nvSpPr>
          <p:cNvPr id="20" name="Google Shape;20;p1"/>
          <p:cNvSpPr/>
          <p:nvPr/>
        </p:nvSpPr>
        <p:spPr>
          <a:xfrm>
            <a:off x="914400" y="5826472"/>
            <a:ext cx="16344900" cy="687586"/>
          </a:xfrm>
          <a:prstGeom prst="rect">
            <a:avLst/>
          </a:prstGeom>
          <a:noFill/>
          <a:ln>
            <a:noFill/>
          </a:ln>
        </p:spPr>
        <p:txBody>
          <a:bodyPr anchorCtr="0" anchor="t" bIns="25400" lIns="25400" spcFirstLastPara="1" rIns="25400" wrap="square" tIns="25400">
            <a:noAutofit/>
          </a:bodyPr>
          <a:lstStyle/>
          <a:p>
            <a:pPr indent="0" lvl="0" marL="0" marR="0" rtl="0" algn="l">
              <a:lnSpc>
                <a:spcPct val="136400"/>
              </a:lnSpc>
              <a:spcBef>
                <a:spcPts val="0"/>
              </a:spcBef>
              <a:spcAft>
                <a:spcPts val="0"/>
              </a:spcAft>
              <a:buClr>
                <a:srgbClr val="605D5D"/>
              </a:buClr>
              <a:buSzPts val="3300"/>
              <a:buFont typeface="Arial"/>
              <a:buNone/>
            </a:pPr>
            <a:r>
              <a:rPr b="0" i="0" lang="en-US" sz="3300" u="none" cap="none" strike="noStrike">
                <a:solidFill>
                  <a:srgbClr val="605D5D"/>
                </a:solidFill>
                <a:latin typeface="Arial"/>
                <a:ea typeface="Arial"/>
                <a:cs typeface="Arial"/>
                <a:sym typeface="Arial"/>
              </a:rPr>
              <a:t>A controlled comparison of five decoder architectures</a:t>
            </a:r>
            <a:endParaRPr b="0" i="0" sz="3300" u="none" cap="none" strike="noStrike">
              <a:solidFill>
                <a:schemeClr val="dk1"/>
              </a:solidFill>
              <a:latin typeface="Calibri"/>
              <a:ea typeface="Calibri"/>
              <a:cs typeface="Calibri"/>
              <a:sym typeface="Calibri"/>
            </a:endParaRPr>
          </a:p>
        </p:txBody>
      </p:sp>
      <p:sp>
        <p:nvSpPr>
          <p:cNvPr id="21" name="Google Shape;21;p1"/>
          <p:cNvSpPr/>
          <p:nvPr/>
        </p:nvSpPr>
        <p:spPr>
          <a:xfrm>
            <a:off x="914400" y="8804970"/>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914400" y="9090720"/>
            <a:ext cx="4547890" cy="510480"/>
          </a:xfrm>
          <a:prstGeom prst="rect">
            <a:avLst/>
          </a:prstGeom>
          <a:noFill/>
          <a:ln>
            <a:noFill/>
          </a:ln>
        </p:spPr>
        <p:txBody>
          <a:bodyPr anchorCtr="0" anchor="t" bIns="25400" lIns="25400" spcFirstLastPara="1" rIns="25400" wrap="square" tIns="25400">
            <a:noAutofit/>
          </a:bodyPr>
          <a:lstStyle/>
          <a:p>
            <a:pPr indent="0" lvl="0" marL="0" marR="0" rtl="0" algn="l">
              <a:lnSpc>
                <a:spcPct val="134054"/>
              </a:lnSpc>
              <a:spcBef>
                <a:spcPts val="0"/>
              </a:spcBef>
              <a:spcAft>
                <a:spcPts val="0"/>
              </a:spcAft>
              <a:buClr>
                <a:srgbClr val="201E1D"/>
              </a:buClr>
              <a:buSzPts val="2400"/>
              <a:buFont typeface="Arial"/>
              <a:buNone/>
            </a:pPr>
            <a:r>
              <a:rPr b="1" i="0" lang="en-US" sz="2400" u="none" cap="none" strike="noStrike">
                <a:solidFill>
                  <a:srgbClr val="201E1D"/>
                </a:solidFill>
                <a:latin typeface="Arial"/>
                <a:ea typeface="Arial"/>
                <a:cs typeface="Arial"/>
                <a:sym typeface="Arial"/>
              </a:rPr>
              <a:t>Anthony Kang · Aadit Chetan</a:t>
            </a:r>
            <a:endParaRPr b="0" i="0" sz="2400" u="none" cap="none" strike="noStrike">
              <a:solidFill>
                <a:schemeClr val="dk1"/>
              </a:solidFill>
              <a:latin typeface="Calibri"/>
              <a:ea typeface="Calibri"/>
              <a:cs typeface="Calibri"/>
              <a:sym typeface="Calibri"/>
            </a:endParaRPr>
          </a:p>
        </p:txBody>
      </p:sp>
      <p:sp>
        <p:nvSpPr>
          <p:cNvPr id="23" name="Google Shape;23;p1"/>
          <p:cNvSpPr/>
          <p:nvPr/>
        </p:nvSpPr>
        <p:spPr>
          <a:xfrm>
            <a:off x="10805666" y="9179272"/>
            <a:ext cx="7224727" cy="42192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05D5D"/>
              </a:buClr>
              <a:buSzPts val="1950"/>
              <a:buFont typeface="Arial"/>
              <a:buNone/>
            </a:pPr>
            <a:r>
              <a:rPr b="1" i="0" lang="en-US" sz="1950" u="none" cap="none" strike="noStrike">
                <a:solidFill>
                  <a:srgbClr val="605D5D"/>
                </a:solidFill>
                <a:latin typeface="Arial"/>
                <a:ea typeface="Arial"/>
                <a:cs typeface="Arial"/>
                <a:sym typeface="Arial"/>
              </a:rPr>
              <a:t>FLICKR8K / RESNET-50 / GRU / TRANSFORMER</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28" name="Shape 28"/>
        <p:cNvGrpSpPr/>
        <p:nvPr/>
      </p:nvGrpSpPr>
      <p:grpSpPr>
        <a:xfrm>
          <a:off x="0" y="0"/>
          <a:ext cx="0" cy="0"/>
          <a:chOff x="0" y="0"/>
          <a:chExt cx="0" cy="0"/>
        </a:xfrm>
      </p:grpSpPr>
      <p:sp>
        <p:nvSpPr>
          <p:cNvPr id="29" name="Google Shape;29;p2"/>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1 — INTRODUCTION AND MOTIVATION</a:t>
            </a:r>
            <a:endParaRPr b="0" i="0" sz="1800" u="none" cap="none" strike="noStrike">
              <a:solidFill>
                <a:schemeClr val="dk1"/>
              </a:solidFill>
              <a:latin typeface="Calibri"/>
              <a:ea typeface="Calibri"/>
              <a:cs typeface="Calibri"/>
              <a:sym typeface="Calibri"/>
            </a:endParaRPr>
          </a:p>
        </p:txBody>
      </p:sp>
      <p:sp>
        <p:nvSpPr>
          <p:cNvPr id="30" name="Google Shape;30;p2"/>
          <p:cNvSpPr/>
          <p:nvPr/>
        </p:nvSpPr>
        <p:spPr>
          <a:xfrm>
            <a:off x="914400" y="1440061"/>
            <a:ext cx="13931265" cy="1305818"/>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Image captioning: perception and language in one model</a:t>
            </a:r>
            <a:endParaRPr b="0" i="0" sz="4800" u="none" cap="none" strike="noStrike">
              <a:solidFill>
                <a:schemeClr val="dk1"/>
              </a:solidFill>
              <a:latin typeface="Calibri"/>
              <a:ea typeface="Calibri"/>
              <a:cs typeface="Calibri"/>
              <a:sym typeface="Calibri"/>
            </a:endParaRPr>
          </a:p>
        </p:txBody>
      </p:sp>
      <p:sp>
        <p:nvSpPr>
          <p:cNvPr id="31" name="Google Shape;31;p2"/>
          <p:cNvSpPr/>
          <p:nvPr/>
        </p:nvSpPr>
        <p:spPr>
          <a:xfrm>
            <a:off x="914400" y="2917329"/>
            <a:ext cx="12753975" cy="957560"/>
          </a:xfrm>
          <a:prstGeom prst="rect">
            <a:avLst/>
          </a:prstGeom>
          <a:noFill/>
          <a:ln>
            <a:noFill/>
          </a:ln>
        </p:spPr>
        <p:txBody>
          <a:bodyPr anchorCtr="0" anchor="t" bIns="25400" lIns="25400" spcFirstLastPara="1" rIns="25400" wrap="square" tIns="25400">
            <a:noAutofit/>
          </a:bodyPr>
          <a:lstStyle/>
          <a:p>
            <a:pPr indent="0" lvl="0" marL="0" marR="0" rtl="0" algn="l">
              <a:lnSpc>
                <a:spcPct val="123795"/>
              </a:lnSpc>
              <a:spcBef>
                <a:spcPts val="0"/>
              </a:spcBef>
              <a:spcAft>
                <a:spcPts val="0"/>
              </a:spcAft>
              <a:buClr>
                <a:srgbClr val="444141"/>
              </a:buClr>
              <a:buSzPts val="2550"/>
              <a:buFont typeface="Arial"/>
              <a:buNone/>
            </a:pPr>
            <a:r>
              <a:rPr b="0" i="0" lang="en-US" sz="2550" u="none" cap="none" strike="noStrike">
                <a:solidFill>
                  <a:srgbClr val="444141"/>
                </a:solidFill>
                <a:latin typeface="Arial"/>
                <a:ea typeface="Arial"/>
                <a:cs typeface="Arial"/>
                <a:sym typeface="Arial"/>
              </a:rPr>
              <a:t>A captioner must both find the salient content of an image and write it as grammatical text — a compact vehicle for joining a convolutional encoder to a sequence decoder.</a:t>
            </a:r>
            <a:endParaRPr b="0" i="0" sz="2550" u="none" cap="none" strike="noStrike">
              <a:solidFill>
                <a:schemeClr val="dk1"/>
              </a:solidFill>
              <a:latin typeface="Calibri"/>
              <a:ea typeface="Calibri"/>
              <a:cs typeface="Calibri"/>
              <a:sym typeface="Calibri"/>
            </a:endParaRPr>
          </a:p>
        </p:txBody>
      </p:sp>
      <p:sp>
        <p:nvSpPr>
          <p:cNvPr id="32" name="Google Shape;32;p2"/>
          <p:cNvSpPr/>
          <p:nvPr/>
        </p:nvSpPr>
        <p:spPr>
          <a:xfrm>
            <a:off x="914400" y="4408289"/>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914400" y="4732139"/>
            <a:ext cx="8759190" cy="628650"/>
          </a:xfrm>
          <a:prstGeom prst="rect">
            <a:avLst/>
          </a:prstGeom>
          <a:noFill/>
          <a:ln>
            <a:noFill/>
          </a:ln>
        </p:spPr>
        <p:txBody>
          <a:bodyPr anchorCtr="0" anchor="t" bIns="25400" lIns="25400" spcFirstLastPara="1" rIns="25400" wrap="square" tIns="25400">
            <a:noAutofit/>
          </a:bodyPr>
          <a:lstStyle/>
          <a:p>
            <a:pPr indent="0" lvl="0" marL="0" marR="0" rtl="0" algn="l">
              <a:lnSpc>
                <a:spcPct val="110714"/>
              </a:lnSpc>
              <a:spcBef>
                <a:spcPts val="0"/>
              </a:spcBef>
              <a:spcAft>
                <a:spcPts val="0"/>
              </a:spcAft>
              <a:buClr>
                <a:srgbClr val="201E1D"/>
              </a:buClr>
              <a:buSzPts val="3000"/>
              <a:buFont typeface="Arial"/>
              <a:buNone/>
            </a:pPr>
            <a:r>
              <a:rPr b="1" i="0" lang="en-US" sz="3000" u="none" cap="none" strike="noStrike">
                <a:solidFill>
                  <a:srgbClr val="201E1D"/>
                </a:solidFill>
                <a:latin typeface="Arial"/>
                <a:ea typeface="Arial"/>
                <a:cs typeface="Arial"/>
                <a:sym typeface="Arial"/>
              </a:rPr>
              <a:t>Accessibility</a:t>
            </a:r>
            <a:endParaRPr b="0" i="0" sz="3000" u="none" cap="none" strike="noStrike">
              <a:solidFill>
                <a:schemeClr val="dk1"/>
              </a:solidFill>
              <a:latin typeface="Calibri"/>
              <a:ea typeface="Calibri"/>
              <a:cs typeface="Calibri"/>
              <a:sym typeface="Calibri"/>
            </a:endParaRPr>
          </a:p>
        </p:txBody>
      </p:sp>
      <p:sp>
        <p:nvSpPr>
          <p:cNvPr id="34" name="Google Shape;34;p2"/>
          <p:cNvSpPr/>
          <p:nvPr/>
        </p:nvSpPr>
        <p:spPr>
          <a:xfrm>
            <a:off x="914400" y="5494139"/>
            <a:ext cx="8201787" cy="838200"/>
          </a:xfrm>
          <a:prstGeom prst="rect">
            <a:avLst/>
          </a:prstGeom>
          <a:noFill/>
          <a:ln>
            <a:noFill/>
          </a:ln>
        </p:spPr>
        <p:txBody>
          <a:bodyPr anchorCtr="0" anchor="t" bIns="25400" lIns="25400" spcFirstLastPara="1" rIns="25400" wrap="square" tIns="25400">
            <a:noAutofit/>
          </a:bodyPr>
          <a:lstStyle/>
          <a:p>
            <a:pPr indent="0" lvl="0" marL="0" marR="0" rtl="0" algn="l">
              <a:lnSpc>
                <a:spcPct val="123529"/>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Automatically generated alt-text lets screen-reading software convey visual web content to users with visual impairments.</a:t>
            </a:r>
            <a:endParaRPr b="0" i="0" sz="2250" u="none" cap="none" strike="noStrike">
              <a:solidFill>
                <a:schemeClr val="dk1"/>
              </a:solidFill>
              <a:latin typeface="Calibri"/>
              <a:ea typeface="Calibri"/>
              <a:cs typeface="Calibri"/>
              <a:sym typeface="Calibri"/>
            </a:endParaRPr>
          </a:p>
        </p:txBody>
      </p:sp>
      <p:sp>
        <p:nvSpPr>
          <p:cNvPr id="35" name="Google Shape;35;p2"/>
          <p:cNvSpPr/>
          <p:nvPr/>
        </p:nvSpPr>
        <p:spPr>
          <a:xfrm>
            <a:off x="9410700" y="4732139"/>
            <a:ext cx="19050" cy="19621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9963150" y="4732139"/>
            <a:ext cx="8151495" cy="628650"/>
          </a:xfrm>
          <a:prstGeom prst="rect">
            <a:avLst/>
          </a:prstGeom>
          <a:noFill/>
          <a:ln>
            <a:noFill/>
          </a:ln>
        </p:spPr>
        <p:txBody>
          <a:bodyPr anchorCtr="0" anchor="t" bIns="25400" lIns="25400" spcFirstLastPara="1" rIns="25400" wrap="square" tIns="25400">
            <a:noAutofit/>
          </a:bodyPr>
          <a:lstStyle/>
          <a:p>
            <a:pPr indent="0" lvl="0" marL="0" marR="0" rtl="0" algn="l">
              <a:lnSpc>
                <a:spcPct val="110714"/>
              </a:lnSpc>
              <a:spcBef>
                <a:spcPts val="0"/>
              </a:spcBef>
              <a:spcAft>
                <a:spcPts val="0"/>
              </a:spcAft>
              <a:buClr>
                <a:srgbClr val="201E1D"/>
              </a:buClr>
              <a:buSzPts val="3000"/>
              <a:buFont typeface="Arial"/>
              <a:buNone/>
            </a:pPr>
            <a:r>
              <a:rPr b="1" i="0" lang="en-US" sz="3000" u="none" cap="none" strike="noStrike">
                <a:solidFill>
                  <a:srgbClr val="201E1D"/>
                </a:solidFill>
                <a:latin typeface="Arial"/>
                <a:ea typeface="Arial"/>
                <a:cs typeface="Arial"/>
                <a:sym typeface="Arial"/>
              </a:rPr>
              <a:t>Weak labeling</a:t>
            </a:r>
            <a:endParaRPr b="0" i="0" sz="3000" u="none" cap="none" strike="noStrike">
              <a:solidFill>
                <a:schemeClr val="dk1"/>
              </a:solidFill>
              <a:latin typeface="Calibri"/>
              <a:ea typeface="Calibri"/>
              <a:cs typeface="Calibri"/>
              <a:sym typeface="Calibri"/>
            </a:endParaRPr>
          </a:p>
        </p:txBody>
      </p:sp>
      <p:sp>
        <p:nvSpPr>
          <p:cNvPr id="37" name="Google Shape;37;p2"/>
          <p:cNvSpPr/>
          <p:nvPr/>
        </p:nvSpPr>
        <p:spPr>
          <a:xfrm>
            <a:off x="9963150" y="5494139"/>
            <a:ext cx="7632763" cy="1238250"/>
          </a:xfrm>
          <a:prstGeom prst="rect">
            <a:avLst/>
          </a:prstGeom>
          <a:noFill/>
          <a:ln>
            <a:noFill/>
          </a:ln>
        </p:spPr>
        <p:txBody>
          <a:bodyPr anchorCtr="0" anchor="t" bIns="25400" lIns="25400" spcFirstLastPara="1" rIns="25400" wrap="square" tIns="25400">
            <a:noAutofit/>
          </a:bodyPr>
          <a:lstStyle/>
          <a:p>
            <a:pPr indent="0" lvl="0" marL="0" marR="0" rtl="0" algn="l">
              <a:lnSpc>
                <a:spcPct val="123529"/>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Machine-written descriptions can pre-annotate large image collections before human refinement in downstream vision tasks.</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3013"/>
        </a:solidFill>
      </p:bgPr>
    </p:bg>
    <p:spTree>
      <p:nvGrpSpPr>
        <p:cNvPr id="42" name="Shape 42"/>
        <p:cNvGrpSpPr/>
        <p:nvPr/>
      </p:nvGrpSpPr>
      <p:grpSpPr>
        <a:xfrm>
          <a:off x="0" y="0"/>
          <a:ext cx="0" cy="0"/>
          <a:chOff x="0" y="0"/>
          <a:chExt cx="0" cy="0"/>
        </a:xfrm>
      </p:grpSpPr>
      <p:sp>
        <p:nvSpPr>
          <p:cNvPr id="43" name="Google Shape;43;p3"/>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FFE0D9"/>
              </a:buClr>
              <a:buSzPts val="1800"/>
              <a:buFont typeface="Arial"/>
              <a:buNone/>
            </a:pPr>
            <a:r>
              <a:rPr b="1" i="0" lang="en-US" sz="1800" u="none" cap="none" strike="noStrike">
                <a:solidFill>
                  <a:srgbClr val="FFE0D9"/>
                </a:solidFill>
                <a:latin typeface="Arial"/>
                <a:ea typeface="Arial"/>
                <a:cs typeface="Arial"/>
                <a:sym typeface="Arial"/>
              </a:rPr>
              <a:t>1 — INTRODUCTION AND MOTIVATION</a:t>
            </a:r>
            <a:endParaRPr b="0" i="0" sz="1800" u="none" cap="none" strike="noStrike">
              <a:solidFill>
                <a:schemeClr val="dk1"/>
              </a:solidFill>
              <a:latin typeface="Calibri"/>
              <a:ea typeface="Calibri"/>
              <a:cs typeface="Calibri"/>
              <a:sym typeface="Calibri"/>
            </a:endParaRPr>
          </a:p>
        </p:txBody>
      </p:sp>
      <p:sp>
        <p:nvSpPr>
          <p:cNvPr id="44" name="Google Shape;44;p3"/>
          <p:cNvSpPr/>
          <p:nvPr/>
        </p:nvSpPr>
        <p:spPr>
          <a:xfrm>
            <a:off x="914400" y="1440061"/>
            <a:ext cx="14716125" cy="1437084"/>
          </a:xfrm>
          <a:prstGeom prst="rect">
            <a:avLst/>
          </a:prstGeom>
          <a:noFill/>
          <a:ln>
            <a:noFill/>
          </a:ln>
        </p:spPr>
        <p:txBody>
          <a:bodyPr anchorCtr="0" anchor="t" bIns="25400" lIns="25400" spcFirstLastPara="1" rIns="25400" wrap="square" tIns="25400">
            <a:noAutofit/>
          </a:bodyPr>
          <a:lstStyle/>
          <a:p>
            <a:pPr indent="0" lvl="0" marL="0" marR="0" rtl="0" algn="l">
              <a:lnSpc>
                <a:spcPct val="72713"/>
              </a:lnSpc>
              <a:spcBef>
                <a:spcPts val="0"/>
              </a:spcBef>
              <a:spcAft>
                <a:spcPts val="0"/>
              </a:spcAft>
              <a:buClr>
                <a:srgbClr val="F3F2F2"/>
              </a:buClr>
              <a:buSzPts val="5400"/>
              <a:buFont typeface="Arial"/>
              <a:buNone/>
            </a:pPr>
            <a:r>
              <a:rPr b="1" i="0" lang="en-US" sz="5400" u="none" cap="none" strike="noStrike">
                <a:solidFill>
                  <a:srgbClr val="F3F2F2"/>
                </a:solidFill>
                <a:latin typeface="Arial"/>
                <a:ea typeface="Arial"/>
                <a:cs typeface="Arial"/>
                <a:sym typeface="Arial"/>
              </a:rPr>
              <a:t>Which decoder wins when the visual front end is held fixed?</a:t>
            </a:r>
            <a:endParaRPr b="0" i="0" sz="5400" u="none" cap="none" strike="noStrike">
              <a:solidFill>
                <a:schemeClr val="dk1"/>
              </a:solidFill>
              <a:latin typeface="Calibri"/>
              <a:ea typeface="Calibri"/>
              <a:cs typeface="Calibri"/>
              <a:sym typeface="Calibri"/>
            </a:endParaRPr>
          </a:p>
        </p:txBody>
      </p:sp>
      <p:sp>
        <p:nvSpPr>
          <p:cNvPr id="45" name="Google Shape;45;p3"/>
          <p:cNvSpPr/>
          <p:nvPr/>
        </p:nvSpPr>
        <p:spPr>
          <a:xfrm>
            <a:off x="914400" y="3410545"/>
            <a:ext cx="14859000" cy="1905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3"/>
          <p:cNvSpPr/>
          <p:nvPr/>
        </p:nvSpPr>
        <p:spPr>
          <a:xfrm>
            <a:off x="914400" y="3858220"/>
            <a:ext cx="167640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FFE0D9"/>
              </a:buClr>
              <a:buSzPts val="1800"/>
              <a:buFont typeface="Arial"/>
              <a:buNone/>
            </a:pPr>
            <a:r>
              <a:rPr b="1" i="0" lang="en-US" sz="1800" u="none" cap="none" strike="noStrike">
                <a:solidFill>
                  <a:srgbClr val="FFE0D9"/>
                </a:solidFill>
                <a:latin typeface="Arial"/>
                <a:ea typeface="Arial"/>
                <a:cs typeface="Arial"/>
                <a:sym typeface="Arial"/>
              </a:rPr>
              <a:t>HYPOTHESIS</a:t>
            </a:r>
            <a:endParaRPr b="0" i="0" sz="1800" u="none" cap="none" strike="noStrike">
              <a:solidFill>
                <a:schemeClr val="dk1"/>
              </a:solidFill>
              <a:latin typeface="Calibri"/>
              <a:ea typeface="Calibri"/>
              <a:cs typeface="Calibri"/>
              <a:sym typeface="Calibri"/>
            </a:endParaRPr>
          </a:p>
        </p:txBody>
      </p:sp>
      <p:sp>
        <p:nvSpPr>
          <p:cNvPr id="47" name="Google Shape;47;p3"/>
          <p:cNvSpPr/>
          <p:nvPr/>
        </p:nvSpPr>
        <p:spPr>
          <a:xfrm>
            <a:off x="2819400" y="3448645"/>
            <a:ext cx="13342500" cy="1078200"/>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F3F2F2"/>
              </a:buClr>
              <a:buSzPts val="3150"/>
              <a:buFont typeface="Arial"/>
              <a:buNone/>
            </a:pPr>
            <a:r>
              <a:rPr b="1" i="0" lang="en-US" sz="3150" u="none" cap="none" strike="noStrike">
                <a:solidFill>
                  <a:srgbClr val="F3F2F2"/>
                </a:solidFill>
                <a:latin typeface="Arial"/>
                <a:ea typeface="Arial"/>
                <a:cs typeface="Arial"/>
                <a:sym typeface="Arial"/>
              </a:rPr>
              <a:t>A strong pretrained encoder may shrink the benefit of spatial attention that was decisive in early captioning work built on weaker features.</a:t>
            </a:r>
            <a:endParaRPr b="0" i="0" sz="3150" u="none" cap="none" strike="noStrike">
              <a:solidFill>
                <a:schemeClr val="dk1"/>
              </a:solidFill>
              <a:latin typeface="Calibri"/>
              <a:ea typeface="Calibri"/>
              <a:cs typeface="Calibri"/>
              <a:sym typeface="Calibri"/>
            </a:endParaRPr>
          </a:p>
        </p:txBody>
      </p:sp>
      <p:sp>
        <p:nvSpPr>
          <p:cNvPr id="48" name="Google Shape;48;p3"/>
          <p:cNvSpPr/>
          <p:nvPr/>
        </p:nvSpPr>
        <p:spPr>
          <a:xfrm>
            <a:off x="914400" y="5098256"/>
            <a:ext cx="14859000" cy="19050"/>
          </a:xfrm>
          <a:prstGeom prst="rect">
            <a:avLst/>
          </a:prstGeom>
          <a:solidFill>
            <a:srgbClr val="FFC4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3"/>
          <p:cNvSpPr/>
          <p:nvPr/>
        </p:nvSpPr>
        <p:spPr>
          <a:xfrm>
            <a:off x="914400" y="5488781"/>
            <a:ext cx="167640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FFE0D9"/>
              </a:buClr>
              <a:buSzPts val="1800"/>
              <a:buFont typeface="Arial"/>
              <a:buNone/>
            </a:pPr>
            <a:r>
              <a:rPr b="1" i="0" lang="en-US" sz="1800" u="none" cap="none" strike="noStrike">
                <a:solidFill>
                  <a:srgbClr val="FFE0D9"/>
                </a:solidFill>
                <a:latin typeface="Arial"/>
                <a:ea typeface="Arial"/>
                <a:cs typeface="Arial"/>
                <a:sym typeface="Arial"/>
              </a:rPr>
              <a:t>DESIGN</a:t>
            </a:r>
            <a:endParaRPr b="0" i="0" sz="1800" u="none" cap="none" strike="noStrike">
              <a:solidFill>
                <a:schemeClr val="dk1"/>
              </a:solidFill>
              <a:latin typeface="Calibri"/>
              <a:ea typeface="Calibri"/>
              <a:cs typeface="Calibri"/>
              <a:sym typeface="Calibri"/>
            </a:endParaRPr>
          </a:p>
        </p:txBody>
      </p:sp>
      <p:sp>
        <p:nvSpPr>
          <p:cNvPr id="50" name="Google Shape;50;p3"/>
          <p:cNvSpPr/>
          <p:nvPr/>
        </p:nvSpPr>
        <p:spPr>
          <a:xfrm>
            <a:off x="2819400" y="5403056"/>
            <a:ext cx="13342620" cy="1398091"/>
          </a:xfrm>
          <a:prstGeom prst="rect">
            <a:avLst/>
          </a:prstGeom>
          <a:noFill/>
          <a:ln>
            <a:noFill/>
          </a:ln>
        </p:spPr>
        <p:txBody>
          <a:bodyPr anchorCtr="0" anchor="t" bIns="25400" lIns="25400" spcFirstLastPara="1" rIns="25400" wrap="square" tIns="25400">
            <a:noAutofit/>
          </a:bodyPr>
          <a:lstStyle/>
          <a:p>
            <a:pPr indent="0" lvl="0" marL="0" marR="0" rtl="0" algn="l">
              <a:lnSpc>
                <a:spcPct val="122051"/>
              </a:lnSpc>
              <a:spcBef>
                <a:spcPts val="0"/>
              </a:spcBef>
              <a:spcAft>
                <a:spcPts val="0"/>
              </a:spcAft>
              <a:buClr>
                <a:srgbClr val="FFF2EF"/>
              </a:buClr>
              <a:buSzPts val="2550"/>
              <a:buFont typeface="Arial"/>
              <a:buNone/>
            </a:pPr>
            <a:r>
              <a:rPr b="0" i="0" lang="en-US" sz="2550" u="none" cap="none" strike="noStrike">
                <a:solidFill>
                  <a:srgbClr val="FFF2EF"/>
                </a:solidFill>
                <a:latin typeface="Arial"/>
                <a:ea typeface="Arial"/>
                <a:cs typeface="Arial"/>
                <a:sym typeface="Arial"/>
              </a:rPr>
              <a:t>Rather than assume attention helps, we set up an experiment in which it is free to help, tie, or lose — and we report per-seed variation so that small differences are not over-interpreted.</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55" name="Shape 55"/>
        <p:cNvGrpSpPr/>
        <p:nvPr/>
      </p:nvGrpSpPr>
      <p:grpSpPr>
        <a:xfrm>
          <a:off x="0" y="0"/>
          <a:ext cx="0" cy="0"/>
          <a:chOff x="0" y="0"/>
          <a:chExt cx="0" cy="0"/>
        </a:xfrm>
      </p:grpSpPr>
      <p:sp>
        <p:nvSpPr>
          <p:cNvPr id="56" name="Google Shape;56;p4"/>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2 — APPROACH</a:t>
            </a:r>
            <a:endParaRPr b="0" i="0" sz="1800" u="none" cap="none" strike="noStrike">
              <a:solidFill>
                <a:schemeClr val="dk1"/>
              </a:solidFill>
              <a:latin typeface="Calibri"/>
              <a:ea typeface="Calibri"/>
              <a:cs typeface="Calibri"/>
              <a:sym typeface="Calibri"/>
            </a:endParaRPr>
          </a:p>
        </p:txBody>
      </p:sp>
      <p:sp>
        <p:nvSpPr>
          <p:cNvPr id="57" name="Google Shape;57;p4"/>
          <p:cNvSpPr/>
          <p:nvPr/>
        </p:nvSpPr>
        <p:spPr>
          <a:xfrm>
            <a:off x="914400" y="1440061"/>
            <a:ext cx="14878050" cy="671959"/>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One frozen encoder, five interchangeable decoders</a:t>
            </a:r>
            <a:endParaRPr b="0" i="0" sz="4800" u="none" cap="none" strike="noStrike">
              <a:solidFill>
                <a:schemeClr val="dk1"/>
              </a:solidFill>
              <a:latin typeface="Calibri"/>
              <a:ea typeface="Calibri"/>
              <a:cs typeface="Calibri"/>
              <a:sym typeface="Calibri"/>
            </a:endParaRPr>
          </a:p>
        </p:txBody>
      </p:sp>
      <p:sp>
        <p:nvSpPr>
          <p:cNvPr id="58" name="Google Shape;58;p4"/>
          <p:cNvSpPr/>
          <p:nvPr/>
        </p:nvSpPr>
        <p:spPr>
          <a:xfrm>
            <a:off x="914400" y="4971157"/>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
          <p:cNvSpPr/>
          <p:nvPr/>
        </p:nvSpPr>
        <p:spPr>
          <a:xfrm>
            <a:off x="914400" y="2607320"/>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
          <p:cNvSpPr/>
          <p:nvPr/>
        </p:nvSpPr>
        <p:spPr>
          <a:xfrm>
            <a:off x="1257300" y="3303984"/>
            <a:ext cx="3097738"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7D7979"/>
              </a:buClr>
              <a:buSzPts val="1800"/>
              <a:buFont typeface="Arial"/>
              <a:buNone/>
            </a:pPr>
            <a:r>
              <a:rPr b="1" i="0" lang="en-US" sz="1800" u="none" cap="none" strike="noStrike">
                <a:solidFill>
                  <a:srgbClr val="7D7979"/>
                </a:solidFill>
                <a:latin typeface="Arial"/>
                <a:ea typeface="Arial"/>
                <a:cs typeface="Arial"/>
                <a:sym typeface="Arial"/>
              </a:rPr>
              <a:t>INPUT</a:t>
            </a:r>
            <a:endParaRPr b="0" i="0" sz="1800" u="none" cap="none" strike="noStrike">
              <a:solidFill>
                <a:schemeClr val="dk1"/>
              </a:solidFill>
              <a:latin typeface="Calibri"/>
              <a:ea typeface="Calibri"/>
              <a:cs typeface="Calibri"/>
              <a:sym typeface="Calibri"/>
            </a:endParaRPr>
          </a:p>
        </p:txBody>
      </p:sp>
      <p:sp>
        <p:nvSpPr>
          <p:cNvPr id="61" name="Google Shape;61;p4"/>
          <p:cNvSpPr/>
          <p:nvPr/>
        </p:nvSpPr>
        <p:spPr>
          <a:xfrm>
            <a:off x="1257300" y="3791545"/>
            <a:ext cx="3097738"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Image 224×224</a:t>
            </a:r>
            <a:endParaRPr b="0" i="0" sz="2550" u="none" cap="none" strike="noStrike">
              <a:solidFill>
                <a:schemeClr val="dk1"/>
              </a:solidFill>
              <a:latin typeface="Calibri"/>
              <a:ea typeface="Calibri"/>
              <a:cs typeface="Calibri"/>
              <a:sym typeface="Calibri"/>
            </a:endParaRPr>
          </a:p>
        </p:txBody>
      </p:sp>
      <p:sp>
        <p:nvSpPr>
          <p:cNvPr id="62" name="Google Shape;62;p4"/>
          <p:cNvSpPr/>
          <p:nvPr/>
        </p:nvSpPr>
        <p:spPr>
          <a:xfrm>
            <a:off x="4416326" y="2626370"/>
            <a:ext cx="4727674" cy="2344787"/>
          </a:xfrm>
          <a:prstGeom prst="rect">
            <a:avLst/>
          </a:prstGeom>
          <a:solidFill>
            <a:srgbClr val="EA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4"/>
          <p:cNvSpPr/>
          <p:nvPr/>
        </p:nvSpPr>
        <p:spPr>
          <a:xfrm>
            <a:off x="4416326" y="2626370"/>
            <a:ext cx="19050" cy="234478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4"/>
          <p:cNvSpPr/>
          <p:nvPr/>
        </p:nvSpPr>
        <p:spPr>
          <a:xfrm>
            <a:off x="4778276" y="3045470"/>
            <a:ext cx="4425107"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7D7979"/>
              </a:buClr>
              <a:buSzPts val="1800"/>
              <a:buFont typeface="Arial"/>
              <a:buNone/>
            </a:pPr>
            <a:r>
              <a:rPr b="1" i="0" lang="en-US" sz="1800" u="none" cap="none" strike="noStrike">
                <a:solidFill>
                  <a:srgbClr val="7D7979"/>
                </a:solidFill>
                <a:latin typeface="Arial"/>
                <a:ea typeface="Arial"/>
                <a:cs typeface="Arial"/>
                <a:sym typeface="Arial"/>
              </a:rPr>
              <a:t>FROZEN · CACHED</a:t>
            </a:r>
            <a:endParaRPr b="0" i="0" sz="1800" u="none" cap="none" strike="noStrike">
              <a:solidFill>
                <a:schemeClr val="dk1"/>
              </a:solidFill>
              <a:latin typeface="Calibri"/>
              <a:ea typeface="Calibri"/>
              <a:cs typeface="Calibri"/>
              <a:sym typeface="Calibri"/>
            </a:endParaRPr>
          </a:p>
        </p:txBody>
      </p:sp>
      <p:sp>
        <p:nvSpPr>
          <p:cNvPr id="65" name="Google Shape;65;p4"/>
          <p:cNvSpPr/>
          <p:nvPr/>
        </p:nvSpPr>
        <p:spPr>
          <a:xfrm>
            <a:off x="4778276" y="3533031"/>
            <a:ext cx="4425107"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ResNet-50 encoder</a:t>
            </a:r>
            <a:endParaRPr b="0" i="0" sz="2550" u="none" cap="none" strike="noStrike">
              <a:solidFill>
                <a:schemeClr val="dk1"/>
              </a:solidFill>
              <a:latin typeface="Calibri"/>
              <a:ea typeface="Calibri"/>
              <a:cs typeface="Calibri"/>
              <a:sym typeface="Calibri"/>
            </a:endParaRPr>
          </a:p>
        </p:txBody>
      </p:sp>
      <p:sp>
        <p:nvSpPr>
          <p:cNvPr id="66" name="Google Shape;66;p4"/>
          <p:cNvSpPr/>
          <p:nvPr/>
        </p:nvSpPr>
        <p:spPr>
          <a:xfrm>
            <a:off x="4778276" y="4168229"/>
            <a:ext cx="4425107" cy="42192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05D5D"/>
              </a:buClr>
              <a:buSzPts val="1950"/>
              <a:buFont typeface="Arial"/>
              <a:buNone/>
            </a:pPr>
            <a:r>
              <a:rPr b="0" i="0" lang="en-US" sz="1950" u="none" cap="none" strike="noStrike">
                <a:solidFill>
                  <a:srgbClr val="605D5D"/>
                </a:solidFill>
                <a:latin typeface="Arial"/>
                <a:ea typeface="Arial"/>
                <a:cs typeface="Arial"/>
                <a:sym typeface="Arial"/>
              </a:rPr>
              <a:t>49 × 2048 spatial features</a:t>
            </a:r>
            <a:endParaRPr b="0" i="0" sz="1950" u="none" cap="none" strike="noStrike">
              <a:solidFill>
                <a:schemeClr val="dk1"/>
              </a:solidFill>
              <a:latin typeface="Calibri"/>
              <a:ea typeface="Calibri"/>
              <a:cs typeface="Calibri"/>
              <a:sym typeface="Calibri"/>
            </a:endParaRPr>
          </a:p>
        </p:txBody>
      </p:sp>
      <p:sp>
        <p:nvSpPr>
          <p:cNvPr id="67" name="Google Shape;67;p4"/>
          <p:cNvSpPr/>
          <p:nvPr/>
        </p:nvSpPr>
        <p:spPr>
          <a:xfrm>
            <a:off x="9144000" y="2626370"/>
            <a:ext cx="4727525" cy="2344787"/>
          </a:xfrm>
          <a:prstGeom prst="rect">
            <a:avLst/>
          </a:prstGeom>
          <a:solidFill>
            <a:srgbClr val="EC30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4"/>
          <p:cNvSpPr/>
          <p:nvPr/>
        </p:nvSpPr>
        <p:spPr>
          <a:xfrm>
            <a:off x="9144000" y="2626370"/>
            <a:ext cx="19050" cy="234478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4"/>
          <p:cNvSpPr/>
          <p:nvPr/>
        </p:nvSpPr>
        <p:spPr>
          <a:xfrm>
            <a:off x="9505950" y="3045470"/>
            <a:ext cx="4424943"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FFE0D9"/>
              </a:buClr>
              <a:buSzPts val="1800"/>
              <a:buFont typeface="Arial"/>
              <a:buNone/>
            </a:pPr>
            <a:r>
              <a:rPr b="1" i="0" lang="en-US" sz="1800" u="none" cap="none" strike="noStrike">
                <a:solidFill>
                  <a:srgbClr val="FFE0D9"/>
                </a:solidFill>
                <a:latin typeface="Arial"/>
                <a:ea typeface="Arial"/>
                <a:cs typeface="Arial"/>
                <a:sym typeface="Arial"/>
              </a:rPr>
              <a:t>THE VARIABLE</a:t>
            </a:r>
            <a:endParaRPr b="0" i="0" sz="1800" u="none" cap="none" strike="noStrike">
              <a:solidFill>
                <a:schemeClr val="dk1"/>
              </a:solidFill>
              <a:latin typeface="Calibri"/>
              <a:ea typeface="Calibri"/>
              <a:cs typeface="Calibri"/>
              <a:sym typeface="Calibri"/>
            </a:endParaRPr>
          </a:p>
        </p:txBody>
      </p:sp>
      <p:sp>
        <p:nvSpPr>
          <p:cNvPr id="70" name="Google Shape;70;p4"/>
          <p:cNvSpPr/>
          <p:nvPr/>
        </p:nvSpPr>
        <p:spPr>
          <a:xfrm>
            <a:off x="9505950" y="3533031"/>
            <a:ext cx="4424943"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F3F2F2"/>
              </a:buClr>
              <a:buSzPts val="2550"/>
              <a:buFont typeface="Arial"/>
              <a:buNone/>
            </a:pPr>
            <a:r>
              <a:rPr b="1" i="0" lang="en-US" sz="2550" u="none" cap="none" strike="noStrike">
                <a:solidFill>
                  <a:srgbClr val="F3F2F2"/>
                </a:solidFill>
                <a:latin typeface="Arial"/>
                <a:ea typeface="Arial"/>
                <a:cs typeface="Arial"/>
                <a:sym typeface="Arial"/>
              </a:rPr>
              <a:t>Decoder ×5</a:t>
            </a:r>
            <a:endParaRPr b="0" i="0" sz="2550" u="none" cap="none" strike="noStrike">
              <a:solidFill>
                <a:schemeClr val="dk1"/>
              </a:solidFill>
              <a:latin typeface="Calibri"/>
              <a:ea typeface="Calibri"/>
              <a:cs typeface="Calibri"/>
              <a:sym typeface="Calibri"/>
            </a:endParaRPr>
          </a:p>
        </p:txBody>
      </p:sp>
      <p:sp>
        <p:nvSpPr>
          <p:cNvPr id="71" name="Google Shape;71;p4"/>
          <p:cNvSpPr/>
          <p:nvPr/>
        </p:nvSpPr>
        <p:spPr>
          <a:xfrm>
            <a:off x="9505950" y="4168229"/>
            <a:ext cx="4424943" cy="42192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FFF2EF"/>
              </a:buClr>
              <a:buSzPts val="1950"/>
              <a:buFont typeface="Arial"/>
              <a:buNone/>
            </a:pPr>
            <a:r>
              <a:rPr b="0" i="0" lang="en-US" sz="1950" u="none" cap="none" strike="noStrike">
                <a:solidFill>
                  <a:srgbClr val="FFF2EF"/>
                </a:solidFill>
                <a:latin typeface="Arial"/>
                <a:ea typeface="Arial"/>
                <a:cs typeface="Arial"/>
                <a:sym typeface="Arial"/>
              </a:rPr>
              <a:t>one shared interface</a:t>
            </a:r>
            <a:endParaRPr b="0" i="0" sz="1950" u="none" cap="none" strike="noStrike">
              <a:solidFill>
                <a:schemeClr val="dk1"/>
              </a:solidFill>
              <a:latin typeface="Calibri"/>
              <a:ea typeface="Calibri"/>
              <a:cs typeface="Calibri"/>
              <a:sym typeface="Calibri"/>
            </a:endParaRPr>
          </a:p>
        </p:txBody>
      </p:sp>
      <p:sp>
        <p:nvSpPr>
          <p:cNvPr id="72" name="Google Shape;72;p4"/>
          <p:cNvSpPr/>
          <p:nvPr/>
        </p:nvSpPr>
        <p:spPr>
          <a:xfrm>
            <a:off x="13871525" y="2626370"/>
            <a:ext cx="19050" cy="234478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
          <p:cNvSpPr/>
          <p:nvPr/>
        </p:nvSpPr>
        <p:spPr>
          <a:xfrm>
            <a:off x="14233475" y="3303984"/>
            <a:ext cx="3076947"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7D7979"/>
              </a:buClr>
              <a:buSzPts val="1800"/>
              <a:buFont typeface="Arial"/>
              <a:buNone/>
            </a:pPr>
            <a:r>
              <a:rPr b="1" i="0" lang="en-US" sz="1800" u="none" cap="none" strike="noStrike">
                <a:solidFill>
                  <a:srgbClr val="7D7979"/>
                </a:solidFill>
                <a:latin typeface="Arial"/>
                <a:ea typeface="Arial"/>
                <a:cs typeface="Arial"/>
                <a:sym typeface="Arial"/>
              </a:rPr>
              <a:t>OUTPUT</a:t>
            </a:r>
            <a:endParaRPr b="0" i="0" sz="1800" u="none" cap="none" strike="noStrike">
              <a:solidFill>
                <a:schemeClr val="dk1"/>
              </a:solidFill>
              <a:latin typeface="Calibri"/>
              <a:ea typeface="Calibri"/>
              <a:cs typeface="Calibri"/>
              <a:sym typeface="Calibri"/>
            </a:endParaRPr>
          </a:p>
        </p:txBody>
      </p:sp>
      <p:sp>
        <p:nvSpPr>
          <p:cNvPr id="74" name="Google Shape;74;p4"/>
          <p:cNvSpPr/>
          <p:nvPr/>
        </p:nvSpPr>
        <p:spPr>
          <a:xfrm>
            <a:off x="14233475" y="3791545"/>
            <a:ext cx="3076947"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Caption tokens</a:t>
            </a:r>
            <a:endParaRPr b="0" i="0" sz="2550" u="none" cap="none" strike="noStrike">
              <a:solidFill>
                <a:schemeClr val="dk1"/>
              </a:solidFill>
              <a:latin typeface="Calibri"/>
              <a:ea typeface="Calibri"/>
              <a:cs typeface="Calibri"/>
              <a:sym typeface="Calibri"/>
            </a:endParaRPr>
          </a:p>
        </p:txBody>
      </p:sp>
      <p:sp>
        <p:nvSpPr>
          <p:cNvPr id="75" name="Google Shape;75;p4"/>
          <p:cNvSpPr/>
          <p:nvPr/>
        </p:nvSpPr>
        <p:spPr>
          <a:xfrm>
            <a:off x="914400" y="5485507"/>
            <a:ext cx="14716125" cy="903684"/>
          </a:xfrm>
          <a:prstGeom prst="rect">
            <a:avLst/>
          </a:prstGeom>
          <a:noFill/>
          <a:ln>
            <a:noFill/>
          </a:ln>
        </p:spPr>
        <p:txBody>
          <a:bodyPr anchorCtr="0" anchor="t" bIns="25400" lIns="25400" spcFirstLastPara="1" rIns="25400" wrap="square" tIns="25400">
            <a:noAutofit/>
          </a:bodyPr>
          <a:lstStyle/>
          <a:p>
            <a:pPr indent="0" lvl="0" marL="0" marR="0" rtl="0" algn="l">
              <a:lnSpc>
                <a:spcPct val="122811"/>
              </a:lnSpc>
              <a:spcBef>
                <a:spcPts val="0"/>
              </a:spcBef>
              <a:spcAft>
                <a:spcPts val="0"/>
              </a:spcAft>
              <a:buClr>
                <a:srgbClr val="444141"/>
              </a:buClr>
              <a:buSzPts val="2400"/>
              <a:buFont typeface="Arial"/>
              <a:buNone/>
            </a:pPr>
            <a:r>
              <a:rPr b="0" i="0" lang="en-US" sz="2400" u="none" cap="none" strike="noStrike">
                <a:solidFill>
                  <a:srgbClr val="444141"/>
                </a:solidFill>
                <a:latin typeface="Arial"/>
                <a:ea typeface="Arial"/>
                <a:cs typeface="Arial"/>
                <a:sym typeface="Arial"/>
              </a:rPr>
              <a:t>Data, preprocessing, optimizer, decoding, and scoring are held identical. Every decoder trains on numerically the same cached feature tensors, so </a:t>
            </a:r>
            <a:r>
              <a:rPr lang="en-US" sz="2400">
                <a:solidFill>
                  <a:srgbClr val="444141"/>
                </a:solidFill>
              </a:rPr>
              <a:t>performance differences primarily reflect decoder architecture under the shared protocol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80" name="Shape 80"/>
        <p:cNvGrpSpPr/>
        <p:nvPr/>
      </p:nvGrpSpPr>
      <p:grpSpPr>
        <a:xfrm>
          <a:off x="0" y="0"/>
          <a:ext cx="0" cy="0"/>
          <a:chOff x="0" y="0"/>
          <a:chExt cx="0" cy="0"/>
        </a:xfrm>
      </p:grpSpPr>
      <p:sp>
        <p:nvSpPr>
          <p:cNvPr id="81" name="Google Shape;81;p5"/>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2 — APPROACH</a:t>
            </a:r>
            <a:endParaRPr b="0" i="0" sz="1800" u="none" cap="none" strike="noStrike">
              <a:solidFill>
                <a:schemeClr val="dk1"/>
              </a:solidFill>
              <a:latin typeface="Calibri"/>
              <a:ea typeface="Calibri"/>
              <a:cs typeface="Calibri"/>
              <a:sym typeface="Calibri"/>
            </a:endParaRPr>
          </a:p>
        </p:txBody>
      </p:sp>
      <p:sp>
        <p:nvSpPr>
          <p:cNvPr id="82" name="Google Shape;82;p5"/>
          <p:cNvSpPr/>
          <p:nvPr/>
        </p:nvSpPr>
        <p:spPr>
          <a:xfrm>
            <a:off x="914400" y="1440061"/>
            <a:ext cx="14878050" cy="671959"/>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Encoder: a frozen ResNet-50, cached once</a:t>
            </a:r>
            <a:endParaRPr b="0" i="0" sz="4800" u="none" cap="none" strike="noStrike">
              <a:solidFill>
                <a:schemeClr val="dk1"/>
              </a:solidFill>
              <a:latin typeface="Calibri"/>
              <a:ea typeface="Calibri"/>
              <a:cs typeface="Calibri"/>
              <a:sym typeface="Calibri"/>
            </a:endParaRPr>
          </a:p>
        </p:txBody>
      </p:sp>
      <p:sp>
        <p:nvSpPr>
          <p:cNvPr id="83" name="Google Shape;83;p5"/>
          <p:cNvSpPr/>
          <p:nvPr/>
        </p:nvSpPr>
        <p:spPr>
          <a:xfrm>
            <a:off x="914400" y="2569220"/>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5"/>
          <p:cNvSpPr/>
          <p:nvPr/>
        </p:nvSpPr>
        <p:spPr>
          <a:xfrm>
            <a:off x="914400" y="2931170"/>
            <a:ext cx="8861713" cy="1336477"/>
          </a:xfrm>
          <a:prstGeom prst="rect">
            <a:avLst/>
          </a:prstGeom>
          <a:noFill/>
          <a:ln>
            <a:noFill/>
          </a:ln>
        </p:spPr>
        <p:txBody>
          <a:bodyPr anchorCtr="0" anchor="t" bIns="25400" lIns="25400" spcFirstLastPara="1" rIns="25400" wrap="square" tIns="25400">
            <a:noAutofit/>
          </a:bodyPr>
          <a:lstStyle/>
          <a:p>
            <a:pPr indent="0" lvl="0" marL="0" marR="0" rtl="0" algn="l">
              <a:lnSpc>
                <a:spcPct val="122811"/>
              </a:lnSpc>
              <a:spcBef>
                <a:spcPts val="0"/>
              </a:spcBef>
              <a:spcAft>
                <a:spcPts val="0"/>
              </a:spcAft>
              <a:buClr>
                <a:srgbClr val="444141"/>
              </a:buClr>
              <a:buSzPts val="2400"/>
              <a:buFont typeface="Arial"/>
              <a:buNone/>
            </a:pPr>
            <a:r>
              <a:rPr b="0" i="0" lang="en-US" sz="2400" u="none" cap="none" strike="noStrike">
                <a:solidFill>
                  <a:srgbClr val="444141"/>
                </a:solidFill>
                <a:latin typeface="Arial"/>
                <a:ea typeface="Arial"/>
                <a:cs typeface="Arial"/>
                <a:sym typeface="Arial"/>
              </a:rPr>
              <a:t>ResNet-50 pretrained on ImageNet (torchvision IMAGENET1K_V2 weights), with the global-average-pool and classification layers removed.</a:t>
            </a:r>
            <a:endParaRPr b="0" i="0" sz="2400" u="none" cap="none" strike="noStrike">
              <a:solidFill>
                <a:schemeClr val="dk1"/>
              </a:solidFill>
              <a:latin typeface="Calibri"/>
              <a:ea typeface="Calibri"/>
              <a:cs typeface="Calibri"/>
              <a:sym typeface="Calibri"/>
            </a:endParaRPr>
          </a:p>
        </p:txBody>
      </p:sp>
      <p:sp>
        <p:nvSpPr>
          <p:cNvPr id="85" name="Google Shape;85;p5"/>
          <p:cNvSpPr/>
          <p:nvPr/>
        </p:nvSpPr>
        <p:spPr>
          <a:xfrm>
            <a:off x="914400" y="4534346"/>
            <a:ext cx="8861713" cy="1336477"/>
          </a:xfrm>
          <a:prstGeom prst="rect">
            <a:avLst/>
          </a:prstGeom>
          <a:noFill/>
          <a:ln>
            <a:noFill/>
          </a:ln>
        </p:spPr>
        <p:txBody>
          <a:bodyPr anchorCtr="0" anchor="t" bIns="25400" lIns="25400" spcFirstLastPara="1" rIns="25400" wrap="square" tIns="25400">
            <a:noAutofit/>
          </a:bodyPr>
          <a:lstStyle/>
          <a:p>
            <a:pPr indent="0" lvl="0" marL="0" marR="0" rtl="0" algn="l">
              <a:lnSpc>
                <a:spcPct val="122811"/>
              </a:lnSpc>
              <a:spcBef>
                <a:spcPts val="0"/>
              </a:spcBef>
              <a:spcAft>
                <a:spcPts val="0"/>
              </a:spcAft>
              <a:buClr>
                <a:srgbClr val="444141"/>
              </a:buClr>
              <a:buSzPts val="2400"/>
              <a:buFont typeface="Arial"/>
              <a:buNone/>
            </a:pPr>
            <a:r>
              <a:rPr b="0" i="0" lang="en-US" sz="2400" u="none" cap="none" strike="noStrike">
                <a:solidFill>
                  <a:srgbClr val="444141"/>
                </a:solidFill>
                <a:latin typeface="Arial"/>
                <a:ea typeface="Arial"/>
                <a:cs typeface="Arial"/>
                <a:sym typeface="Arial"/>
              </a:rPr>
              <a:t>Parameters receive no gradient. Each image is encoded exactly once and its features written to disk — a computational choice and an experimental guarantee at the same time.</a:t>
            </a:r>
            <a:endParaRPr b="0" i="0" sz="2400" u="none" cap="none" strike="noStrike">
              <a:solidFill>
                <a:schemeClr val="dk1"/>
              </a:solidFill>
              <a:latin typeface="Calibri"/>
              <a:ea typeface="Calibri"/>
              <a:cs typeface="Calibri"/>
              <a:sym typeface="Calibri"/>
            </a:endParaRPr>
          </a:p>
        </p:txBody>
      </p:sp>
      <p:sp>
        <p:nvSpPr>
          <p:cNvPr id="86" name="Google Shape;86;p5"/>
          <p:cNvSpPr/>
          <p:nvPr/>
        </p:nvSpPr>
        <p:spPr>
          <a:xfrm>
            <a:off x="914400" y="6137523"/>
            <a:ext cx="57150" cy="860822"/>
          </a:xfrm>
          <a:prstGeom prst="rect">
            <a:avLst/>
          </a:prstGeom>
          <a:solidFill>
            <a:srgbClr val="EC30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1238250" y="6194673"/>
            <a:ext cx="8537863" cy="784622"/>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201E1D"/>
              </a:buClr>
              <a:buSzPts val="2100"/>
              <a:buFont typeface="Arial"/>
              <a:buNone/>
            </a:pPr>
            <a:r>
              <a:rPr b="1" i="0" lang="en-US" sz="2100" u="none" cap="none" strike="noStrike">
                <a:solidFill>
                  <a:srgbClr val="201E1D"/>
                </a:solidFill>
                <a:latin typeface="Arial"/>
                <a:ea typeface="Arial"/>
                <a:cs typeface="Arial"/>
                <a:sym typeface="Arial"/>
              </a:rPr>
              <a:t>Correction to the proposal. </a:t>
            </a:r>
            <a:r>
              <a:rPr b="0" i="0" lang="en-US" sz="2100" u="none" cap="none" strike="noStrike">
                <a:solidFill>
                  <a:srgbClr val="444141"/>
                </a:solidFill>
                <a:latin typeface="Arial"/>
                <a:ea typeface="Arial"/>
                <a:cs typeface="Arial"/>
                <a:sym typeface="Arial"/>
              </a:rPr>
              <a:t>We stated a 14×14 grid; at 224×224 input, ResNet-50's final stage yields 7×7. All results use the correct features.</a:t>
            </a:r>
            <a:endParaRPr b="0" i="0" sz="2100" u="none" cap="none" strike="noStrike">
              <a:solidFill>
                <a:schemeClr val="dk1"/>
              </a:solidFill>
              <a:latin typeface="Calibri"/>
              <a:ea typeface="Calibri"/>
              <a:cs typeface="Calibri"/>
              <a:sym typeface="Calibri"/>
            </a:endParaRPr>
          </a:p>
        </p:txBody>
      </p:sp>
      <p:sp>
        <p:nvSpPr>
          <p:cNvPr id="88" name="Google Shape;88;p5"/>
          <p:cNvSpPr/>
          <p:nvPr/>
        </p:nvSpPr>
        <p:spPr>
          <a:xfrm>
            <a:off x="10203805" y="2931170"/>
            <a:ext cx="7169646" cy="4992886"/>
          </a:xfrm>
          <a:prstGeom prst="rect">
            <a:avLst/>
          </a:prstGeom>
          <a:solidFill>
            <a:srgbClr val="EA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5"/>
          <p:cNvSpPr/>
          <p:nvPr/>
        </p:nvSpPr>
        <p:spPr>
          <a:xfrm>
            <a:off x="10203805" y="2931170"/>
            <a:ext cx="7169646" cy="57150"/>
          </a:xfrm>
          <a:prstGeom prst="rect">
            <a:avLst/>
          </a:prstGeom>
          <a:solidFill>
            <a:srgbClr val="EC30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a:off x="10661005" y="3445520"/>
            <a:ext cx="6880771"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FEATURE MAP</a:t>
            </a:r>
            <a:endParaRPr b="0" i="0" sz="1800" u="none" cap="none" strike="noStrike">
              <a:solidFill>
                <a:schemeClr val="dk1"/>
              </a:solidFill>
              <a:latin typeface="Calibri"/>
              <a:ea typeface="Calibri"/>
              <a:cs typeface="Calibri"/>
              <a:sym typeface="Calibri"/>
            </a:endParaRPr>
          </a:p>
        </p:txBody>
      </p:sp>
      <p:sp>
        <p:nvSpPr>
          <p:cNvPr id="91" name="Google Shape;91;p5"/>
          <p:cNvSpPr/>
          <p:nvPr/>
        </p:nvSpPr>
        <p:spPr>
          <a:xfrm>
            <a:off x="10661005" y="4009281"/>
            <a:ext cx="6880771" cy="838200"/>
          </a:xfrm>
          <a:prstGeom prst="rect">
            <a:avLst/>
          </a:prstGeom>
          <a:noFill/>
          <a:ln>
            <a:noFill/>
          </a:ln>
        </p:spPr>
        <p:txBody>
          <a:bodyPr anchorCtr="0" anchor="t" bIns="25400" lIns="25400" spcFirstLastPara="1" rIns="25400" wrap="square" tIns="25400">
            <a:noAutofit/>
          </a:bodyPr>
          <a:lstStyle/>
          <a:p>
            <a:pPr indent="0" lvl="0" marL="0" marR="0" rtl="0" algn="l">
              <a:lnSpc>
                <a:spcPct val="71186"/>
              </a:lnSpc>
              <a:spcBef>
                <a:spcPts val="0"/>
              </a:spcBef>
              <a:spcAft>
                <a:spcPts val="0"/>
              </a:spcAft>
              <a:buClr>
                <a:srgbClr val="201E1D"/>
              </a:buClr>
              <a:buSzPts val="6300"/>
              <a:buFont typeface="Arial"/>
              <a:buNone/>
            </a:pPr>
            <a:r>
              <a:rPr b="1" i="0" lang="en-US" sz="6300" u="none" cap="none" strike="noStrike">
                <a:solidFill>
                  <a:srgbClr val="201E1D"/>
                </a:solidFill>
                <a:latin typeface="Arial"/>
                <a:ea typeface="Arial"/>
                <a:cs typeface="Arial"/>
                <a:sym typeface="Arial"/>
              </a:rPr>
              <a:t>7 × 7</a:t>
            </a:r>
            <a:endParaRPr b="0" i="0" sz="6300" u="none" cap="none" strike="noStrike">
              <a:solidFill>
                <a:schemeClr val="dk1"/>
              </a:solidFill>
              <a:latin typeface="Calibri"/>
              <a:ea typeface="Calibri"/>
              <a:cs typeface="Calibri"/>
              <a:sym typeface="Calibri"/>
            </a:endParaRPr>
          </a:p>
        </p:txBody>
      </p:sp>
      <p:sp>
        <p:nvSpPr>
          <p:cNvPr id="92" name="Google Shape;92;p5"/>
          <p:cNvSpPr/>
          <p:nvPr/>
        </p:nvSpPr>
        <p:spPr>
          <a:xfrm>
            <a:off x="10661005" y="5018931"/>
            <a:ext cx="6880771"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spatial locations</a:t>
            </a:r>
            <a:endParaRPr b="0" i="0" sz="2250" u="none" cap="none" strike="noStrike">
              <a:solidFill>
                <a:schemeClr val="dk1"/>
              </a:solidFill>
              <a:latin typeface="Calibri"/>
              <a:ea typeface="Calibri"/>
              <a:cs typeface="Calibri"/>
              <a:sym typeface="Calibri"/>
            </a:endParaRPr>
          </a:p>
        </p:txBody>
      </p:sp>
      <p:sp>
        <p:nvSpPr>
          <p:cNvPr id="93" name="Google Shape;93;p5"/>
          <p:cNvSpPr/>
          <p:nvPr/>
        </p:nvSpPr>
        <p:spPr>
          <a:xfrm>
            <a:off x="10661005" y="5728543"/>
            <a:ext cx="625524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p:nvPr/>
        </p:nvSpPr>
        <p:spPr>
          <a:xfrm>
            <a:off x="10661005" y="6014293"/>
            <a:ext cx="6880771" cy="838200"/>
          </a:xfrm>
          <a:prstGeom prst="rect">
            <a:avLst/>
          </a:prstGeom>
          <a:noFill/>
          <a:ln>
            <a:noFill/>
          </a:ln>
        </p:spPr>
        <p:txBody>
          <a:bodyPr anchorCtr="0" anchor="t" bIns="25400" lIns="25400" spcFirstLastPara="1" rIns="25400" wrap="square" tIns="25400">
            <a:noAutofit/>
          </a:bodyPr>
          <a:lstStyle/>
          <a:p>
            <a:pPr indent="0" lvl="0" marL="0" marR="0" rtl="0" algn="l">
              <a:lnSpc>
                <a:spcPct val="71186"/>
              </a:lnSpc>
              <a:spcBef>
                <a:spcPts val="0"/>
              </a:spcBef>
              <a:spcAft>
                <a:spcPts val="0"/>
              </a:spcAft>
              <a:buClr>
                <a:srgbClr val="201E1D"/>
              </a:buClr>
              <a:buSzPts val="6300"/>
              <a:buFont typeface="Arial"/>
              <a:buNone/>
            </a:pPr>
            <a:r>
              <a:rPr b="1" i="0" lang="en-US" sz="6300" u="none" cap="none" strike="noStrike">
                <a:solidFill>
                  <a:srgbClr val="201E1D"/>
                </a:solidFill>
                <a:latin typeface="Arial"/>
                <a:ea typeface="Arial"/>
                <a:cs typeface="Arial"/>
                <a:sym typeface="Arial"/>
              </a:rPr>
              <a:t>2048</a:t>
            </a:r>
            <a:endParaRPr b="0" i="0" sz="6300" u="none" cap="none" strike="noStrike">
              <a:solidFill>
                <a:schemeClr val="dk1"/>
              </a:solidFill>
              <a:latin typeface="Calibri"/>
              <a:ea typeface="Calibri"/>
              <a:cs typeface="Calibri"/>
              <a:sym typeface="Calibri"/>
            </a:endParaRPr>
          </a:p>
        </p:txBody>
      </p:sp>
      <p:sp>
        <p:nvSpPr>
          <p:cNvPr id="95" name="Google Shape;95;p5"/>
          <p:cNvSpPr/>
          <p:nvPr/>
        </p:nvSpPr>
        <p:spPr>
          <a:xfrm>
            <a:off x="10661005" y="7023943"/>
            <a:ext cx="6880771"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channels per location</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00" name="Shape 100"/>
        <p:cNvGrpSpPr/>
        <p:nvPr/>
      </p:nvGrpSpPr>
      <p:grpSpPr>
        <a:xfrm>
          <a:off x="0" y="0"/>
          <a:ext cx="0" cy="0"/>
          <a:chOff x="0" y="0"/>
          <a:chExt cx="0" cy="0"/>
        </a:xfrm>
      </p:grpSpPr>
      <p:sp>
        <p:nvSpPr>
          <p:cNvPr id="101" name="Google Shape;101;p6"/>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2 — APPROACH</a:t>
            </a:r>
            <a:endParaRPr b="0" i="0" sz="1800" u="none" cap="none" strike="noStrike">
              <a:solidFill>
                <a:schemeClr val="dk1"/>
              </a:solidFill>
              <a:latin typeface="Calibri"/>
              <a:ea typeface="Calibri"/>
              <a:cs typeface="Calibri"/>
              <a:sym typeface="Calibri"/>
            </a:endParaRPr>
          </a:p>
        </p:txBody>
      </p:sp>
      <p:sp>
        <p:nvSpPr>
          <p:cNvPr id="102" name="Google Shape;102;p6"/>
          <p:cNvSpPr/>
          <p:nvPr/>
        </p:nvSpPr>
        <p:spPr>
          <a:xfrm>
            <a:off x="914400" y="1440061"/>
            <a:ext cx="13931265" cy="1305818"/>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Five decoders, from a hard bottleneck to full self-attention</a:t>
            </a:r>
            <a:endParaRPr b="0" i="0" sz="4800" u="none" cap="none" strike="noStrike">
              <a:solidFill>
                <a:schemeClr val="dk1"/>
              </a:solidFill>
              <a:latin typeface="Calibri"/>
              <a:ea typeface="Calibri"/>
              <a:cs typeface="Calibri"/>
              <a:sym typeface="Calibri"/>
            </a:endParaRPr>
          </a:p>
        </p:txBody>
      </p:sp>
      <p:sp>
        <p:nvSpPr>
          <p:cNvPr id="103" name="Google Shape;103;p6"/>
          <p:cNvSpPr/>
          <p:nvPr/>
        </p:nvSpPr>
        <p:spPr>
          <a:xfrm>
            <a:off x="914400" y="2879229"/>
            <a:ext cx="14144625" cy="432346"/>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0" i="0" lang="en-US" sz="1500" u="none" cap="none" strike="noStrike">
                <a:solidFill>
                  <a:srgbClr val="605D5D"/>
                </a:solidFill>
                <a:latin typeface="Arial"/>
                <a:ea typeface="Arial"/>
                <a:cs typeface="Arial"/>
                <a:sym typeface="Arial"/>
              </a:rPr>
              <a:t>GRU models: embedding 256, hidden 512, dropout 0.3. Transformer: d_model 512, FFN 1024. Shared: data, decoding, scoring, and LR-search budget.</a:t>
            </a:r>
            <a:endParaRPr/>
          </a:p>
        </p:txBody>
      </p:sp>
      <p:sp>
        <p:nvSpPr>
          <p:cNvPr id="104" name="Google Shape;104;p6"/>
          <p:cNvSpPr/>
          <p:nvPr/>
        </p:nvSpPr>
        <p:spPr>
          <a:xfrm>
            <a:off x="914400" y="3673525"/>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6"/>
          <p:cNvSpPr/>
          <p:nvPr/>
        </p:nvSpPr>
        <p:spPr>
          <a:xfrm>
            <a:off x="914400" y="3692575"/>
            <a:ext cx="16459200" cy="1178421"/>
          </a:xfrm>
          <a:prstGeom prst="rect">
            <a:avLst/>
          </a:prstGeom>
          <a:solidFill>
            <a:srgbClr val="EA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6"/>
          <p:cNvSpPr/>
          <p:nvPr/>
        </p:nvSpPr>
        <p:spPr>
          <a:xfrm>
            <a:off x="914400" y="4851946"/>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
          <p:cNvSpPr/>
          <p:nvPr/>
        </p:nvSpPr>
        <p:spPr>
          <a:xfrm>
            <a:off x="1104900" y="3940225"/>
            <a:ext cx="838200" cy="421928"/>
          </a:xfrm>
          <a:prstGeom prst="rect">
            <a:avLst/>
          </a:prstGeom>
          <a:noFill/>
          <a:ln>
            <a:noFill/>
          </a:ln>
        </p:spPr>
        <p:txBody>
          <a:bodyPr anchorCtr="0" anchor="t" bIns="25400" lIns="25400" spcFirstLastPara="1" rIns="25400" wrap="square" tIns="25400">
            <a:noAutofit/>
          </a:bodyPr>
          <a:lstStyle/>
          <a:p>
            <a:pPr indent="0" lvl="0" marL="0" marR="0" rtl="0" algn="l">
              <a:lnSpc>
                <a:spcPct val="108919"/>
              </a:lnSpc>
              <a:spcBef>
                <a:spcPts val="0"/>
              </a:spcBef>
              <a:spcAft>
                <a:spcPts val="0"/>
              </a:spcAft>
              <a:buClr>
                <a:srgbClr val="EC3013"/>
              </a:buClr>
              <a:buSzPts val="1950"/>
              <a:buFont typeface="Arial"/>
              <a:buNone/>
            </a:pPr>
            <a:r>
              <a:rPr b="1" i="0" lang="en-US" sz="1950" u="none" cap="none" strike="noStrike">
                <a:solidFill>
                  <a:srgbClr val="EC3013"/>
                </a:solidFill>
                <a:latin typeface="Arial"/>
                <a:ea typeface="Arial"/>
                <a:cs typeface="Arial"/>
                <a:sym typeface="Arial"/>
              </a:rPr>
              <a:t>01</a:t>
            </a:r>
            <a:endParaRPr b="0" i="0" sz="1950" u="none" cap="none" strike="noStrike">
              <a:solidFill>
                <a:schemeClr val="dk1"/>
              </a:solidFill>
              <a:latin typeface="Calibri"/>
              <a:ea typeface="Calibri"/>
              <a:cs typeface="Calibri"/>
              <a:sym typeface="Calibri"/>
            </a:endParaRPr>
          </a:p>
        </p:txBody>
      </p:sp>
      <p:sp>
        <p:nvSpPr>
          <p:cNvPr id="108" name="Google Shape;108;p6"/>
          <p:cNvSpPr/>
          <p:nvPr/>
        </p:nvSpPr>
        <p:spPr>
          <a:xfrm>
            <a:off x="2133600" y="3854500"/>
            <a:ext cx="4191000"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GRU, no attention</a:t>
            </a:r>
            <a:endParaRPr b="0" i="0" sz="2550" u="none" cap="none" strike="noStrike">
              <a:solidFill>
                <a:schemeClr val="dk1"/>
              </a:solidFill>
              <a:latin typeface="Calibri"/>
              <a:ea typeface="Calibri"/>
              <a:cs typeface="Calibri"/>
              <a:sym typeface="Calibri"/>
            </a:endParaRPr>
          </a:p>
        </p:txBody>
      </p:sp>
      <p:sp>
        <p:nvSpPr>
          <p:cNvPr id="109" name="Google Shape;109;p6"/>
          <p:cNvSpPr/>
          <p:nvPr/>
        </p:nvSpPr>
        <p:spPr>
          <a:xfrm>
            <a:off x="6210300" y="3949750"/>
            <a:ext cx="11301984" cy="778371"/>
          </a:xfrm>
          <a:prstGeom prst="rect">
            <a:avLst/>
          </a:prstGeom>
          <a:noFill/>
          <a:ln>
            <a:noFill/>
          </a:ln>
        </p:spPr>
        <p:txBody>
          <a:bodyPr anchorCtr="0" anchor="t" bIns="25400" lIns="25400" spcFirstLastPara="1" rIns="25400" wrap="square" tIns="25400">
            <a:noAutofit/>
          </a:bodyPr>
          <a:lstStyle/>
          <a:p>
            <a:pPr indent="0" lvl="0" marL="0" marR="0" rtl="0" algn="l">
              <a:lnSpc>
                <a:spcPct val="117758"/>
              </a:lnSpc>
              <a:spcBef>
                <a:spcPts val="0"/>
              </a:spcBef>
              <a:spcAft>
                <a:spcPts val="0"/>
              </a:spcAft>
              <a:buClr>
                <a:srgbClr val="444141"/>
              </a:buClr>
              <a:buSzPts val="2175"/>
              <a:buFont typeface="Arial"/>
              <a:buNone/>
            </a:pPr>
            <a:r>
              <a:rPr b="0" i="0" lang="en-US" sz="2175" u="none" cap="none" strike="noStrike">
                <a:solidFill>
                  <a:srgbClr val="444141"/>
                </a:solidFill>
                <a:latin typeface="Arial"/>
                <a:ea typeface="Arial"/>
                <a:cs typeface="Arial"/>
                <a:sym typeface="Arial"/>
              </a:rPr>
              <a:t>Mean-pool 49 vectors → tanh projection → GRU initial hidden state. Never attends back to the image: the reference point.</a:t>
            </a:r>
            <a:endParaRPr b="0" i="0" sz="2175" u="none" cap="none" strike="noStrike">
              <a:solidFill>
                <a:schemeClr val="dk1"/>
              </a:solidFill>
              <a:latin typeface="Calibri"/>
              <a:ea typeface="Calibri"/>
              <a:cs typeface="Calibri"/>
              <a:sym typeface="Calibri"/>
            </a:endParaRPr>
          </a:p>
        </p:txBody>
      </p:sp>
      <p:sp>
        <p:nvSpPr>
          <p:cNvPr id="110" name="Google Shape;110;p6"/>
          <p:cNvSpPr/>
          <p:nvPr/>
        </p:nvSpPr>
        <p:spPr>
          <a:xfrm>
            <a:off x="914400" y="5962799"/>
            <a:ext cx="164592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6"/>
          <p:cNvSpPr/>
          <p:nvPr/>
        </p:nvSpPr>
        <p:spPr>
          <a:xfrm>
            <a:off x="1104900" y="5118646"/>
            <a:ext cx="838200" cy="421928"/>
          </a:xfrm>
          <a:prstGeom prst="rect">
            <a:avLst/>
          </a:prstGeom>
          <a:noFill/>
          <a:ln>
            <a:noFill/>
          </a:ln>
        </p:spPr>
        <p:txBody>
          <a:bodyPr anchorCtr="0" anchor="t" bIns="25400" lIns="25400" spcFirstLastPara="1" rIns="25400" wrap="square" tIns="25400">
            <a:noAutofit/>
          </a:bodyPr>
          <a:lstStyle/>
          <a:p>
            <a:pPr indent="0" lvl="0" marL="0" marR="0" rtl="0" algn="l">
              <a:lnSpc>
                <a:spcPct val="108919"/>
              </a:lnSpc>
              <a:spcBef>
                <a:spcPts val="0"/>
              </a:spcBef>
              <a:spcAft>
                <a:spcPts val="0"/>
              </a:spcAft>
              <a:buClr>
                <a:srgbClr val="7D7979"/>
              </a:buClr>
              <a:buSzPts val="1950"/>
              <a:buFont typeface="Arial"/>
              <a:buNone/>
            </a:pPr>
            <a:r>
              <a:rPr b="1" i="0" lang="en-US" sz="1950" u="none" cap="none" strike="noStrike">
                <a:solidFill>
                  <a:srgbClr val="7D7979"/>
                </a:solidFill>
                <a:latin typeface="Arial"/>
                <a:ea typeface="Arial"/>
                <a:cs typeface="Arial"/>
                <a:sym typeface="Arial"/>
              </a:rPr>
              <a:t>02</a:t>
            </a:r>
            <a:endParaRPr b="0" i="0" sz="1950" u="none" cap="none" strike="noStrike">
              <a:solidFill>
                <a:schemeClr val="dk1"/>
              </a:solidFill>
              <a:latin typeface="Calibri"/>
              <a:ea typeface="Calibri"/>
              <a:cs typeface="Calibri"/>
              <a:sym typeface="Calibri"/>
            </a:endParaRPr>
          </a:p>
        </p:txBody>
      </p:sp>
      <p:sp>
        <p:nvSpPr>
          <p:cNvPr id="112" name="Google Shape;112;p6"/>
          <p:cNvSpPr/>
          <p:nvPr/>
        </p:nvSpPr>
        <p:spPr>
          <a:xfrm>
            <a:off x="2133600" y="5032921"/>
            <a:ext cx="4191000"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GRU + Luong</a:t>
            </a:r>
            <a:endParaRPr b="0" i="0" sz="2550" u="none" cap="none" strike="noStrike">
              <a:solidFill>
                <a:schemeClr val="dk1"/>
              </a:solidFill>
              <a:latin typeface="Calibri"/>
              <a:ea typeface="Calibri"/>
              <a:cs typeface="Calibri"/>
              <a:sym typeface="Calibri"/>
            </a:endParaRPr>
          </a:p>
        </p:txBody>
      </p:sp>
      <p:sp>
        <p:nvSpPr>
          <p:cNvPr id="113" name="Google Shape;113;p6"/>
          <p:cNvSpPr/>
          <p:nvPr/>
        </p:nvSpPr>
        <p:spPr>
          <a:xfrm>
            <a:off x="6210300" y="5147221"/>
            <a:ext cx="11301984" cy="691753"/>
          </a:xfrm>
          <a:prstGeom prst="rect">
            <a:avLst/>
          </a:prstGeom>
          <a:noFill/>
          <a:ln>
            <a:noFill/>
          </a:ln>
        </p:spPr>
        <p:txBody>
          <a:bodyPr anchorCtr="0" anchor="t" bIns="25400" lIns="25400" spcFirstLastPara="1" rIns="25400" wrap="square" tIns="25400">
            <a:noAutofit/>
          </a:bodyPr>
          <a:lstStyle/>
          <a:p>
            <a:pPr indent="0" lvl="0" marL="0" marR="0" rtl="0" algn="l">
              <a:lnSpc>
                <a:spcPct val="110710"/>
              </a:lnSpc>
              <a:spcBef>
                <a:spcPts val="0"/>
              </a:spcBef>
              <a:spcAft>
                <a:spcPts val="0"/>
              </a:spcAft>
              <a:buClr>
                <a:srgbClr val="444141"/>
              </a:buClr>
              <a:buSzPts val="1950"/>
              <a:buFont typeface="Arial"/>
              <a:buNone/>
            </a:pPr>
            <a:r>
              <a:rPr b="0" i="0" lang="en-US" sz="1950" u="none" cap="none" strike="noStrike">
                <a:solidFill>
                  <a:srgbClr val="444141"/>
                </a:solidFill>
                <a:latin typeface="Arial"/>
                <a:ea typeface="Arial"/>
                <a:cs typeface="Arial"/>
                <a:sym typeface="Arial"/>
              </a:rPr>
              <a:t>Dot-product score between the GRU hidden state and each projected location; the context vector is concatenated into the output projection. 5.23M params.</a:t>
            </a:r>
            <a:endParaRPr b="0" i="0" sz="1950" u="none" cap="none" strike="noStrike">
              <a:solidFill>
                <a:schemeClr val="dk1"/>
              </a:solidFill>
              <a:latin typeface="Calibri"/>
              <a:ea typeface="Calibri"/>
              <a:cs typeface="Calibri"/>
              <a:sym typeface="Calibri"/>
            </a:endParaRPr>
          </a:p>
        </p:txBody>
      </p:sp>
      <p:sp>
        <p:nvSpPr>
          <p:cNvPr id="114" name="Google Shape;114;p6"/>
          <p:cNvSpPr/>
          <p:nvPr/>
        </p:nvSpPr>
        <p:spPr>
          <a:xfrm>
            <a:off x="914400" y="7073652"/>
            <a:ext cx="164592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
          <p:cNvSpPr/>
          <p:nvPr/>
        </p:nvSpPr>
        <p:spPr>
          <a:xfrm>
            <a:off x="1104900" y="6229499"/>
            <a:ext cx="838200" cy="421928"/>
          </a:xfrm>
          <a:prstGeom prst="rect">
            <a:avLst/>
          </a:prstGeom>
          <a:noFill/>
          <a:ln>
            <a:noFill/>
          </a:ln>
        </p:spPr>
        <p:txBody>
          <a:bodyPr anchorCtr="0" anchor="t" bIns="25400" lIns="25400" spcFirstLastPara="1" rIns="25400" wrap="square" tIns="25400">
            <a:noAutofit/>
          </a:bodyPr>
          <a:lstStyle/>
          <a:p>
            <a:pPr indent="0" lvl="0" marL="0" marR="0" rtl="0" algn="l">
              <a:lnSpc>
                <a:spcPct val="108919"/>
              </a:lnSpc>
              <a:spcBef>
                <a:spcPts val="0"/>
              </a:spcBef>
              <a:spcAft>
                <a:spcPts val="0"/>
              </a:spcAft>
              <a:buClr>
                <a:srgbClr val="7D7979"/>
              </a:buClr>
              <a:buSzPts val="1950"/>
              <a:buFont typeface="Arial"/>
              <a:buNone/>
            </a:pPr>
            <a:r>
              <a:rPr b="1" i="0" lang="en-US" sz="1950" u="none" cap="none" strike="noStrike">
                <a:solidFill>
                  <a:srgbClr val="7D7979"/>
                </a:solidFill>
                <a:latin typeface="Arial"/>
                <a:ea typeface="Arial"/>
                <a:cs typeface="Arial"/>
                <a:sym typeface="Arial"/>
              </a:rPr>
              <a:t>03</a:t>
            </a:r>
            <a:endParaRPr b="0" i="0" sz="1950" u="none" cap="none" strike="noStrike">
              <a:solidFill>
                <a:schemeClr val="dk1"/>
              </a:solidFill>
              <a:latin typeface="Calibri"/>
              <a:ea typeface="Calibri"/>
              <a:cs typeface="Calibri"/>
              <a:sym typeface="Calibri"/>
            </a:endParaRPr>
          </a:p>
        </p:txBody>
      </p:sp>
      <p:sp>
        <p:nvSpPr>
          <p:cNvPr id="116" name="Google Shape;116;p6"/>
          <p:cNvSpPr/>
          <p:nvPr/>
        </p:nvSpPr>
        <p:spPr>
          <a:xfrm>
            <a:off x="2133600" y="6143774"/>
            <a:ext cx="4191000"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GRU + Bahdanau</a:t>
            </a:r>
            <a:endParaRPr b="0" i="0" sz="2550" u="none" cap="none" strike="noStrike">
              <a:solidFill>
                <a:schemeClr val="dk1"/>
              </a:solidFill>
              <a:latin typeface="Calibri"/>
              <a:ea typeface="Calibri"/>
              <a:cs typeface="Calibri"/>
              <a:sym typeface="Calibri"/>
            </a:endParaRPr>
          </a:p>
        </p:txBody>
      </p:sp>
      <p:sp>
        <p:nvSpPr>
          <p:cNvPr id="117" name="Google Shape;117;p6"/>
          <p:cNvSpPr/>
          <p:nvPr/>
        </p:nvSpPr>
        <p:spPr>
          <a:xfrm>
            <a:off x="6210300" y="6258074"/>
            <a:ext cx="11301984" cy="691753"/>
          </a:xfrm>
          <a:prstGeom prst="rect">
            <a:avLst/>
          </a:prstGeom>
          <a:noFill/>
          <a:ln>
            <a:noFill/>
          </a:ln>
        </p:spPr>
        <p:txBody>
          <a:bodyPr anchorCtr="0" anchor="t" bIns="25400" lIns="25400" spcFirstLastPara="1" rIns="25400" wrap="square" tIns="25400">
            <a:noAutofit/>
          </a:bodyPr>
          <a:lstStyle/>
          <a:p>
            <a:pPr indent="0" lvl="0" marL="0" marR="0" rtl="0" algn="l">
              <a:lnSpc>
                <a:spcPct val="110710"/>
              </a:lnSpc>
              <a:spcBef>
                <a:spcPts val="0"/>
              </a:spcBef>
              <a:spcAft>
                <a:spcPts val="0"/>
              </a:spcAft>
              <a:buClr>
                <a:srgbClr val="444141"/>
              </a:buClr>
              <a:buSzPts val="1950"/>
              <a:buFont typeface="Arial"/>
              <a:buNone/>
            </a:pPr>
            <a:r>
              <a:rPr b="0" i="0" lang="en-US" sz="1950" u="none" cap="none" strike="noStrike">
                <a:solidFill>
                  <a:srgbClr val="444141"/>
                </a:solidFill>
                <a:latin typeface="Arial"/>
                <a:ea typeface="Arial"/>
                <a:cs typeface="Arial"/>
                <a:sym typeface="Arial"/>
              </a:rPr>
              <a:t>Additive scoring through an alignment MLP over hidden state and projected features, one head. 5.76M params.</a:t>
            </a:r>
            <a:endParaRPr b="0" i="0" sz="1950" u="none" cap="none" strike="noStrike">
              <a:solidFill>
                <a:schemeClr val="dk1"/>
              </a:solidFill>
              <a:latin typeface="Calibri"/>
              <a:ea typeface="Calibri"/>
              <a:cs typeface="Calibri"/>
              <a:sym typeface="Calibri"/>
            </a:endParaRPr>
          </a:p>
        </p:txBody>
      </p:sp>
      <p:sp>
        <p:nvSpPr>
          <p:cNvPr id="118" name="Google Shape;118;p6"/>
          <p:cNvSpPr/>
          <p:nvPr/>
        </p:nvSpPr>
        <p:spPr>
          <a:xfrm>
            <a:off x="914400" y="8184505"/>
            <a:ext cx="164592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6"/>
          <p:cNvSpPr/>
          <p:nvPr/>
        </p:nvSpPr>
        <p:spPr>
          <a:xfrm>
            <a:off x="1104900" y="7340352"/>
            <a:ext cx="838200" cy="421928"/>
          </a:xfrm>
          <a:prstGeom prst="rect">
            <a:avLst/>
          </a:prstGeom>
          <a:noFill/>
          <a:ln>
            <a:noFill/>
          </a:ln>
        </p:spPr>
        <p:txBody>
          <a:bodyPr anchorCtr="0" anchor="t" bIns="25400" lIns="25400" spcFirstLastPara="1" rIns="25400" wrap="square" tIns="25400">
            <a:noAutofit/>
          </a:bodyPr>
          <a:lstStyle/>
          <a:p>
            <a:pPr indent="0" lvl="0" marL="0" marR="0" rtl="0" algn="l">
              <a:lnSpc>
                <a:spcPct val="108919"/>
              </a:lnSpc>
              <a:spcBef>
                <a:spcPts val="0"/>
              </a:spcBef>
              <a:spcAft>
                <a:spcPts val="0"/>
              </a:spcAft>
              <a:buClr>
                <a:srgbClr val="7D7979"/>
              </a:buClr>
              <a:buSzPts val="1950"/>
              <a:buFont typeface="Arial"/>
              <a:buNone/>
            </a:pPr>
            <a:r>
              <a:rPr b="1" i="0" lang="en-US" sz="1950" u="none" cap="none" strike="noStrike">
                <a:solidFill>
                  <a:srgbClr val="7D7979"/>
                </a:solidFill>
                <a:latin typeface="Arial"/>
                <a:ea typeface="Arial"/>
                <a:cs typeface="Arial"/>
                <a:sym typeface="Arial"/>
              </a:rPr>
              <a:t>04</a:t>
            </a:r>
            <a:endParaRPr b="0" i="0" sz="1950" u="none" cap="none" strike="noStrike">
              <a:solidFill>
                <a:schemeClr val="dk1"/>
              </a:solidFill>
              <a:latin typeface="Calibri"/>
              <a:ea typeface="Calibri"/>
              <a:cs typeface="Calibri"/>
              <a:sym typeface="Calibri"/>
            </a:endParaRPr>
          </a:p>
        </p:txBody>
      </p:sp>
      <p:sp>
        <p:nvSpPr>
          <p:cNvPr id="120" name="Google Shape;120;p6"/>
          <p:cNvSpPr/>
          <p:nvPr/>
        </p:nvSpPr>
        <p:spPr>
          <a:xfrm>
            <a:off x="2133600" y="7254627"/>
            <a:ext cx="4191000"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GRU + multi-head</a:t>
            </a:r>
            <a:endParaRPr b="0" i="0" sz="2550" u="none" cap="none" strike="noStrike">
              <a:solidFill>
                <a:schemeClr val="dk1"/>
              </a:solidFill>
              <a:latin typeface="Calibri"/>
              <a:ea typeface="Calibri"/>
              <a:cs typeface="Calibri"/>
              <a:sym typeface="Calibri"/>
            </a:endParaRPr>
          </a:p>
        </p:txBody>
      </p:sp>
      <p:sp>
        <p:nvSpPr>
          <p:cNvPr id="121" name="Google Shape;121;p6"/>
          <p:cNvSpPr/>
          <p:nvPr/>
        </p:nvSpPr>
        <p:spPr>
          <a:xfrm>
            <a:off x="6210300" y="7368927"/>
            <a:ext cx="11301984" cy="691753"/>
          </a:xfrm>
          <a:prstGeom prst="rect">
            <a:avLst/>
          </a:prstGeom>
          <a:noFill/>
          <a:ln>
            <a:noFill/>
          </a:ln>
        </p:spPr>
        <p:txBody>
          <a:bodyPr anchorCtr="0" anchor="t" bIns="25400" lIns="25400" spcFirstLastPara="1" rIns="25400" wrap="square" tIns="25400">
            <a:noAutofit/>
          </a:bodyPr>
          <a:lstStyle/>
          <a:p>
            <a:pPr indent="0" lvl="0" marL="0" marR="0" rtl="0" algn="l">
              <a:lnSpc>
                <a:spcPct val="110710"/>
              </a:lnSpc>
              <a:spcBef>
                <a:spcPts val="0"/>
              </a:spcBef>
              <a:spcAft>
                <a:spcPts val="0"/>
              </a:spcAft>
              <a:buClr>
                <a:srgbClr val="444141"/>
              </a:buClr>
              <a:buSzPts val="1950"/>
              <a:buFont typeface="Arial"/>
              <a:buNone/>
            </a:pPr>
            <a:r>
              <a:rPr b="0" i="0" lang="en-US" sz="1950" u="none" cap="none" strike="noStrike">
                <a:solidFill>
                  <a:srgbClr val="444141"/>
                </a:solidFill>
                <a:latin typeface="Arial"/>
                <a:ea typeface="Arial"/>
                <a:cs typeface="Arial"/>
                <a:sym typeface="Arial"/>
              </a:rPr>
              <a:t>Scaled dot-product attention over the 49 locations with 4 heads, concatenated and projected. 6.29M params.</a:t>
            </a:r>
            <a:endParaRPr b="0" i="0" sz="1950" u="none" cap="none" strike="noStrike">
              <a:solidFill>
                <a:schemeClr val="dk1"/>
              </a:solidFill>
              <a:latin typeface="Calibri"/>
              <a:ea typeface="Calibri"/>
              <a:cs typeface="Calibri"/>
              <a:sym typeface="Calibri"/>
            </a:endParaRPr>
          </a:p>
        </p:txBody>
      </p:sp>
      <p:sp>
        <p:nvSpPr>
          <p:cNvPr id="122" name="Google Shape;122;p6"/>
          <p:cNvSpPr/>
          <p:nvPr/>
        </p:nvSpPr>
        <p:spPr>
          <a:xfrm>
            <a:off x="914400" y="9295358"/>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6"/>
          <p:cNvSpPr/>
          <p:nvPr/>
        </p:nvSpPr>
        <p:spPr>
          <a:xfrm>
            <a:off x="1104900" y="8451205"/>
            <a:ext cx="838200" cy="421928"/>
          </a:xfrm>
          <a:prstGeom prst="rect">
            <a:avLst/>
          </a:prstGeom>
          <a:noFill/>
          <a:ln>
            <a:noFill/>
          </a:ln>
        </p:spPr>
        <p:txBody>
          <a:bodyPr anchorCtr="0" anchor="t" bIns="25400" lIns="25400" spcFirstLastPara="1" rIns="25400" wrap="square" tIns="25400">
            <a:noAutofit/>
          </a:bodyPr>
          <a:lstStyle/>
          <a:p>
            <a:pPr indent="0" lvl="0" marL="0" marR="0" rtl="0" algn="l">
              <a:lnSpc>
                <a:spcPct val="108919"/>
              </a:lnSpc>
              <a:spcBef>
                <a:spcPts val="0"/>
              </a:spcBef>
              <a:spcAft>
                <a:spcPts val="0"/>
              </a:spcAft>
              <a:buClr>
                <a:srgbClr val="7D7979"/>
              </a:buClr>
              <a:buSzPts val="1950"/>
              <a:buFont typeface="Arial"/>
              <a:buNone/>
            </a:pPr>
            <a:r>
              <a:rPr b="1" i="0" lang="en-US" sz="1950" u="none" cap="none" strike="noStrike">
                <a:solidFill>
                  <a:srgbClr val="7D7979"/>
                </a:solidFill>
                <a:latin typeface="Arial"/>
                <a:ea typeface="Arial"/>
                <a:cs typeface="Arial"/>
                <a:sym typeface="Arial"/>
              </a:rPr>
              <a:t>05</a:t>
            </a:r>
            <a:endParaRPr b="0" i="0" sz="1950" u="none" cap="none" strike="noStrike">
              <a:solidFill>
                <a:schemeClr val="dk1"/>
              </a:solidFill>
              <a:latin typeface="Calibri"/>
              <a:ea typeface="Calibri"/>
              <a:cs typeface="Calibri"/>
              <a:sym typeface="Calibri"/>
            </a:endParaRPr>
          </a:p>
        </p:txBody>
      </p:sp>
      <p:sp>
        <p:nvSpPr>
          <p:cNvPr id="124" name="Google Shape;124;p6"/>
          <p:cNvSpPr/>
          <p:nvPr/>
        </p:nvSpPr>
        <p:spPr>
          <a:xfrm>
            <a:off x="2133600" y="8365480"/>
            <a:ext cx="4191000" cy="539948"/>
          </a:xfrm>
          <a:prstGeom prst="rect">
            <a:avLst/>
          </a:prstGeom>
          <a:noFill/>
          <a:ln>
            <a:noFill/>
          </a:ln>
        </p:spPr>
        <p:txBody>
          <a:bodyPr anchorCtr="0" anchor="t" bIns="25400" lIns="25400" spcFirstLastPara="1" rIns="25400" wrap="square" tIns="25400">
            <a:noAutofit/>
          </a:bodyPr>
          <a:lstStyle/>
          <a:p>
            <a:pPr indent="0" lvl="0" marL="0" marR="0" rtl="0" algn="l">
              <a:lnSpc>
                <a:spcPct val="109792"/>
              </a:lnSpc>
              <a:spcBef>
                <a:spcPts val="0"/>
              </a:spcBef>
              <a:spcAft>
                <a:spcPts val="0"/>
              </a:spcAft>
              <a:buClr>
                <a:srgbClr val="201E1D"/>
              </a:buClr>
              <a:buSzPts val="2550"/>
              <a:buFont typeface="Arial"/>
              <a:buNone/>
            </a:pPr>
            <a:r>
              <a:rPr b="1" i="0" lang="en-US" sz="2550" u="none" cap="none" strike="noStrike">
                <a:solidFill>
                  <a:srgbClr val="201E1D"/>
                </a:solidFill>
                <a:latin typeface="Arial"/>
                <a:ea typeface="Arial"/>
                <a:cs typeface="Arial"/>
                <a:sym typeface="Arial"/>
              </a:rPr>
              <a:t>Transformer decoder</a:t>
            </a:r>
            <a:endParaRPr b="0" i="0" sz="2550" u="none" cap="none" strike="noStrike">
              <a:solidFill>
                <a:schemeClr val="dk1"/>
              </a:solidFill>
              <a:latin typeface="Calibri"/>
              <a:ea typeface="Calibri"/>
              <a:cs typeface="Calibri"/>
              <a:sym typeface="Calibri"/>
            </a:endParaRPr>
          </a:p>
        </p:txBody>
      </p:sp>
      <p:sp>
        <p:nvSpPr>
          <p:cNvPr id="125" name="Google Shape;125;p6"/>
          <p:cNvSpPr/>
          <p:nvPr/>
        </p:nvSpPr>
        <p:spPr>
          <a:xfrm>
            <a:off x="6210300" y="8479780"/>
            <a:ext cx="11301984" cy="691753"/>
          </a:xfrm>
          <a:prstGeom prst="rect">
            <a:avLst/>
          </a:prstGeom>
          <a:noFill/>
          <a:ln>
            <a:noFill/>
          </a:ln>
        </p:spPr>
        <p:txBody>
          <a:bodyPr anchorCtr="0" anchor="t" bIns="25400" lIns="25400" spcFirstLastPara="1" rIns="25400" wrap="square" tIns="25400">
            <a:noAutofit/>
          </a:bodyPr>
          <a:lstStyle/>
          <a:p>
            <a:pPr indent="0" lvl="0" marL="0" marR="0" rtl="0" algn="l">
              <a:lnSpc>
                <a:spcPct val="110710"/>
              </a:lnSpc>
              <a:spcBef>
                <a:spcPts val="0"/>
              </a:spcBef>
              <a:spcAft>
                <a:spcPts val="0"/>
              </a:spcAft>
              <a:buClr>
                <a:srgbClr val="444141"/>
              </a:buClr>
              <a:buSzPts val="1950"/>
              <a:buFont typeface="Arial"/>
              <a:buNone/>
            </a:pPr>
            <a:r>
              <a:rPr b="0" i="0" lang="en-US" sz="1950" u="none" cap="none" strike="noStrike">
                <a:solidFill>
                  <a:srgbClr val="444141"/>
                </a:solidFill>
                <a:latin typeface="Arial"/>
                <a:ea typeface="Arial"/>
                <a:cs typeface="Arial"/>
                <a:sym typeface="Arial"/>
              </a:rPr>
              <a:t>2 layers, 4 heads, d_model 512, FFN 1024, learned positional embeddings, cross-attention over the 49 features. 10.03M params.</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30" name="Shape 130"/>
        <p:cNvGrpSpPr/>
        <p:nvPr/>
      </p:nvGrpSpPr>
      <p:grpSpPr>
        <a:xfrm>
          <a:off x="0" y="0"/>
          <a:ext cx="0" cy="0"/>
          <a:chOff x="0" y="0"/>
          <a:chExt cx="0" cy="0"/>
        </a:xfrm>
      </p:grpSpPr>
      <p:sp>
        <p:nvSpPr>
          <p:cNvPr id="131" name="Google Shape;131;p7"/>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2 — APPROACH</a:t>
            </a:r>
            <a:endParaRPr b="0" i="0" sz="1800" u="none" cap="none" strike="noStrike">
              <a:solidFill>
                <a:schemeClr val="dk1"/>
              </a:solidFill>
              <a:latin typeface="Calibri"/>
              <a:ea typeface="Calibri"/>
              <a:cs typeface="Calibri"/>
              <a:sym typeface="Calibri"/>
            </a:endParaRPr>
          </a:p>
        </p:txBody>
      </p:sp>
      <p:sp>
        <p:nvSpPr>
          <p:cNvPr id="132" name="Google Shape;132;p7"/>
          <p:cNvSpPr/>
          <p:nvPr/>
        </p:nvSpPr>
        <p:spPr>
          <a:xfrm>
            <a:off x="914400" y="1440061"/>
            <a:ext cx="14878050" cy="671959"/>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What makes the comparison mechanically fair</a:t>
            </a:r>
            <a:endParaRPr b="0" i="0" sz="4800" u="none" cap="none" strike="noStrike">
              <a:solidFill>
                <a:schemeClr val="dk1"/>
              </a:solidFill>
              <a:latin typeface="Calibri"/>
              <a:ea typeface="Calibri"/>
              <a:cs typeface="Calibri"/>
              <a:sym typeface="Calibri"/>
            </a:endParaRPr>
          </a:p>
        </p:txBody>
      </p:sp>
      <p:sp>
        <p:nvSpPr>
          <p:cNvPr id="133" name="Google Shape;133;p7"/>
          <p:cNvSpPr/>
          <p:nvPr/>
        </p:nvSpPr>
        <p:spPr>
          <a:xfrm>
            <a:off x="914400" y="2569220"/>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7"/>
          <p:cNvSpPr/>
          <p:nvPr/>
        </p:nvSpPr>
        <p:spPr>
          <a:xfrm>
            <a:off x="914400" y="2912120"/>
            <a:ext cx="871728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SHARED DECODER INTERFACE</a:t>
            </a:r>
            <a:endParaRPr b="0" i="0" sz="1800" u="none" cap="none" strike="noStrike">
              <a:solidFill>
                <a:schemeClr val="dk1"/>
              </a:solidFill>
              <a:latin typeface="Calibri"/>
              <a:ea typeface="Calibri"/>
              <a:cs typeface="Calibri"/>
              <a:sym typeface="Calibri"/>
            </a:endParaRPr>
          </a:p>
        </p:txBody>
      </p:sp>
      <p:sp>
        <p:nvSpPr>
          <p:cNvPr id="135" name="Google Shape;135;p7"/>
          <p:cNvSpPr/>
          <p:nvPr/>
        </p:nvSpPr>
        <p:spPr>
          <a:xfrm>
            <a:off x="914400" y="3456831"/>
            <a:ext cx="8162544" cy="892076"/>
          </a:xfrm>
          <a:prstGeom prst="rect">
            <a:avLst/>
          </a:prstGeom>
          <a:noFill/>
          <a:ln>
            <a:noFill/>
          </a:ln>
        </p:spPr>
        <p:txBody>
          <a:bodyPr anchorCtr="0" anchor="t" bIns="25400" lIns="25400" spcFirstLastPara="1" rIns="25400" wrap="square" tIns="25400">
            <a:noAutofit/>
          </a:bodyPr>
          <a:lstStyle/>
          <a:p>
            <a:pPr indent="0" lvl="0" marL="0" marR="0" rtl="0" algn="l">
              <a:lnSpc>
                <a:spcPct val="83037"/>
              </a:lnSpc>
              <a:spcBef>
                <a:spcPts val="0"/>
              </a:spcBef>
              <a:spcAft>
                <a:spcPts val="0"/>
              </a:spcAft>
              <a:buClr>
                <a:srgbClr val="201E1D"/>
              </a:buClr>
              <a:buSzPts val="2850"/>
              <a:buFont typeface="Arial"/>
              <a:buNone/>
            </a:pPr>
            <a:r>
              <a:rPr b="1" i="0" lang="en-US" sz="2850" u="none" cap="none" strike="noStrike">
                <a:solidFill>
                  <a:srgbClr val="201E1D"/>
                </a:solidFill>
                <a:latin typeface="Arial"/>
                <a:ea typeface="Arial"/>
                <a:cs typeface="Arial"/>
                <a:sym typeface="Arial"/>
              </a:rPr>
              <a:t>One interface, so the harness is identical for all five</a:t>
            </a:r>
            <a:endParaRPr b="0" i="0" sz="2850" u="none" cap="none" strike="noStrike">
              <a:solidFill>
                <a:schemeClr val="dk1"/>
              </a:solidFill>
              <a:latin typeface="Calibri"/>
              <a:ea typeface="Calibri"/>
              <a:cs typeface="Calibri"/>
              <a:sym typeface="Calibri"/>
            </a:endParaRPr>
          </a:p>
        </p:txBody>
      </p:sp>
      <p:sp>
        <p:nvSpPr>
          <p:cNvPr id="136" name="Google Shape;136;p7"/>
          <p:cNvSpPr/>
          <p:nvPr/>
        </p:nvSpPr>
        <p:spPr>
          <a:xfrm>
            <a:off x="914400" y="4501307"/>
            <a:ext cx="8162544" cy="1638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0" i="0" lang="en-US" sz="1800" u="none" cap="none" strike="noStrike">
                <a:solidFill>
                  <a:srgbClr val="444141"/>
                </a:solidFill>
                <a:latin typeface="Arial"/>
                <a:ea typeface="Arial"/>
                <a:cs typeface="Arial"/>
                <a:sym typeface="Arial"/>
              </a:rPr>
              <a:t>A teacher-forced forward pass returns per-token logits, plus an incremental single-step decode used identically at evaluation. Recurrent attention models expose per-step spatial weights shaped [batch, heads, 49]; native Transformer cross-attention maps are not visualized.</a:t>
            </a:r>
            <a:endParaRPr/>
          </a:p>
        </p:txBody>
      </p:sp>
      <p:sp>
        <p:nvSpPr>
          <p:cNvPr id="137" name="Google Shape;137;p7"/>
          <p:cNvSpPr/>
          <p:nvPr/>
        </p:nvSpPr>
        <p:spPr>
          <a:xfrm>
            <a:off x="9448800" y="2912120"/>
            <a:ext cx="19050" cy="318938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7"/>
          <p:cNvSpPr/>
          <p:nvPr/>
        </p:nvSpPr>
        <p:spPr>
          <a:xfrm>
            <a:off x="10077450" y="2912120"/>
            <a:ext cx="8025765"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DATA-INTEGRITY SAFEGUARDS</a:t>
            </a:r>
            <a:endParaRPr b="0" i="0" sz="1800" u="none" cap="none" strike="noStrike">
              <a:solidFill>
                <a:schemeClr val="dk1"/>
              </a:solidFill>
              <a:latin typeface="Calibri"/>
              <a:ea typeface="Calibri"/>
              <a:cs typeface="Calibri"/>
              <a:sym typeface="Calibri"/>
            </a:endParaRPr>
          </a:p>
        </p:txBody>
      </p:sp>
      <p:sp>
        <p:nvSpPr>
          <p:cNvPr id="139" name="Google Shape;139;p7"/>
          <p:cNvSpPr/>
          <p:nvPr/>
        </p:nvSpPr>
        <p:spPr>
          <a:xfrm>
            <a:off x="10077450" y="3456831"/>
            <a:ext cx="8025765" cy="465088"/>
          </a:xfrm>
          <a:prstGeom prst="rect">
            <a:avLst/>
          </a:prstGeom>
          <a:noFill/>
          <a:ln>
            <a:noFill/>
          </a:ln>
        </p:spPr>
        <p:txBody>
          <a:bodyPr anchorCtr="0" anchor="t" bIns="25400" lIns="25400" spcFirstLastPara="1" rIns="25400" wrap="square" tIns="25400">
            <a:noAutofit/>
          </a:bodyPr>
          <a:lstStyle/>
          <a:p>
            <a:pPr indent="0" lvl="0" marL="0" marR="0" rtl="0" algn="l">
              <a:lnSpc>
                <a:spcPct val="83037"/>
              </a:lnSpc>
              <a:spcBef>
                <a:spcPts val="0"/>
              </a:spcBef>
              <a:spcAft>
                <a:spcPts val="0"/>
              </a:spcAft>
              <a:buClr>
                <a:srgbClr val="201E1D"/>
              </a:buClr>
              <a:buSzPts val="2850"/>
              <a:buFont typeface="Arial"/>
              <a:buNone/>
            </a:pPr>
            <a:r>
              <a:rPr b="1" i="0" lang="en-US" sz="2850" u="none" cap="none" strike="noStrike">
                <a:solidFill>
                  <a:srgbClr val="201E1D"/>
                </a:solidFill>
                <a:latin typeface="Arial"/>
                <a:ea typeface="Arial"/>
                <a:cs typeface="Arial"/>
                <a:sym typeface="Arial"/>
              </a:rPr>
              <a:t>SHA-256 hashes gate every run</a:t>
            </a:r>
            <a:endParaRPr b="0" i="0" sz="2850" u="none" cap="none" strike="noStrike">
              <a:solidFill>
                <a:schemeClr val="dk1"/>
              </a:solidFill>
              <a:latin typeface="Calibri"/>
              <a:ea typeface="Calibri"/>
              <a:cs typeface="Calibri"/>
              <a:sym typeface="Calibri"/>
            </a:endParaRPr>
          </a:p>
        </p:txBody>
      </p:sp>
      <p:sp>
        <p:nvSpPr>
          <p:cNvPr id="140" name="Google Shape;140;p7"/>
          <p:cNvSpPr/>
          <p:nvPr/>
        </p:nvSpPr>
        <p:spPr>
          <a:xfrm>
            <a:off x="10077450" y="4074319"/>
            <a:ext cx="7515035" cy="2038350"/>
          </a:xfrm>
          <a:prstGeom prst="rect">
            <a:avLst/>
          </a:prstGeom>
          <a:noFill/>
          <a:ln>
            <a:noFill/>
          </a:ln>
        </p:spPr>
        <p:txBody>
          <a:bodyPr anchorCtr="0" anchor="t" bIns="25400" lIns="25400" spcFirstLastPara="1" rIns="25400" wrap="square" tIns="25400">
            <a:noAutofit/>
          </a:bodyPr>
          <a:lstStyle/>
          <a:p>
            <a:pPr indent="0" lvl="0" marL="0" marR="0" rtl="0" algn="l">
              <a:lnSpc>
                <a:spcPct val="123529"/>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Splits, tokenized captions, vocabulary, and canonical image ordering are hashed once. A feature cache built from a different image order has the same tensor shape and would silently mispair every image — the hash rejects it instead.</a:t>
            </a:r>
            <a:endParaRPr b="0" i="0" sz="2250" u="none" cap="none" strike="noStrike">
              <a:solidFill>
                <a:schemeClr val="dk1"/>
              </a:solidFill>
              <a:latin typeface="Calibri"/>
              <a:ea typeface="Calibri"/>
              <a:cs typeface="Calibri"/>
              <a:sym typeface="Calibri"/>
            </a:endParaRPr>
          </a:p>
        </p:txBody>
      </p:sp>
      <p:sp>
        <p:nvSpPr>
          <p:cNvPr id="141" name="Google Shape;141;p7"/>
          <p:cNvSpPr/>
          <p:nvPr/>
        </p:nvSpPr>
        <p:spPr>
          <a:xfrm>
            <a:off x="914400" y="8400752"/>
            <a:ext cx="142875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7"/>
          <p:cNvSpPr/>
          <p:nvPr/>
        </p:nvSpPr>
        <p:spPr>
          <a:xfrm>
            <a:off x="914400" y="8800802"/>
            <a:ext cx="14716125" cy="800398"/>
          </a:xfrm>
          <a:prstGeom prst="rect">
            <a:avLst/>
          </a:prstGeom>
          <a:noFill/>
          <a:ln>
            <a:noFill/>
          </a:ln>
        </p:spPr>
        <p:txBody>
          <a:bodyPr anchorCtr="0" anchor="t" bIns="25400" lIns="25400" spcFirstLastPara="1" rIns="25400" wrap="square" tIns="25400">
            <a:noAutofit/>
          </a:bodyPr>
          <a:lstStyle/>
          <a:p>
            <a:pPr indent="0" lvl="0" marL="0" marR="0" rtl="0" algn="l">
              <a:lnSpc>
                <a:spcPct val="121273"/>
              </a:lnSpc>
              <a:spcBef>
                <a:spcPts val="0"/>
              </a:spcBef>
              <a:spcAft>
                <a:spcPts val="0"/>
              </a:spcAft>
              <a:buClr>
                <a:srgbClr val="444141"/>
              </a:buClr>
              <a:buSzPts val="2175"/>
              <a:buFont typeface="Arial"/>
              <a:buNone/>
            </a:pPr>
            <a:r>
              <a:rPr b="0" i="0" lang="en-US" sz="2175" u="none" cap="none" strike="noStrike">
                <a:solidFill>
                  <a:srgbClr val="444141"/>
                </a:solidFill>
                <a:latin typeface="Arial"/>
                <a:ea typeface="Arial"/>
                <a:cs typeface="Arial"/>
                <a:sym typeface="Arial"/>
              </a:rPr>
              <a:t>We train on separate machines and merge results, so the hashes guarantee all five models were trained against one and the same data definition. Final evaluation refuses to run unless they match.</a:t>
            </a:r>
            <a:endParaRPr b="0" i="0" sz="2175"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47" name="Shape 147"/>
        <p:cNvGrpSpPr/>
        <p:nvPr/>
      </p:nvGrpSpPr>
      <p:grpSpPr>
        <a:xfrm>
          <a:off x="0" y="0"/>
          <a:ext cx="0" cy="0"/>
          <a:chOff x="0" y="0"/>
          <a:chExt cx="0" cy="0"/>
        </a:xfrm>
      </p:grpSpPr>
      <p:sp>
        <p:nvSpPr>
          <p:cNvPr id="148" name="Google Shape;148;p8"/>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3 — DATASET AND TRAINING SETUP</a:t>
            </a:r>
            <a:endParaRPr b="0" i="0" sz="1800" u="none" cap="none" strike="noStrike">
              <a:solidFill>
                <a:schemeClr val="dk1"/>
              </a:solidFill>
              <a:latin typeface="Calibri"/>
              <a:ea typeface="Calibri"/>
              <a:cs typeface="Calibri"/>
              <a:sym typeface="Calibri"/>
            </a:endParaRPr>
          </a:p>
        </p:txBody>
      </p:sp>
      <p:sp>
        <p:nvSpPr>
          <p:cNvPr id="149" name="Google Shape;149;p8"/>
          <p:cNvSpPr/>
          <p:nvPr/>
        </p:nvSpPr>
        <p:spPr>
          <a:xfrm>
            <a:off x="914400" y="1440061"/>
            <a:ext cx="14878050" cy="671959"/>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Flickr8k under the standard Karpathy splits</a:t>
            </a:r>
            <a:endParaRPr b="0" i="0" sz="4800" u="none" cap="none" strike="noStrike">
              <a:solidFill>
                <a:schemeClr val="dk1"/>
              </a:solidFill>
              <a:latin typeface="Calibri"/>
              <a:ea typeface="Calibri"/>
              <a:cs typeface="Calibri"/>
              <a:sym typeface="Calibri"/>
            </a:endParaRPr>
          </a:p>
        </p:txBody>
      </p:sp>
      <p:sp>
        <p:nvSpPr>
          <p:cNvPr id="150" name="Google Shape;150;p8"/>
          <p:cNvSpPr/>
          <p:nvPr/>
        </p:nvSpPr>
        <p:spPr>
          <a:xfrm>
            <a:off x="914400" y="4881711"/>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8"/>
          <p:cNvSpPr/>
          <p:nvPr/>
        </p:nvSpPr>
        <p:spPr>
          <a:xfrm>
            <a:off x="914400" y="2569220"/>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8"/>
          <p:cNvSpPr/>
          <p:nvPr/>
        </p:nvSpPr>
        <p:spPr>
          <a:xfrm>
            <a:off x="914400" y="2912120"/>
            <a:ext cx="4191000" cy="742950"/>
          </a:xfrm>
          <a:prstGeom prst="rect">
            <a:avLst/>
          </a:prstGeom>
          <a:noFill/>
          <a:ln>
            <a:noFill/>
          </a:ln>
        </p:spPr>
        <p:txBody>
          <a:bodyPr anchorCtr="0" anchor="t" bIns="25400" lIns="25400" spcFirstLastPara="1" rIns="25400" wrap="square" tIns="25400">
            <a:noAutofit/>
          </a:bodyPr>
          <a:lstStyle/>
          <a:p>
            <a:pPr indent="0" lvl="0" marL="0" marR="0" rtl="0" algn="l">
              <a:lnSpc>
                <a:spcPct val="71154"/>
              </a:lnSpc>
              <a:spcBef>
                <a:spcPts val="0"/>
              </a:spcBef>
              <a:spcAft>
                <a:spcPts val="0"/>
              </a:spcAft>
              <a:buClr>
                <a:srgbClr val="201E1D"/>
              </a:buClr>
              <a:buSzPts val="5550"/>
              <a:buFont typeface="Arial"/>
              <a:buNone/>
            </a:pPr>
            <a:r>
              <a:rPr b="1" i="0" lang="en-US" sz="5550" u="none" cap="none" strike="noStrike">
                <a:solidFill>
                  <a:srgbClr val="201E1D"/>
                </a:solidFill>
                <a:latin typeface="Arial"/>
                <a:ea typeface="Arial"/>
                <a:cs typeface="Arial"/>
                <a:sym typeface="Arial"/>
              </a:rPr>
              <a:t>8,091</a:t>
            </a:r>
            <a:endParaRPr b="0" i="0" sz="5550" u="none" cap="none" strike="noStrike">
              <a:solidFill>
                <a:schemeClr val="dk1"/>
              </a:solidFill>
              <a:latin typeface="Calibri"/>
              <a:ea typeface="Calibri"/>
              <a:cs typeface="Calibri"/>
              <a:sym typeface="Calibri"/>
            </a:endParaRPr>
          </a:p>
        </p:txBody>
      </p:sp>
      <p:sp>
        <p:nvSpPr>
          <p:cNvPr id="153" name="Google Shape;153;p8"/>
          <p:cNvSpPr/>
          <p:nvPr/>
        </p:nvSpPr>
        <p:spPr>
          <a:xfrm>
            <a:off x="914400" y="3731270"/>
            <a:ext cx="4191000" cy="451396"/>
          </a:xfrm>
          <a:prstGeom prst="rect">
            <a:avLst/>
          </a:prstGeom>
          <a:noFill/>
          <a:ln>
            <a:noFill/>
          </a:ln>
        </p:spPr>
        <p:txBody>
          <a:bodyPr anchorCtr="0" anchor="t" bIns="25400" lIns="25400" spcFirstLastPara="1" rIns="25400" wrap="square" tIns="25400">
            <a:noAutofit/>
          </a:bodyPr>
          <a:lstStyle/>
          <a:p>
            <a:pPr indent="0" lvl="0" marL="0" marR="0" rtl="0" algn="l">
              <a:lnSpc>
                <a:spcPct val="135625"/>
              </a:lnSpc>
              <a:spcBef>
                <a:spcPts val="0"/>
              </a:spcBef>
              <a:spcAft>
                <a:spcPts val="0"/>
              </a:spcAft>
              <a:buClr>
                <a:srgbClr val="605D5D"/>
              </a:buClr>
              <a:buSzPts val="2100"/>
              <a:buFont typeface="Arial"/>
              <a:buNone/>
            </a:pPr>
            <a:r>
              <a:rPr b="0" i="0" lang="en-US" sz="2100" u="none" cap="none" strike="noStrike">
                <a:solidFill>
                  <a:srgbClr val="605D5D"/>
                </a:solidFill>
                <a:latin typeface="Arial"/>
                <a:ea typeface="Arial"/>
                <a:cs typeface="Arial"/>
                <a:sym typeface="Arial"/>
              </a:rPr>
              <a:t>images, 5 captions each</a:t>
            </a:r>
            <a:endParaRPr b="0" i="0" sz="2100" u="none" cap="none" strike="noStrike">
              <a:solidFill>
                <a:schemeClr val="dk1"/>
              </a:solidFill>
              <a:latin typeface="Calibri"/>
              <a:ea typeface="Calibri"/>
              <a:cs typeface="Calibri"/>
              <a:sym typeface="Calibri"/>
            </a:endParaRPr>
          </a:p>
        </p:txBody>
      </p:sp>
      <p:sp>
        <p:nvSpPr>
          <p:cNvPr id="154" name="Google Shape;154;p8"/>
          <p:cNvSpPr/>
          <p:nvPr/>
        </p:nvSpPr>
        <p:spPr>
          <a:xfrm>
            <a:off x="5029200" y="2588270"/>
            <a:ext cx="19050" cy="229344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8"/>
          <p:cNvSpPr/>
          <p:nvPr/>
        </p:nvSpPr>
        <p:spPr>
          <a:xfrm>
            <a:off x="5353050" y="2912120"/>
            <a:ext cx="3834765" cy="742950"/>
          </a:xfrm>
          <a:prstGeom prst="rect">
            <a:avLst/>
          </a:prstGeom>
          <a:noFill/>
          <a:ln>
            <a:noFill/>
          </a:ln>
        </p:spPr>
        <p:txBody>
          <a:bodyPr anchorCtr="0" anchor="t" bIns="25400" lIns="25400" spcFirstLastPara="1" rIns="25400" wrap="square" tIns="25400">
            <a:noAutofit/>
          </a:bodyPr>
          <a:lstStyle/>
          <a:p>
            <a:pPr indent="0" lvl="0" marL="0" marR="0" rtl="0" algn="l">
              <a:lnSpc>
                <a:spcPct val="71154"/>
              </a:lnSpc>
              <a:spcBef>
                <a:spcPts val="0"/>
              </a:spcBef>
              <a:spcAft>
                <a:spcPts val="0"/>
              </a:spcAft>
              <a:buClr>
                <a:srgbClr val="201E1D"/>
              </a:buClr>
              <a:buSzPts val="5550"/>
              <a:buFont typeface="Arial"/>
              <a:buNone/>
            </a:pPr>
            <a:r>
              <a:rPr b="1" i="0" lang="en-US" sz="5550" u="none" cap="none" strike="noStrike">
                <a:solidFill>
                  <a:srgbClr val="201E1D"/>
                </a:solidFill>
                <a:latin typeface="Arial"/>
                <a:ea typeface="Arial"/>
                <a:cs typeface="Arial"/>
                <a:sym typeface="Arial"/>
              </a:rPr>
              <a:t>30,000</a:t>
            </a:r>
            <a:endParaRPr b="0" i="0" sz="5550" u="none" cap="none" strike="noStrike">
              <a:solidFill>
                <a:schemeClr val="dk1"/>
              </a:solidFill>
              <a:latin typeface="Calibri"/>
              <a:ea typeface="Calibri"/>
              <a:cs typeface="Calibri"/>
              <a:sym typeface="Calibri"/>
            </a:endParaRPr>
          </a:p>
        </p:txBody>
      </p:sp>
      <p:sp>
        <p:nvSpPr>
          <p:cNvPr id="156" name="Google Shape;156;p8"/>
          <p:cNvSpPr/>
          <p:nvPr/>
        </p:nvSpPr>
        <p:spPr>
          <a:xfrm>
            <a:off x="5353050" y="3731270"/>
            <a:ext cx="3834765" cy="451396"/>
          </a:xfrm>
          <a:prstGeom prst="rect">
            <a:avLst/>
          </a:prstGeom>
          <a:noFill/>
          <a:ln>
            <a:noFill/>
          </a:ln>
        </p:spPr>
        <p:txBody>
          <a:bodyPr anchorCtr="0" anchor="t" bIns="25400" lIns="25400" spcFirstLastPara="1" rIns="25400" wrap="square" tIns="25400">
            <a:noAutofit/>
          </a:bodyPr>
          <a:lstStyle/>
          <a:p>
            <a:pPr indent="0" lvl="0" marL="0" marR="0" rtl="0" algn="l">
              <a:lnSpc>
                <a:spcPct val="135625"/>
              </a:lnSpc>
              <a:spcBef>
                <a:spcPts val="0"/>
              </a:spcBef>
              <a:spcAft>
                <a:spcPts val="0"/>
              </a:spcAft>
              <a:buClr>
                <a:srgbClr val="605D5D"/>
              </a:buClr>
              <a:buSzPts val="2100"/>
              <a:buFont typeface="Arial"/>
              <a:buNone/>
            </a:pPr>
            <a:r>
              <a:rPr b="0" i="0" lang="en-US" sz="2100" u="none" cap="none" strike="noStrike">
                <a:solidFill>
                  <a:srgbClr val="605D5D"/>
                </a:solidFill>
                <a:latin typeface="Arial"/>
                <a:ea typeface="Arial"/>
                <a:cs typeface="Arial"/>
                <a:sym typeface="Arial"/>
              </a:rPr>
              <a:t>training image–caption pairs</a:t>
            </a:r>
            <a:endParaRPr b="0" i="0" sz="2100" u="none" cap="none" strike="noStrike">
              <a:solidFill>
                <a:schemeClr val="dk1"/>
              </a:solidFill>
              <a:latin typeface="Calibri"/>
              <a:ea typeface="Calibri"/>
              <a:cs typeface="Calibri"/>
              <a:sym typeface="Calibri"/>
            </a:endParaRPr>
          </a:p>
        </p:txBody>
      </p:sp>
      <p:sp>
        <p:nvSpPr>
          <p:cNvPr id="157" name="Google Shape;157;p8"/>
          <p:cNvSpPr/>
          <p:nvPr/>
        </p:nvSpPr>
        <p:spPr>
          <a:xfrm>
            <a:off x="9144000" y="2588270"/>
            <a:ext cx="19050" cy="229344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8"/>
          <p:cNvSpPr/>
          <p:nvPr/>
        </p:nvSpPr>
        <p:spPr>
          <a:xfrm>
            <a:off x="9467850" y="2912120"/>
            <a:ext cx="3834765" cy="742950"/>
          </a:xfrm>
          <a:prstGeom prst="rect">
            <a:avLst/>
          </a:prstGeom>
          <a:noFill/>
          <a:ln>
            <a:noFill/>
          </a:ln>
        </p:spPr>
        <p:txBody>
          <a:bodyPr anchorCtr="0" anchor="t" bIns="25400" lIns="25400" spcFirstLastPara="1" rIns="25400" wrap="square" tIns="25400">
            <a:noAutofit/>
          </a:bodyPr>
          <a:lstStyle/>
          <a:p>
            <a:pPr indent="0" lvl="0" marL="0" marR="0" rtl="0" algn="l">
              <a:lnSpc>
                <a:spcPct val="71154"/>
              </a:lnSpc>
              <a:spcBef>
                <a:spcPts val="0"/>
              </a:spcBef>
              <a:spcAft>
                <a:spcPts val="0"/>
              </a:spcAft>
              <a:buClr>
                <a:srgbClr val="201E1D"/>
              </a:buClr>
              <a:buSzPts val="5550"/>
              <a:buFont typeface="Arial"/>
              <a:buNone/>
            </a:pPr>
            <a:r>
              <a:rPr b="1" i="0" lang="en-US" sz="5550" u="none" cap="none" strike="noStrike">
                <a:solidFill>
                  <a:srgbClr val="201E1D"/>
                </a:solidFill>
                <a:latin typeface="Arial"/>
                <a:ea typeface="Arial"/>
                <a:cs typeface="Arial"/>
                <a:sym typeface="Arial"/>
              </a:rPr>
              <a:t>2,541</a:t>
            </a:r>
            <a:endParaRPr b="0" i="0" sz="5550" u="none" cap="none" strike="noStrike">
              <a:solidFill>
                <a:schemeClr val="dk1"/>
              </a:solidFill>
              <a:latin typeface="Calibri"/>
              <a:ea typeface="Calibri"/>
              <a:cs typeface="Calibri"/>
              <a:sym typeface="Calibri"/>
            </a:endParaRPr>
          </a:p>
        </p:txBody>
      </p:sp>
      <p:sp>
        <p:nvSpPr>
          <p:cNvPr id="159" name="Google Shape;159;p8"/>
          <p:cNvSpPr/>
          <p:nvPr/>
        </p:nvSpPr>
        <p:spPr>
          <a:xfrm>
            <a:off x="9467850" y="3731270"/>
            <a:ext cx="3590735" cy="864691"/>
          </a:xfrm>
          <a:prstGeom prst="rect">
            <a:avLst/>
          </a:prstGeom>
          <a:noFill/>
          <a:ln>
            <a:noFill/>
          </a:ln>
        </p:spPr>
        <p:txBody>
          <a:bodyPr anchorCtr="0" anchor="t" bIns="25400" lIns="25400" spcFirstLastPara="1" rIns="25400" wrap="square" tIns="25400">
            <a:noAutofit/>
          </a:bodyPr>
          <a:lstStyle/>
          <a:p>
            <a:pPr indent="0" lvl="0" marL="0" marR="0" rtl="0" algn="l">
              <a:lnSpc>
                <a:spcPct val="135625"/>
              </a:lnSpc>
              <a:spcBef>
                <a:spcPts val="0"/>
              </a:spcBef>
              <a:spcAft>
                <a:spcPts val="0"/>
              </a:spcAft>
              <a:buClr>
                <a:srgbClr val="605D5D"/>
              </a:buClr>
              <a:buSzPts val="2100"/>
              <a:buFont typeface="Arial"/>
              <a:buNone/>
            </a:pPr>
            <a:r>
              <a:rPr b="0" i="0" lang="en-US" sz="2100" u="none" cap="none" strike="noStrike">
                <a:solidFill>
                  <a:srgbClr val="605D5D"/>
                </a:solidFill>
                <a:latin typeface="Arial"/>
                <a:ea typeface="Arial"/>
                <a:cs typeface="Arial"/>
                <a:sym typeface="Arial"/>
              </a:rPr>
              <a:t>vocabulary tokens (min count 5)</a:t>
            </a:r>
            <a:endParaRPr b="0" i="0" sz="2100" u="none" cap="none" strike="noStrike">
              <a:solidFill>
                <a:schemeClr val="dk1"/>
              </a:solidFill>
              <a:latin typeface="Calibri"/>
              <a:ea typeface="Calibri"/>
              <a:cs typeface="Calibri"/>
              <a:sym typeface="Calibri"/>
            </a:endParaRPr>
          </a:p>
        </p:txBody>
      </p:sp>
      <p:sp>
        <p:nvSpPr>
          <p:cNvPr id="160" name="Google Shape;160;p8"/>
          <p:cNvSpPr/>
          <p:nvPr/>
        </p:nvSpPr>
        <p:spPr>
          <a:xfrm>
            <a:off x="13258800" y="2588270"/>
            <a:ext cx="19050" cy="229344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8"/>
          <p:cNvSpPr/>
          <p:nvPr/>
        </p:nvSpPr>
        <p:spPr>
          <a:xfrm>
            <a:off x="13582650" y="2912120"/>
            <a:ext cx="3834765" cy="742950"/>
          </a:xfrm>
          <a:prstGeom prst="rect">
            <a:avLst/>
          </a:prstGeom>
          <a:noFill/>
          <a:ln>
            <a:noFill/>
          </a:ln>
        </p:spPr>
        <p:txBody>
          <a:bodyPr anchorCtr="0" anchor="t" bIns="25400" lIns="25400" spcFirstLastPara="1" rIns="25400" wrap="square" tIns="25400">
            <a:noAutofit/>
          </a:bodyPr>
          <a:lstStyle/>
          <a:p>
            <a:pPr indent="0" lvl="0" marL="0" marR="0" rtl="0" algn="l">
              <a:lnSpc>
                <a:spcPct val="71154"/>
              </a:lnSpc>
              <a:spcBef>
                <a:spcPts val="0"/>
              </a:spcBef>
              <a:spcAft>
                <a:spcPts val="0"/>
              </a:spcAft>
              <a:buClr>
                <a:srgbClr val="201E1D"/>
              </a:buClr>
              <a:buSzPts val="5550"/>
              <a:buFont typeface="Arial"/>
              <a:buNone/>
            </a:pPr>
            <a:r>
              <a:rPr b="1" i="0" lang="en-US" sz="5550" u="none" cap="none" strike="noStrike">
                <a:solidFill>
                  <a:srgbClr val="201E1D"/>
                </a:solidFill>
                <a:latin typeface="Arial"/>
                <a:ea typeface="Arial"/>
                <a:cs typeface="Arial"/>
                <a:sym typeface="Arial"/>
              </a:rPr>
              <a:t>6/1/1k</a:t>
            </a:r>
            <a:endParaRPr b="0" i="0" sz="5550" u="none" cap="none" strike="noStrike">
              <a:solidFill>
                <a:schemeClr val="dk1"/>
              </a:solidFill>
              <a:latin typeface="Calibri"/>
              <a:ea typeface="Calibri"/>
              <a:cs typeface="Calibri"/>
              <a:sym typeface="Calibri"/>
            </a:endParaRPr>
          </a:p>
        </p:txBody>
      </p:sp>
      <p:sp>
        <p:nvSpPr>
          <p:cNvPr id="162" name="Google Shape;162;p8"/>
          <p:cNvSpPr/>
          <p:nvPr/>
        </p:nvSpPr>
        <p:spPr>
          <a:xfrm>
            <a:off x="13582650" y="3731270"/>
            <a:ext cx="3834765" cy="451396"/>
          </a:xfrm>
          <a:prstGeom prst="rect">
            <a:avLst/>
          </a:prstGeom>
          <a:noFill/>
          <a:ln>
            <a:noFill/>
          </a:ln>
        </p:spPr>
        <p:txBody>
          <a:bodyPr anchorCtr="0" anchor="t" bIns="25400" lIns="25400" spcFirstLastPara="1" rIns="25400" wrap="square" tIns="25400">
            <a:noAutofit/>
          </a:bodyPr>
          <a:lstStyle/>
          <a:p>
            <a:pPr indent="0" lvl="0" marL="0" marR="0" rtl="0" algn="l">
              <a:lnSpc>
                <a:spcPct val="135625"/>
              </a:lnSpc>
              <a:spcBef>
                <a:spcPts val="0"/>
              </a:spcBef>
              <a:spcAft>
                <a:spcPts val="0"/>
              </a:spcAft>
              <a:buClr>
                <a:srgbClr val="605D5D"/>
              </a:buClr>
              <a:buSzPts val="2100"/>
              <a:buFont typeface="Arial"/>
              <a:buNone/>
            </a:pPr>
            <a:r>
              <a:rPr b="0" i="0" lang="en-US" sz="2100" u="none" cap="none" strike="noStrike">
                <a:solidFill>
                  <a:srgbClr val="605D5D"/>
                </a:solidFill>
                <a:latin typeface="Arial"/>
                <a:ea typeface="Arial"/>
                <a:cs typeface="Arial"/>
                <a:sym typeface="Arial"/>
              </a:rPr>
              <a:t>train / val / test images</a:t>
            </a:r>
            <a:endParaRPr b="0" i="0" sz="2100" u="none" cap="none" strike="noStrike">
              <a:solidFill>
                <a:schemeClr val="dk1"/>
              </a:solidFill>
              <a:latin typeface="Calibri"/>
              <a:ea typeface="Calibri"/>
              <a:cs typeface="Calibri"/>
              <a:sym typeface="Calibri"/>
            </a:endParaRPr>
          </a:p>
        </p:txBody>
      </p:sp>
      <p:sp>
        <p:nvSpPr>
          <p:cNvPr id="163" name="Google Shape;163;p8"/>
          <p:cNvSpPr/>
          <p:nvPr/>
        </p:nvSpPr>
        <p:spPr>
          <a:xfrm>
            <a:off x="914400" y="5434161"/>
            <a:ext cx="8201787" cy="1255216"/>
          </a:xfrm>
          <a:prstGeom prst="rect">
            <a:avLst/>
          </a:prstGeom>
          <a:noFill/>
          <a:ln>
            <a:noFill/>
          </a:ln>
        </p:spPr>
        <p:txBody>
          <a:bodyPr anchorCtr="0" anchor="t" bIns="25400" lIns="25400" spcFirstLastPara="1" rIns="25400" wrap="square" tIns="25400">
            <a:noAutofit/>
          </a:bodyPr>
          <a:lstStyle/>
          <a:p>
            <a:pPr indent="0" lvl="0" marL="0" marR="0" rtl="0" algn="l">
              <a:lnSpc>
                <a:spcPct val="125294"/>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Captions are lowercased and tokenized. The vocabulary is built from </a:t>
            </a:r>
            <a:r>
              <a:rPr b="1" i="0" lang="en-US" sz="2250" u="none" cap="none" strike="noStrike">
                <a:solidFill>
                  <a:srgbClr val="201E1D"/>
                </a:solidFill>
                <a:latin typeface="Arial"/>
                <a:ea typeface="Arial"/>
                <a:cs typeface="Arial"/>
                <a:sym typeface="Arial"/>
              </a:rPr>
              <a:t>training captions only </a:t>
            </a:r>
            <a:r>
              <a:rPr b="0" i="0" lang="en-US" sz="2250" u="none" cap="none" strike="noStrike">
                <a:solidFill>
                  <a:srgbClr val="444141"/>
                </a:solidFill>
                <a:latin typeface="Arial"/>
                <a:ea typeface="Arial"/>
                <a:cs typeface="Arial"/>
                <a:sym typeface="Arial"/>
              </a:rPr>
              <a:t>, with special &lt;start&gt;, &lt;end&gt;, &lt;pad&gt;, and &lt;unk&gt; symbols.</a:t>
            </a:r>
            <a:endParaRPr b="0" i="0" sz="2250" u="none" cap="none" strike="noStrike">
              <a:solidFill>
                <a:schemeClr val="dk1"/>
              </a:solidFill>
              <a:latin typeface="Calibri"/>
              <a:ea typeface="Calibri"/>
              <a:cs typeface="Calibri"/>
              <a:sym typeface="Calibri"/>
            </a:endParaRPr>
          </a:p>
        </p:txBody>
      </p:sp>
      <p:sp>
        <p:nvSpPr>
          <p:cNvPr id="164" name="Google Shape;164;p8"/>
          <p:cNvSpPr/>
          <p:nvPr/>
        </p:nvSpPr>
        <p:spPr>
          <a:xfrm>
            <a:off x="9410700" y="5434161"/>
            <a:ext cx="19050" cy="1217116"/>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8"/>
          <p:cNvSpPr/>
          <p:nvPr/>
        </p:nvSpPr>
        <p:spPr>
          <a:xfrm>
            <a:off x="9963150" y="5434161"/>
            <a:ext cx="7649337" cy="1255216"/>
          </a:xfrm>
          <a:prstGeom prst="rect">
            <a:avLst/>
          </a:prstGeom>
          <a:noFill/>
          <a:ln>
            <a:noFill/>
          </a:ln>
        </p:spPr>
        <p:txBody>
          <a:bodyPr anchorCtr="0" anchor="t" bIns="25400" lIns="25400" spcFirstLastPara="1" rIns="25400" wrap="square" tIns="25400">
            <a:noAutofit/>
          </a:bodyPr>
          <a:lstStyle/>
          <a:p>
            <a:pPr indent="0" lvl="0" marL="0" marR="0" rtl="0" algn="l">
              <a:lnSpc>
                <a:spcPct val="125294"/>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We adopt the Karpathy splits so the setup is structurally comparable to published baselines — though we do not treat our absolute scores as directly comparable.</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70" name="Shape 170"/>
        <p:cNvGrpSpPr/>
        <p:nvPr/>
      </p:nvGrpSpPr>
      <p:grpSpPr>
        <a:xfrm>
          <a:off x="0" y="0"/>
          <a:ext cx="0" cy="0"/>
          <a:chOff x="0" y="0"/>
          <a:chExt cx="0" cy="0"/>
        </a:xfrm>
      </p:grpSpPr>
      <p:sp>
        <p:nvSpPr>
          <p:cNvPr id="171" name="Google Shape;171;p9"/>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3 — DATASET AND TRAINING SETUP</a:t>
            </a:r>
            <a:endParaRPr b="0" i="0" sz="1800" u="none" cap="none" strike="noStrike">
              <a:solidFill>
                <a:schemeClr val="dk1"/>
              </a:solidFill>
              <a:latin typeface="Calibri"/>
              <a:ea typeface="Calibri"/>
              <a:cs typeface="Calibri"/>
              <a:sym typeface="Calibri"/>
            </a:endParaRPr>
          </a:p>
        </p:txBody>
      </p:sp>
      <p:sp>
        <p:nvSpPr>
          <p:cNvPr id="172" name="Google Shape;172;p9"/>
          <p:cNvSpPr/>
          <p:nvPr/>
        </p:nvSpPr>
        <p:spPr>
          <a:xfrm>
            <a:off x="914400" y="1440061"/>
            <a:ext cx="14878050" cy="671959"/>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lang="en-US" sz="4800">
                <a:solidFill>
                  <a:srgbClr val="201E1D"/>
                </a:solidFill>
              </a:rPr>
              <a:t>Shared training protocol across all five models </a:t>
            </a:r>
            <a:endParaRPr b="0" i="0" sz="4800" u="none" cap="none" strike="noStrike">
              <a:solidFill>
                <a:schemeClr val="dk1"/>
              </a:solidFill>
              <a:latin typeface="Calibri"/>
              <a:ea typeface="Calibri"/>
              <a:cs typeface="Calibri"/>
              <a:sym typeface="Calibri"/>
            </a:endParaRPr>
          </a:p>
        </p:txBody>
      </p:sp>
      <p:sp>
        <p:nvSpPr>
          <p:cNvPr id="173" name="Google Shape;173;p9"/>
          <p:cNvSpPr/>
          <p:nvPr/>
        </p:nvSpPr>
        <p:spPr>
          <a:xfrm>
            <a:off x="914400" y="2531120"/>
            <a:ext cx="9132287"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OPTIMIZATION</a:t>
            </a:r>
            <a:endParaRPr b="0" i="0" sz="1800" u="none" cap="none" strike="noStrike">
              <a:solidFill>
                <a:schemeClr val="dk1"/>
              </a:solidFill>
              <a:latin typeface="Calibri"/>
              <a:ea typeface="Calibri"/>
              <a:cs typeface="Calibri"/>
              <a:sym typeface="Calibri"/>
            </a:endParaRPr>
          </a:p>
        </p:txBody>
      </p:sp>
      <p:sp>
        <p:nvSpPr>
          <p:cNvPr id="174" name="Google Shape;174;p9"/>
          <p:cNvSpPr/>
          <p:nvPr/>
        </p:nvSpPr>
        <p:spPr>
          <a:xfrm>
            <a:off x="914400" y="3075831"/>
            <a:ext cx="8302079"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9"/>
          <p:cNvSpPr/>
          <p:nvPr/>
        </p:nvSpPr>
        <p:spPr>
          <a:xfrm>
            <a:off x="914400" y="3285381"/>
            <a:ext cx="1357982"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Optimizer</a:t>
            </a:r>
            <a:endParaRPr b="0" i="0" sz="2250" u="none" cap="none" strike="noStrike">
              <a:solidFill>
                <a:schemeClr val="dk1"/>
              </a:solidFill>
              <a:latin typeface="Calibri"/>
              <a:ea typeface="Calibri"/>
              <a:cs typeface="Calibri"/>
              <a:sym typeface="Calibri"/>
            </a:endParaRPr>
          </a:p>
        </p:txBody>
      </p:sp>
      <p:sp>
        <p:nvSpPr>
          <p:cNvPr id="176" name="Google Shape;176;p9"/>
          <p:cNvSpPr/>
          <p:nvPr/>
        </p:nvSpPr>
        <p:spPr>
          <a:xfrm>
            <a:off x="7315200" y="3285381"/>
            <a:ext cx="1828800" cy="481012"/>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Adam</a:t>
            </a:r>
            <a:endParaRPr/>
          </a:p>
        </p:txBody>
      </p:sp>
      <p:sp>
        <p:nvSpPr>
          <p:cNvPr id="177" name="Google Shape;177;p9"/>
          <p:cNvSpPr/>
          <p:nvPr/>
        </p:nvSpPr>
        <p:spPr>
          <a:xfrm>
            <a:off x="914400" y="3918793"/>
            <a:ext cx="830207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9"/>
          <p:cNvSpPr/>
          <p:nvPr/>
        </p:nvSpPr>
        <p:spPr>
          <a:xfrm>
            <a:off x="914400" y="4128343"/>
            <a:ext cx="683716"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Loss</a:t>
            </a:r>
            <a:endParaRPr b="0" i="0" sz="2250" u="none" cap="none" strike="noStrike">
              <a:solidFill>
                <a:schemeClr val="dk1"/>
              </a:solidFill>
              <a:latin typeface="Calibri"/>
              <a:ea typeface="Calibri"/>
              <a:cs typeface="Calibri"/>
              <a:sym typeface="Calibri"/>
            </a:endParaRPr>
          </a:p>
        </p:txBody>
      </p:sp>
      <p:sp>
        <p:nvSpPr>
          <p:cNvPr id="179" name="Google Shape;179;p9"/>
          <p:cNvSpPr/>
          <p:nvPr/>
        </p:nvSpPr>
        <p:spPr>
          <a:xfrm>
            <a:off x="5187404" y="4128343"/>
            <a:ext cx="4431983" cy="481012"/>
          </a:xfrm>
          <a:prstGeom prst="rect">
            <a:avLst/>
          </a:prstGeom>
          <a:noFill/>
          <a:ln>
            <a:noFill/>
          </a:ln>
        </p:spPr>
        <p:txBody>
          <a:bodyPr anchorCtr="0" anchor="t" bIns="25400" lIns="25400" spcFirstLastPara="1" rIns="25400" wrap="square" tIns="25400">
            <a:noAutofit/>
          </a:bodyPr>
          <a:lstStyle/>
          <a:p>
            <a:pPr indent="0" lvl="0" marL="0" marR="0" rtl="0" algn="l">
              <a:lnSpc>
                <a:spcPct val="110714"/>
              </a:lnSpc>
              <a:spcBef>
                <a:spcPts val="0"/>
              </a:spcBef>
              <a:spcAft>
                <a:spcPts val="0"/>
              </a:spcAft>
              <a:buClr>
                <a:srgbClr val="201E1D"/>
              </a:buClr>
              <a:buSzPts val="2250"/>
              <a:buFont typeface="Arial"/>
              <a:buNone/>
            </a:pPr>
            <a:r>
              <a:rPr b="1" i="0" lang="en-US" sz="2250" u="none" cap="none" strike="noStrike">
                <a:solidFill>
                  <a:srgbClr val="201E1D"/>
                </a:solidFill>
                <a:latin typeface="Arial"/>
                <a:ea typeface="Arial"/>
                <a:cs typeface="Arial"/>
                <a:sym typeface="Arial"/>
              </a:rPr>
              <a:t>Cross-entropy, padding masked</a:t>
            </a:r>
            <a:endParaRPr b="0" i="0" sz="2250" u="none" cap="none" strike="noStrike">
              <a:solidFill>
                <a:schemeClr val="dk1"/>
              </a:solidFill>
              <a:latin typeface="Calibri"/>
              <a:ea typeface="Calibri"/>
              <a:cs typeface="Calibri"/>
              <a:sym typeface="Calibri"/>
            </a:endParaRPr>
          </a:p>
        </p:txBody>
      </p:sp>
      <p:sp>
        <p:nvSpPr>
          <p:cNvPr id="180" name="Google Shape;180;p9"/>
          <p:cNvSpPr/>
          <p:nvPr/>
        </p:nvSpPr>
        <p:spPr>
          <a:xfrm>
            <a:off x="914400" y="4761756"/>
            <a:ext cx="830207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9"/>
          <p:cNvSpPr/>
          <p:nvPr/>
        </p:nvSpPr>
        <p:spPr>
          <a:xfrm>
            <a:off x="914400" y="4971306"/>
            <a:ext cx="1762839"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Gradient clip</a:t>
            </a:r>
            <a:endParaRPr b="0" i="0" sz="2250" u="none" cap="none" strike="noStrike">
              <a:solidFill>
                <a:schemeClr val="dk1"/>
              </a:solidFill>
              <a:latin typeface="Calibri"/>
              <a:ea typeface="Calibri"/>
              <a:cs typeface="Calibri"/>
              <a:sym typeface="Calibri"/>
            </a:endParaRPr>
          </a:p>
        </p:txBody>
      </p:sp>
      <p:sp>
        <p:nvSpPr>
          <p:cNvPr id="182" name="Google Shape;182;p9"/>
          <p:cNvSpPr/>
          <p:nvPr/>
        </p:nvSpPr>
        <p:spPr>
          <a:xfrm>
            <a:off x="8819108" y="4971306"/>
            <a:ext cx="473571" cy="481012"/>
          </a:xfrm>
          <a:prstGeom prst="rect">
            <a:avLst/>
          </a:prstGeom>
          <a:noFill/>
          <a:ln>
            <a:noFill/>
          </a:ln>
        </p:spPr>
        <p:txBody>
          <a:bodyPr anchorCtr="0" anchor="t" bIns="25400" lIns="25400" spcFirstLastPara="1" rIns="25400" wrap="square" tIns="25400">
            <a:noAutofit/>
          </a:bodyPr>
          <a:lstStyle/>
          <a:p>
            <a:pPr indent="0" lvl="0" marL="0" marR="0" rtl="0" algn="l">
              <a:lnSpc>
                <a:spcPct val="110714"/>
              </a:lnSpc>
              <a:spcBef>
                <a:spcPts val="0"/>
              </a:spcBef>
              <a:spcAft>
                <a:spcPts val="0"/>
              </a:spcAft>
              <a:buClr>
                <a:srgbClr val="201E1D"/>
              </a:buClr>
              <a:buSzPts val="2250"/>
              <a:buFont typeface="Arial"/>
              <a:buNone/>
            </a:pPr>
            <a:r>
              <a:rPr b="1" i="0" lang="en-US" sz="2250" u="none" cap="none" strike="noStrike">
                <a:solidFill>
                  <a:srgbClr val="201E1D"/>
                </a:solidFill>
                <a:latin typeface="Arial"/>
                <a:ea typeface="Arial"/>
                <a:cs typeface="Arial"/>
                <a:sym typeface="Arial"/>
              </a:rPr>
              <a:t>5.0</a:t>
            </a:r>
            <a:endParaRPr b="0" i="0" sz="2250" u="none" cap="none" strike="noStrike">
              <a:solidFill>
                <a:schemeClr val="dk1"/>
              </a:solidFill>
              <a:latin typeface="Calibri"/>
              <a:ea typeface="Calibri"/>
              <a:cs typeface="Calibri"/>
              <a:sym typeface="Calibri"/>
            </a:endParaRPr>
          </a:p>
        </p:txBody>
      </p:sp>
      <p:sp>
        <p:nvSpPr>
          <p:cNvPr id="183" name="Google Shape;183;p9"/>
          <p:cNvSpPr/>
          <p:nvPr/>
        </p:nvSpPr>
        <p:spPr>
          <a:xfrm>
            <a:off x="914400" y="5604718"/>
            <a:ext cx="830207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914400" y="5814268"/>
            <a:ext cx="1443439"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Batch size</a:t>
            </a:r>
            <a:endParaRPr b="0" i="0" sz="2250" u="none" cap="none" strike="noStrike">
              <a:solidFill>
                <a:schemeClr val="dk1"/>
              </a:solidFill>
              <a:latin typeface="Calibri"/>
              <a:ea typeface="Calibri"/>
              <a:cs typeface="Calibri"/>
              <a:sym typeface="Calibri"/>
            </a:endParaRPr>
          </a:p>
        </p:txBody>
      </p:sp>
      <p:sp>
        <p:nvSpPr>
          <p:cNvPr id="185" name="Google Shape;185;p9"/>
          <p:cNvSpPr/>
          <p:nvPr/>
        </p:nvSpPr>
        <p:spPr>
          <a:xfrm>
            <a:off x="8898582" y="5814268"/>
            <a:ext cx="394097" cy="481012"/>
          </a:xfrm>
          <a:prstGeom prst="rect">
            <a:avLst/>
          </a:prstGeom>
          <a:noFill/>
          <a:ln>
            <a:noFill/>
          </a:ln>
        </p:spPr>
        <p:txBody>
          <a:bodyPr anchorCtr="0" anchor="t" bIns="25400" lIns="25400" spcFirstLastPara="1" rIns="25400" wrap="square" tIns="25400">
            <a:noAutofit/>
          </a:bodyPr>
          <a:lstStyle/>
          <a:p>
            <a:pPr indent="0" lvl="0" marL="0" marR="0" rtl="0" algn="l">
              <a:lnSpc>
                <a:spcPct val="110714"/>
              </a:lnSpc>
              <a:spcBef>
                <a:spcPts val="0"/>
              </a:spcBef>
              <a:spcAft>
                <a:spcPts val="0"/>
              </a:spcAft>
              <a:buClr>
                <a:srgbClr val="201E1D"/>
              </a:buClr>
              <a:buSzPts val="2250"/>
              <a:buFont typeface="Arial"/>
              <a:buNone/>
            </a:pPr>
            <a:r>
              <a:rPr b="1" i="0" lang="en-US" sz="2250" u="none" cap="none" strike="noStrike">
                <a:solidFill>
                  <a:srgbClr val="201E1D"/>
                </a:solidFill>
                <a:latin typeface="Arial"/>
                <a:ea typeface="Arial"/>
                <a:cs typeface="Arial"/>
                <a:sym typeface="Arial"/>
              </a:rPr>
              <a:t>64</a:t>
            </a:r>
            <a:endParaRPr b="0" i="0" sz="2250" u="none" cap="none" strike="noStrike">
              <a:solidFill>
                <a:schemeClr val="dk1"/>
              </a:solidFill>
              <a:latin typeface="Calibri"/>
              <a:ea typeface="Calibri"/>
              <a:cs typeface="Calibri"/>
              <a:sym typeface="Calibri"/>
            </a:endParaRPr>
          </a:p>
        </p:txBody>
      </p:sp>
      <p:sp>
        <p:nvSpPr>
          <p:cNvPr id="186" name="Google Shape;186;p9"/>
          <p:cNvSpPr/>
          <p:nvPr/>
        </p:nvSpPr>
        <p:spPr>
          <a:xfrm>
            <a:off x="914400" y="6447681"/>
            <a:ext cx="830207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9"/>
          <p:cNvSpPr/>
          <p:nvPr/>
        </p:nvSpPr>
        <p:spPr>
          <a:xfrm>
            <a:off x="914400" y="6657231"/>
            <a:ext cx="1995145"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Early stopping</a:t>
            </a:r>
            <a:endParaRPr b="0" i="0" sz="2250" u="none" cap="none" strike="noStrike">
              <a:solidFill>
                <a:schemeClr val="dk1"/>
              </a:solidFill>
              <a:latin typeface="Calibri"/>
              <a:ea typeface="Calibri"/>
              <a:cs typeface="Calibri"/>
              <a:sym typeface="Calibri"/>
            </a:endParaRPr>
          </a:p>
        </p:txBody>
      </p:sp>
      <p:sp>
        <p:nvSpPr>
          <p:cNvPr id="188" name="Google Shape;188;p9"/>
          <p:cNvSpPr/>
          <p:nvPr/>
        </p:nvSpPr>
        <p:spPr>
          <a:xfrm>
            <a:off x="5801023" y="6657231"/>
            <a:ext cx="3757002" cy="481012"/>
          </a:xfrm>
          <a:prstGeom prst="rect">
            <a:avLst/>
          </a:prstGeom>
          <a:noFill/>
          <a:ln>
            <a:noFill/>
          </a:ln>
        </p:spPr>
        <p:txBody>
          <a:bodyPr anchorCtr="0" anchor="t" bIns="25400" lIns="25400" spcFirstLastPara="1" rIns="25400" wrap="square" tIns="25400">
            <a:noAutofit/>
          </a:bodyPr>
          <a:lstStyle/>
          <a:p>
            <a:pPr indent="0" lvl="0" marL="0" marR="0" rtl="0" algn="l">
              <a:lnSpc>
                <a:spcPct val="110714"/>
              </a:lnSpc>
              <a:spcBef>
                <a:spcPts val="0"/>
              </a:spcBef>
              <a:spcAft>
                <a:spcPts val="0"/>
              </a:spcAft>
              <a:buClr>
                <a:srgbClr val="201E1D"/>
              </a:buClr>
              <a:buSzPts val="2250"/>
              <a:buFont typeface="Arial"/>
              <a:buNone/>
            </a:pPr>
            <a:r>
              <a:rPr b="1" i="0" lang="en-US" sz="2250" u="none" cap="none" strike="noStrike">
                <a:solidFill>
                  <a:srgbClr val="201E1D"/>
                </a:solidFill>
                <a:latin typeface="Arial"/>
                <a:ea typeface="Arial"/>
                <a:cs typeface="Arial"/>
                <a:sym typeface="Arial"/>
              </a:rPr>
              <a:t>30 epochs max, patience 6</a:t>
            </a:r>
            <a:endParaRPr b="0" i="0" sz="2250" u="none" cap="none" strike="noStrike">
              <a:solidFill>
                <a:schemeClr val="dk1"/>
              </a:solidFill>
              <a:latin typeface="Calibri"/>
              <a:ea typeface="Calibri"/>
              <a:cs typeface="Calibri"/>
              <a:sym typeface="Calibri"/>
            </a:endParaRPr>
          </a:p>
        </p:txBody>
      </p:sp>
      <p:sp>
        <p:nvSpPr>
          <p:cNvPr id="189" name="Google Shape;189;p9"/>
          <p:cNvSpPr/>
          <p:nvPr/>
        </p:nvSpPr>
        <p:spPr>
          <a:xfrm>
            <a:off x="914400" y="8133606"/>
            <a:ext cx="8302079"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9"/>
          <p:cNvSpPr/>
          <p:nvPr/>
        </p:nvSpPr>
        <p:spPr>
          <a:xfrm>
            <a:off x="914400" y="7290643"/>
            <a:ext cx="830207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9"/>
          <p:cNvSpPr/>
          <p:nvPr/>
        </p:nvSpPr>
        <p:spPr>
          <a:xfrm>
            <a:off x="914400" y="7500193"/>
            <a:ext cx="1351106" cy="481012"/>
          </a:xfrm>
          <a:prstGeom prst="rect">
            <a:avLst/>
          </a:prstGeom>
          <a:noFill/>
          <a:ln>
            <a:noFill/>
          </a:ln>
        </p:spPr>
        <p:txBody>
          <a:bodyPr anchorCtr="0" anchor="t" bIns="25400" lIns="25400" spcFirstLastPara="1" rIns="25400" wrap="square" tIns="25400">
            <a:noAutofit/>
          </a:bodyPr>
          <a:lstStyle/>
          <a:p>
            <a:pPr indent="0" lvl="0" marL="0" marR="0" rtl="0" algn="l">
              <a:lnSpc>
                <a:spcPct val="136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Hardware</a:t>
            </a:r>
            <a:endParaRPr b="0" i="0" sz="2250" u="none" cap="none" strike="noStrike">
              <a:solidFill>
                <a:schemeClr val="dk1"/>
              </a:solidFill>
              <a:latin typeface="Calibri"/>
              <a:ea typeface="Calibri"/>
              <a:cs typeface="Calibri"/>
              <a:sym typeface="Calibri"/>
            </a:endParaRPr>
          </a:p>
        </p:txBody>
      </p:sp>
      <p:sp>
        <p:nvSpPr>
          <p:cNvPr id="192" name="Google Shape;192;p9"/>
          <p:cNvSpPr/>
          <p:nvPr/>
        </p:nvSpPr>
        <p:spPr>
          <a:xfrm>
            <a:off x="6561237" y="7500193"/>
            <a:ext cx="2920767" cy="481012"/>
          </a:xfrm>
          <a:prstGeom prst="rect">
            <a:avLst/>
          </a:prstGeom>
          <a:noFill/>
          <a:ln>
            <a:noFill/>
          </a:ln>
        </p:spPr>
        <p:txBody>
          <a:bodyPr anchorCtr="0" anchor="t" bIns="25400" lIns="25400" spcFirstLastPara="1" rIns="25400" wrap="square" tIns="25400">
            <a:noAutofit/>
          </a:bodyPr>
          <a:lstStyle/>
          <a:p>
            <a:pPr indent="0" lvl="0" marL="0" marR="0" rtl="0" algn="l">
              <a:lnSpc>
                <a:spcPct val="110714"/>
              </a:lnSpc>
              <a:spcBef>
                <a:spcPts val="0"/>
              </a:spcBef>
              <a:spcAft>
                <a:spcPts val="0"/>
              </a:spcAft>
              <a:buClr>
                <a:srgbClr val="201E1D"/>
              </a:buClr>
              <a:buSzPts val="2250"/>
              <a:buFont typeface="Arial"/>
              <a:buNone/>
            </a:pPr>
            <a:r>
              <a:rPr b="1" i="0" lang="en-US" sz="2250" u="none" cap="none" strike="noStrike">
                <a:solidFill>
                  <a:srgbClr val="201E1D"/>
                </a:solidFill>
                <a:latin typeface="Arial"/>
                <a:ea typeface="Arial"/>
                <a:cs typeface="Arial"/>
                <a:sym typeface="Arial"/>
              </a:rPr>
              <a:t>1× NVIDIA T4, Colab</a:t>
            </a:r>
            <a:endParaRPr b="0" i="0" sz="2250" u="none" cap="none" strike="noStrike">
              <a:solidFill>
                <a:schemeClr val="dk1"/>
              </a:solidFill>
              <a:latin typeface="Calibri"/>
              <a:ea typeface="Calibri"/>
              <a:cs typeface="Calibri"/>
              <a:sym typeface="Calibri"/>
            </a:endParaRPr>
          </a:p>
        </p:txBody>
      </p:sp>
      <p:sp>
        <p:nvSpPr>
          <p:cNvPr id="193" name="Google Shape;193;p9"/>
          <p:cNvSpPr/>
          <p:nvPr/>
        </p:nvSpPr>
        <p:spPr>
          <a:xfrm>
            <a:off x="9826079" y="2531120"/>
            <a:ext cx="7547521" cy="5161062"/>
          </a:xfrm>
          <a:prstGeom prst="rect">
            <a:avLst/>
          </a:prstGeom>
          <a:solidFill>
            <a:srgbClr val="EC30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9"/>
          <p:cNvSpPr txBox="1"/>
          <p:nvPr/>
        </p:nvSpPr>
        <p:spPr>
          <a:xfrm>
            <a:off x="10149840" y="2697480"/>
            <a:ext cx="6492240"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FFFFFF"/>
                </a:solidFill>
                <a:latin typeface="Arial"/>
                <a:ea typeface="Arial"/>
                <a:cs typeface="Arial"/>
                <a:sym typeface="Arial"/>
              </a:rPr>
              <a:t>SHARED BEFORE IMPLEMENTATION</a:t>
            </a:r>
            <a:endParaRPr/>
          </a:p>
        </p:txBody>
      </p:sp>
      <p:sp>
        <p:nvSpPr>
          <p:cNvPr id="195" name="Google Shape;195;p9"/>
          <p:cNvSpPr txBox="1"/>
          <p:nvPr/>
        </p:nvSpPr>
        <p:spPr>
          <a:xfrm>
            <a:off x="10149840" y="3154680"/>
            <a:ext cx="6492240" cy="4023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GRU models</a:t>
            </a:r>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  • embedding 256</a:t>
            </a:r>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  • hidden state 512</a:t>
            </a:r>
            <a:endParaRPr/>
          </a:p>
          <a:p>
            <a:pPr indent="0" lvl="0" marL="0" marR="0" rtl="0" algn="l">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Transformer</a:t>
            </a:r>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  • d_model 512</a:t>
            </a:r>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  • FFN 1024</a:t>
            </a:r>
            <a:endParaRPr/>
          </a:p>
          <a:p>
            <a:pPr indent="0" lvl="0" marL="0" marR="0" rtl="0" algn="l">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Shared across all models</a:t>
            </a:r>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  • batch 64, dropout 0.3</a:t>
            </a:r>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  • max 30 epochs, patience 6</a:t>
            </a:r>
            <a:endParaRPr/>
          </a:p>
          <a:p>
            <a:pPr indent="0" lvl="0" marL="0" marR="0" rtl="0" algn="l">
              <a:lnSpc>
                <a:spcPct val="100000"/>
              </a:lnSpc>
              <a:spcBef>
                <a:spcPts val="0"/>
              </a:spcBef>
              <a:spcAft>
                <a:spcPts val="0"/>
              </a:spcAft>
              <a:buNone/>
            </a:pPr>
            <a:r>
              <a:rPr b="0" i="0" lang="en-US" sz="1500" u="none" cap="none" strike="noStrike">
                <a:solidFill>
                  <a:srgbClr val="FFFFFF"/>
                </a:solidFill>
                <a:latin typeface="Arial"/>
                <a:ea typeface="Arial"/>
                <a:cs typeface="Arial"/>
                <a:sym typeface="Arial"/>
              </a:rPr>
              <a:t>  • same data, metrics, and LR-search budget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3013"/>
        </a:solidFill>
      </p:bgPr>
    </p:bg>
    <p:spTree>
      <p:nvGrpSpPr>
        <p:cNvPr id="200" name="Shape 200"/>
        <p:cNvGrpSpPr/>
        <p:nvPr/>
      </p:nvGrpSpPr>
      <p:grpSpPr>
        <a:xfrm>
          <a:off x="0" y="0"/>
          <a:ext cx="0" cy="0"/>
          <a:chOff x="0" y="0"/>
          <a:chExt cx="0" cy="0"/>
        </a:xfrm>
      </p:grpSpPr>
      <p:sp>
        <p:nvSpPr>
          <p:cNvPr id="201" name="Google Shape;201;p10"/>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FFE0D9"/>
              </a:buClr>
              <a:buSzPts val="1800"/>
              <a:buFont typeface="Arial"/>
              <a:buNone/>
            </a:pPr>
            <a:r>
              <a:rPr b="1" i="0" lang="en-US" sz="1800" u="none" cap="none" strike="noStrike">
                <a:solidFill>
                  <a:srgbClr val="FFE0D9"/>
                </a:solidFill>
                <a:latin typeface="Arial"/>
                <a:ea typeface="Arial"/>
                <a:cs typeface="Arial"/>
                <a:sym typeface="Arial"/>
              </a:rPr>
              <a:t>3 — DATASET AND TRAINING SETUP</a:t>
            </a:r>
            <a:endParaRPr b="0" i="0" sz="1800" u="none" cap="none" strike="noStrike">
              <a:solidFill>
                <a:schemeClr val="dk1"/>
              </a:solidFill>
              <a:latin typeface="Calibri"/>
              <a:ea typeface="Calibri"/>
              <a:cs typeface="Calibri"/>
              <a:sym typeface="Calibri"/>
            </a:endParaRPr>
          </a:p>
        </p:txBody>
      </p:sp>
      <p:sp>
        <p:nvSpPr>
          <p:cNvPr id="202" name="Google Shape;202;p10"/>
          <p:cNvSpPr/>
          <p:nvPr/>
        </p:nvSpPr>
        <p:spPr>
          <a:xfrm>
            <a:off x="914400" y="1440061"/>
            <a:ext cx="14716125" cy="1359396"/>
          </a:xfrm>
          <a:prstGeom prst="rect">
            <a:avLst/>
          </a:prstGeom>
          <a:noFill/>
          <a:ln>
            <a:noFill/>
          </a:ln>
        </p:spPr>
        <p:txBody>
          <a:bodyPr anchorCtr="0" anchor="t" bIns="25400" lIns="25400" spcFirstLastPara="1" rIns="25400" wrap="square" tIns="25400">
            <a:noAutofit/>
          </a:bodyPr>
          <a:lstStyle/>
          <a:p>
            <a:pPr indent="0" lvl="0" marL="0" marR="0" rtl="0" algn="l">
              <a:lnSpc>
                <a:spcPct val="72250"/>
              </a:lnSpc>
              <a:spcBef>
                <a:spcPts val="0"/>
              </a:spcBef>
              <a:spcAft>
                <a:spcPts val="0"/>
              </a:spcAft>
              <a:buClr>
                <a:srgbClr val="F3F2F2"/>
              </a:buClr>
              <a:buSzPts val="5100"/>
              <a:buFont typeface="Arial"/>
              <a:buNone/>
            </a:pPr>
            <a:r>
              <a:rPr b="1" i="0" lang="en-US" sz="5100" u="none" cap="none" strike="noStrike">
                <a:solidFill>
                  <a:srgbClr val="F3F2F2"/>
                </a:solidFill>
                <a:latin typeface="Arial"/>
                <a:ea typeface="Arial"/>
                <a:cs typeface="Arial"/>
                <a:sym typeface="Arial"/>
              </a:rPr>
              <a:t>A protocol designed to make the comparison defensible</a:t>
            </a:r>
            <a:endParaRPr b="0" i="0" sz="5100" u="none" cap="none" strike="noStrike">
              <a:solidFill>
                <a:schemeClr val="dk1"/>
              </a:solidFill>
              <a:latin typeface="Calibri"/>
              <a:ea typeface="Calibri"/>
              <a:cs typeface="Calibri"/>
              <a:sym typeface="Calibri"/>
            </a:endParaRPr>
          </a:p>
        </p:txBody>
      </p:sp>
      <p:sp>
        <p:nvSpPr>
          <p:cNvPr id="203" name="Google Shape;203;p10"/>
          <p:cNvSpPr/>
          <p:nvPr/>
        </p:nvSpPr>
        <p:spPr>
          <a:xfrm>
            <a:off x="914400" y="3256657"/>
            <a:ext cx="5156150" cy="3810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0"/>
          <p:cNvSpPr/>
          <p:nvPr/>
        </p:nvSpPr>
        <p:spPr>
          <a:xfrm>
            <a:off x="914400" y="3542407"/>
            <a:ext cx="5671765" cy="451396"/>
          </a:xfrm>
          <a:prstGeom prst="rect">
            <a:avLst/>
          </a:prstGeom>
          <a:noFill/>
          <a:ln>
            <a:noFill/>
          </a:ln>
        </p:spPr>
        <p:txBody>
          <a:bodyPr anchorCtr="0" anchor="t" bIns="25400" lIns="25400" spcFirstLastPara="1" rIns="25400" wrap="square" tIns="25400">
            <a:noAutofit/>
          </a:bodyPr>
          <a:lstStyle/>
          <a:p>
            <a:pPr indent="0" lvl="0" marL="0" marR="0" rtl="0" algn="l">
              <a:lnSpc>
                <a:spcPct val="108500"/>
              </a:lnSpc>
              <a:spcBef>
                <a:spcPts val="0"/>
              </a:spcBef>
              <a:spcAft>
                <a:spcPts val="0"/>
              </a:spcAft>
              <a:buClr>
                <a:srgbClr val="FFE0D9"/>
              </a:buClr>
              <a:buSzPts val="2100"/>
              <a:buFont typeface="Arial"/>
              <a:buNone/>
            </a:pPr>
            <a:r>
              <a:rPr b="1" i="0" lang="en-US" sz="2100" u="none" cap="none" strike="noStrike">
                <a:solidFill>
                  <a:srgbClr val="FFE0D9"/>
                </a:solidFill>
                <a:latin typeface="Arial"/>
                <a:ea typeface="Arial"/>
                <a:cs typeface="Arial"/>
                <a:sym typeface="Arial"/>
              </a:rPr>
              <a:t>01</a:t>
            </a:r>
            <a:endParaRPr b="0" i="0" sz="2100" u="none" cap="none" strike="noStrike">
              <a:solidFill>
                <a:schemeClr val="dk1"/>
              </a:solidFill>
              <a:latin typeface="Calibri"/>
              <a:ea typeface="Calibri"/>
              <a:cs typeface="Calibri"/>
              <a:sym typeface="Calibri"/>
            </a:endParaRPr>
          </a:p>
        </p:txBody>
      </p:sp>
      <p:sp>
        <p:nvSpPr>
          <p:cNvPr id="205" name="Google Shape;205;p10"/>
          <p:cNvSpPr/>
          <p:nvPr/>
        </p:nvSpPr>
        <p:spPr>
          <a:xfrm>
            <a:off x="914400" y="4127153"/>
            <a:ext cx="5671765" cy="454223"/>
          </a:xfrm>
          <a:prstGeom prst="rect">
            <a:avLst/>
          </a:prstGeom>
          <a:noFill/>
          <a:ln>
            <a:noFill/>
          </a:ln>
        </p:spPr>
        <p:txBody>
          <a:bodyPr anchorCtr="0" anchor="t" bIns="25400" lIns="25400" spcFirstLastPara="1" rIns="25400" wrap="square" tIns="25400">
            <a:noAutofit/>
          </a:bodyPr>
          <a:lstStyle/>
          <a:p>
            <a:pPr indent="0" lvl="0" marL="0" marR="0" rtl="0" algn="l">
              <a:lnSpc>
                <a:spcPct val="80926"/>
              </a:lnSpc>
              <a:spcBef>
                <a:spcPts val="0"/>
              </a:spcBef>
              <a:spcAft>
                <a:spcPts val="0"/>
              </a:spcAft>
              <a:buClr>
                <a:srgbClr val="F3F2F2"/>
              </a:buClr>
              <a:buSzPts val="2850"/>
              <a:buFont typeface="Arial"/>
              <a:buNone/>
            </a:pPr>
            <a:r>
              <a:rPr b="1" i="0" lang="en-US" sz="2850" u="none" cap="none" strike="noStrike">
                <a:solidFill>
                  <a:srgbClr val="F3F2F2"/>
                </a:solidFill>
                <a:latin typeface="Arial"/>
                <a:ea typeface="Arial"/>
                <a:cs typeface="Arial"/>
                <a:sym typeface="Arial"/>
              </a:rPr>
              <a:t>Per-architecture LR search</a:t>
            </a:r>
            <a:endParaRPr b="0" i="0" sz="2850" u="none" cap="none" strike="noStrike">
              <a:solidFill>
                <a:schemeClr val="dk1"/>
              </a:solidFill>
              <a:latin typeface="Calibri"/>
              <a:ea typeface="Calibri"/>
              <a:cs typeface="Calibri"/>
              <a:sym typeface="Calibri"/>
            </a:endParaRPr>
          </a:p>
        </p:txBody>
      </p:sp>
      <p:sp>
        <p:nvSpPr>
          <p:cNvPr id="206" name="Google Shape;206;p10"/>
          <p:cNvSpPr/>
          <p:nvPr/>
        </p:nvSpPr>
        <p:spPr>
          <a:xfrm>
            <a:off x="914400" y="4714726"/>
            <a:ext cx="5310835" cy="1584722"/>
          </a:xfrm>
          <a:prstGeom prst="rect">
            <a:avLst/>
          </a:prstGeom>
          <a:noFill/>
          <a:ln>
            <a:noFill/>
          </a:ln>
        </p:spPr>
        <p:txBody>
          <a:bodyPr anchorCtr="0" anchor="t" bIns="25400" lIns="25400" spcFirstLastPara="1" rIns="25400" wrap="square" tIns="25400">
            <a:noAutofit/>
          </a:bodyPr>
          <a:lstStyle/>
          <a:p>
            <a:pPr indent="0" lvl="0" marL="0" marR="0" rtl="0" algn="l">
              <a:lnSpc>
                <a:spcPct val="123030"/>
              </a:lnSpc>
              <a:spcBef>
                <a:spcPts val="0"/>
              </a:spcBef>
              <a:spcAft>
                <a:spcPts val="0"/>
              </a:spcAft>
              <a:buClr>
                <a:srgbClr val="FFF2EF"/>
              </a:buClr>
              <a:buSzPts val="2175"/>
              <a:buFont typeface="Arial"/>
              <a:buNone/>
            </a:pPr>
            <a:r>
              <a:rPr b="0" i="0" lang="en-US" sz="2175" u="none" cap="none" strike="noStrike">
                <a:solidFill>
                  <a:srgbClr val="FFF2EF"/>
                </a:solidFill>
                <a:latin typeface="Arial"/>
                <a:ea typeface="Arial"/>
                <a:cs typeface="Arial"/>
                <a:sym typeface="Arial"/>
              </a:rPr>
              <a:t>Each model trained once at 1e-4, 3e-4, and 1e-3 on a single dedicated search seed; best rate chosen on validation BLEU-4.</a:t>
            </a:r>
            <a:endParaRPr b="0" i="0" sz="2175" u="none" cap="none" strike="noStrike">
              <a:solidFill>
                <a:schemeClr val="dk1"/>
              </a:solidFill>
              <a:latin typeface="Calibri"/>
              <a:ea typeface="Calibri"/>
              <a:cs typeface="Calibri"/>
              <a:sym typeface="Calibri"/>
            </a:endParaRPr>
          </a:p>
        </p:txBody>
      </p:sp>
      <p:sp>
        <p:nvSpPr>
          <p:cNvPr id="207" name="Google Shape;207;p10"/>
          <p:cNvSpPr/>
          <p:nvPr/>
        </p:nvSpPr>
        <p:spPr>
          <a:xfrm>
            <a:off x="6565850" y="3256657"/>
            <a:ext cx="5156150" cy="3810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0"/>
          <p:cNvSpPr/>
          <p:nvPr/>
        </p:nvSpPr>
        <p:spPr>
          <a:xfrm>
            <a:off x="6565850" y="3542407"/>
            <a:ext cx="5671765" cy="451396"/>
          </a:xfrm>
          <a:prstGeom prst="rect">
            <a:avLst/>
          </a:prstGeom>
          <a:noFill/>
          <a:ln>
            <a:noFill/>
          </a:ln>
        </p:spPr>
        <p:txBody>
          <a:bodyPr anchorCtr="0" anchor="t" bIns="25400" lIns="25400" spcFirstLastPara="1" rIns="25400" wrap="square" tIns="25400">
            <a:noAutofit/>
          </a:bodyPr>
          <a:lstStyle/>
          <a:p>
            <a:pPr indent="0" lvl="0" marL="0" marR="0" rtl="0" algn="l">
              <a:lnSpc>
                <a:spcPct val="108500"/>
              </a:lnSpc>
              <a:spcBef>
                <a:spcPts val="0"/>
              </a:spcBef>
              <a:spcAft>
                <a:spcPts val="0"/>
              </a:spcAft>
              <a:buClr>
                <a:srgbClr val="FFE0D9"/>
              </a:buClr>
              <a:buSzPts val="2100"/>
              <a:buFont typeface="Arial"/>
              <a:buNone/>
            </a:pPr>
            <a:r>
              <a:rPr b="1" i="0" lang="en-US" sz="2100" u="none" cap="none" strike="noStrike">
                <a:solidFill>
                  <a:srgbClr val="FFE0D9"/>
                </a:solidFill>
                <a:latin typeface="Arial"/>
                <a:ea typeface="Arial"/>
                <a:cs typeface="Arial"/>
                <a:sym typeface="Arial"/>
              </a:rPr>
              <a:t>02</a:t>
            </a:r>
            <a:endParaRPr b="0" i="0" sz="2100" u="none" cap="none" strike="noStrike">
              <a:solidFill>
                <a:schemeClr val="dk1"/>
              </a:solidFill>
              <a:latin typeface="Calibri"/>
              <a:ea typeface="Calibri"/>
              <a:cs typeface="Calibri"/>
              <a:sym typeface="Calibri"/>
            </a:endParaRPr>
          </a:p>
        </p:txBody>
      </p:sp>
      <p:sp>
        <p:nvSpPr>
          <p:cNvPr id="209" name="Google Shape;209;p10"/>
          <p:cNvSpPr/>
          <p:nvPr/>
        </p:nvSpPr>
        <p:spPr>
          <a:xfrm>
            <a:off x="6565850" y="4127153"/>
            <a:ext cx="5671765" cy="454223"/>
          </a:xfrm>
          <a:prstGeom prst="rect">
            <a:avLst/>
          </a:prstGeom>
          <a:noFill/>
          <a:ln>
            <a:noFill/>
          </a:ln>
        </p:spPr>
        <p:txBody>
          <a:bodyPr anchorCtr="0" anchor="t" bIns="25400" lIns="25400" spcFirstLastPara="1" rIns="25400" wrap="square" tIns="25400">
            <a:noAutofit/>
          </a:bodyPr>
          <a:lstStyle/>
          <a:p>
            <a:pPr indent="0" lvl="0" marL="0" marR="0" rtl="0" algn="l">
              <a:lnSpc>
                <a:spcPct val="80926"/>
              </a:lnSpc>
              <a:spcBef>
                <a:spcPts val="0"/>
              </a:spcBef>
              <a:spcAft>
                <a:spcPts val="0"/>
              </a:spcAft>
              <a:buClr>
                <a:srgbClr val="F3F2F2"/>
              </a:buClr>
              <a:buSzPts val="2850"/>
              <a:buFont typeface="Arial"/>
              <a:buNone/>
            </a:pPr>
            <a:r>
              <a:rPr b="1" i="0" lang="en-US" sz="2850" u="none" cap="none" strike="noStrike">
                <a:solidFill>
                  <a:srgbClr val="F3F2F2"/>
                </a:solidFill>
                <a:latin typeface="Arial"/>
                <a:ea typeface="Arial"/>
                <a:cs typeface="Arial"/>
                <a:sym typeface="Arial"/>
              </a:rPr>
              <a:t>Three fresh seeds</a:t>
            </a:r>
            <a:endParaRPr b="0" i="0" sz="2850" u="none" cap="none" strike="noStrike">
              <a:solidFill>
                <a:schemeClr val="dk1"/>
              </a:solidFill>
              <a:latin typeface="Calibri"/>
              <a:ea typeface="Calibri"/>
              <a:cs typeface="Calibri"/>
              <a:sym typeface="Calibri"/>
            </a:endParaRPr>
          </a:p>
        </p:txBody>
      </p:sp>
      <p:sp>
        <p:nvSpPr>
          <p:cNvPr id="210" name="Google Shape;210;p10"/>
          <p:cNvSpPr/>
          <p:nvPr/>
        </p:nvSpPr>
        <p:spPr>
          <a:xfrm>
            <a:off x="6565850" y="4714726"/>
            <a:ext cx="5310835" cy="1971377"/>
          </a:xfrm>
          <a:prstGeom prst="rect">
            <a:avLst/>
          </a:prstGeom>
          <a:noFill/>
          <a:ln>
            <a:noFill/>
          </a:ln>
        </p:spPr>
        <p:txBody>
          <a:bodyPr anchorCtr="0" anchor="t" bIns="25400" lIns="25400" spcFirstLastPara="1" rIns="25400" wrap="square" tIns="25400">
            <a:noAutofit/>
          </a:bodyPr>
          <a:lstStyle/>
          <a:p>
            <a:pPr indent="0" lvl="0" marL="0" marR="0" rtl="0" algn="l">
              <a:lnSpc>
                <a:spcPct val="123030"/>
              </a:lnSpc>
              <a:spcBef>
                <a:spcPts val="0"/>
              </a:spcBef>
              <a:spcAft>
                <a:spcPts val="0"/>
              </a:spcAft>
              <a:buClr>
                <a:srgbClr val="FFF2EF"/>
              </a:buClr>
              <a:buSzPts val="2175"/>
              <a:buFont typeface="Arial"/>
              <a:buNone/>
            </a:pPr>
            <a:r>
              <a:rPr b="0" i="0" lang="en-US" sz="2175" u="none" cap="none" strike="noStrike">
                <a:solidFill>
                  <a:srgbClr val="FFF2EF"/>
                </a:solidFill>
                <a:latin typeface="Arial"/>
                <a:ea typeface="Arial"/>
                <a:cs typeface="Arial"/>
                <a:sym typeface="Arial"/>
              </a:rPr>
              <a:t>Retrained at the selected rate under three new seeds — the search run is never reused, since its score was optimistically selected. Same seeds for every model enables paired comparison.</a:t>
            </a:r>
            <a:endParaRPr b="0" i="0" sz="2175" u="none" cap="none" strike="noStrike">
              <a:solidFill>
                <a:schemeClr val="dk1"/>
              </a:solidFill>
              <a:latin typeface="Calibri"/>
              <a:ea typeface="Calibri"/>
              <a:cs typeface="Calibri"/>
              <a:sym typeface="Calibri"/>
            </a:endParaRPr>
          </a:p>
        </p:txBody>
      </p:sp>
      <p:sp>
        <p:nvSpPr>
          <p:cNvPr id="211" name="Google Shape;211;p10"/>
          <p:cNvSpPr/>
          <p:nvPr/>
        </p:nvSpPr>
        <p:spPr>
          <a:xfrm>
            <a:off x="12217301" y="3256657"/>
            <a:ext cx="5156150" cy="3810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0"/>
          <p:cNvSpPr/>
          <p:nvPr/>
        </p:nvSpPr>
        <p:spPr>
          <a:xfrm>
            <a:off x="12217301" y="3542407"/>
            <a:ext cx="5671765" cy="451396"/>
          </a:xfrm>
          <a:prstGeom prst="rect">
            <a:avLst/>
          </a:prstGeom>
          <a:noFill/>
          <a:ln>
            <a:noFill/>
          </a:ln>
        </p:spPr>
        <p:txBody>
          <a:bodyPr anchorCtr="0" anchor="t" bIns="25400" lIns="25400" spcFirstLastPara="1" rIns="25400" wrap="square" tIns="25400">
            <a:noAutofit/>
          </a:bodyPr>
          <a:lstStyle/>
          <a:p>
            <a:pPr indent="0" lvl="0" marL="0" marR="0" rtl="0" algn="l">
              <a:lnSpc>
                <a:spcPct val="108500"/>
              </a:lnSpc>
              <a:spcBef>
                <a:spcPts val="0"/>
              </a:spcBef>
              <a:spcAft>
                <a:spcPts val="0"/>
              </a:spcAft>
              <a:buClr>
                <a:srgbClr val="FFE0D9"/>
              </a:buClr>
              <a:buSzPts val="2100"/>
              <a:buFont typeface="Arial"/>
              <a:buNone/>
            </a:pPr>
            <a:r>
              <a:rPr b="1" i="0" lang="en-US" sz="2100" u="none" cap="none" strike="noStrike">
                <a:solidFill>
                  <a:srgbClr val="FFE0D9"/>
                </a:solidFill>
                <a:latin typeface="Arial"/>
                <a:ea typeface="Arial"/>
                <a:cs typeface="Arial"/>
                <a:sym typeface="Arial"/>
              </a:rPr>
              <a:t>03</a:t>
            </a:r>
            <a:endParaRPr b="0" i="0" sz="2100" u="none" cap="none" strike="noStrike">
              <a:solidFill>
                <a:schemeClr val="dk1"/>
              </a:solidFill>
              <a:latin typeface="Calibri"/>
              <a:ea typeface="Calibri"/>
              <a:cs typeface="Calibri"/>
              <a:sym typeface="Calibri"/>
            </a:endParaRPr>
          </a:p>
        </p:txBody>
      </p:sp>
      <p:sp>
        <p:nvSpPr>
          <p:cNvPr id="213" name="Google Shape;213;p10"/>
          <p:cNvSpPr/>
          <p:nvPr/>
        </p:nvSpPr>
        <p:spPr>
          <a:xfrm>
            <a:off x="12217301" y="4127153"/>
            <a:ext cx="5671765" cy="454223"/>
          </a:xfrm>
          <a:prstGeom prst="rect">
            <a:avLst/>
          </a:prstGeom>
          <a:noFill/>
          <a:ln>
            <a:noFill/>
          </a:ln>
        </p:spPr>
        <p:txBody>
          <a:bodyPr anchorCtr="0" anchor="t" bIns="25400" lIns="25400" spcFirstLastPara="1" rIns="25400" wrap="square" tIns="25400">
            <a:noAutofit/>
          </a:bodyPr>
          <a:lstStyle/>
          <a:p>
            <a:pPr indent="0" lvl="0" marL="0" marR="0" rtl="0" algn="l">
              <a:lnSpc>
                <a:spcPct val="80926"/>
              </a:lnSpc>
              <a:spcBef>
                <a:spcPts val="0"/>
              </a:spcBef>
              <a:spcAft>
                <a:spcPts val="0"/>
              </a:spcAft>
              <a:buClr>
                <a:srgbClr val="F3F2F2"/>
              </a:buClr>
              <a:buSzPts val="2850"/>
              <a:buFont typeface="Arial"/>
              <a:buNone/>
            </a:pPr>
            <a:r>
              <a:rPr b="1" i="0" lang="en-US" sz="2850" u="none" cap="none" strike="noStrike">
                <a:solidFill>
                  <a:srgbClr val="F3F2F2"/>
                </a:solidFill>
                <a:latin typeface="Arial"/>
                <a:ea typeface="Arial"/>
                <a:cs typeface="Arial"/>
                <a:sym typeface="Arial"/>
              </a:rPr>
              <a:t>Validation-only selection</a:t>
            </a:r>
            <a:endParaRPr b="0" i="0" sz="2850" u="none" cap="none" strike="noStrike">
              <a:solidFill>
                <a:schemeClr val="dk1"/>
              </a:solidFill>
              <a:latin typeface="Calibri"/>
              <a:ea typeface="Calibri"/>
              <a:cs typeface="Calibri"/>
              <a:sym typeface="Calibri"/>
            </a:endParaRPr>
          </a:p>
        </p:txBody>
      </p:sp>
      <p:sp>
        <p:nvSpPr>
          <p:cNvPr id="214" name="Google Shape;214;p10"/>
          <p:cNvSpPr/>
          <p:nvPr/>
        </p:nvSpPr>
        <p:spPr>
          <a:xfrm>
            <a:off x="12217301" y="4714726"/>
            <a:ext cx="5310835" cy="1584722"/>
          </a:xfrm>
          <a:prstGeom prst="rect">
            <a:avLst/>
          </a:prstGeom>
          <a:noFill/>
          <a:ln>
            <a:noFill/>
          </a:ln>
        </p:spPr>
        <p:txBody>
          <a:bodyPr anchorCtr="0" anchor="t" bIns="25400" lIns="25400" spcFirstLastPara="1" rIns="25400" wrap="square" tIns="25400">
            <a:noAutofit/>
          </a:bodyPr>
          <a:lstStyle/>
          <a:p>
            <a:pPr indent="0" lvl="0" marL="0" marR="0" rtl="0" algn="l">
              <a:lnSpc>
                <a:spcPct val="123030"/>
              </a:lnSpc>
              <a:spcBef>
                <a:spcPts val="0"/>
              </a:spcBef>
              <a:spcAft>
                <a:spcPts val="0"/>
              </a:spcAft>
              <a:buClr>
                <a:srgbClr val="FFF2EF"/>
              </a:buClr>
              <a:buSzPts val="2175"/>
              <a:buFont typeface="Arial"/>
              <a:buNone/>
            </a:pPr>
            <a:r>
              <a:rPr b="0" i="0" lang="en-US" sz="2175" u="none" cap="none" strike="noStrike">
                <a:solidFill>
                  <a:srgbClr val="FFF2EF"/>
                </a:solidFill>
                <a:latin typeface="Arial"/>
                <a:ea typeface="Arial"/>
                <a:cs typeface="Arial"/>
                <a:sym typeface="Arial"/>
              </a:rPr>
              <a:t>Rates and checkpoints chosen solely on validation BLEU-4. </a:t>
            </a:r>
            <a:r>
              <a:rPr lang="en-US" sz="2175">
                <a:solidFill>
                  <a:srgbClr val="FFF2EF"/>
                </a:solidFill>
              </a:rPr>
              <a:t>Final test evaluation is run once after all decisions are frozen into a manifest</a:t>
            </a:r>
            <a:endParaRPr b="0" i="0" sz="2175" u="none" cap="none" strike="noStrike">
              <a:solidFill>
                <a:schemeClr val="dk1"/>
              </a:solidFill>
              <a:latin typeface="Calibri"/>
              <a:ea typeface="Calibri"/>
              <a:cs typeface="Calibri"/>
              <a:sym typeface="Calibri"/>
            </a:endParaRPr>
          </a:p>
        </p:txBody>
      </p:sp>
      <p:sp>
        <p:nvSpPr>
          <p:cNvPr id="215" name="Google Shape;215;p10"/>
          <p:cNvSpPr/>
          <p:nvPr/>
        </p:nvSpPr>
        <p:spPr>
          <a:xfrm>
            <a:off x="914400" y="7871817"/>
            <a:ext cx="15240000" cy="1691283"/>
          </a:xfrm>
          <a:prstGeom prst="rect">
            <a:avLst/>
          </a:prstGeom>
          <a:solidFill>
            <a:srgbClr val="7C14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0"/>
          <p:cNvSpPr/>
          <p:nvPr/>
        </p:nvSpPr>
        <p:spPr>
          <a:xfrm>
            <a:off x="1238250" y="8157567"/>
            <a:ext cx="15049500" cy="1157883"/>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F3F2F2"/>
              </a:buClr>
              <a:buSzPts val="2100"/>
              <a:buFont typeface="Arial"/>
              <a:buNone/>
            </a:pPr>
            <a:r>
              <a:rPr b="1" i="0" lang="en-US" sz="2100" u="none" cap="none" strike="noStrike">
                <a:solidFill>
                  <a:srgbClr val="F3F2F2"/>
                </a:solidFill>
                <a:latin typeface="Arial"/>
                <a:ea typeface="Arial"/>
                <a:cs typeface="Arial"/>
                <a:sym typeface="Arial"/>
              </a:rPr>
              <a:t>Disclosure. </a:t>
            </a:r>
            <a:r>
              <a:rPr b="0" i="0" lang="en-US" sz="2100" u="none" cap="none" strike="noStrike">
                <a:solidFill>
                  <a:srgbClr val="FFF2EF"/>
                </a:solidFill>
                <a:highlight>
                  <a:srgbClr val="7C1405"/>
                </a:highlight>
                <a:latin typeface="Arial"/>
                <a:ea typeface="Arial"/>
                <a:cs typeface="Arial"/>
                <a:sym typeface="Arial"/>
              </a:rPr>
              <a:t>Preliminary test scores were computed for the baseline during early pipeline development, before this protocol was finalized. No test evaluation occurred afterward until all decisions were frozen. We report final test numbers with that caveat.</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221" name="Shape 221"/>
        <p:cNvGrpSpPr/>
        <p:nvPr/>
      </p:nvGrpSpPr>
      <p:grpSpPr>
        <a:xfrm>
          <a:off x="0" y="0"/>
          <a:ext cx="0" cy="0"/>
          <a:chOff x="0" y="0"/>
          <a:chExt cx="0" cy="0"/>
        </a:xfrm>
      </p:grpSpPr>
      <p:sp>
        <p:nvSpPr>
          <p:cNvPr id="222" name="Google Shape;222;p11"/>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4 — EVALUATION, RESULTS, AND ANALYSIS</a:t>
            </a:r>
            <a:endParaRPr b="0" i="0" sz="1800" u="none" cap="none" strike="noStrike">
              <a:solidFill>
                <a:schemeClr val="dk1"/>
              </a:solidFill>
              <a:latin typeface="Calibri"/>
              <a:ea typeface="Calibri"/>
              <a:cs typeface="Calibri"/>
              <a:sym typeface="Calibri"/>
            </a:endParaRPr>
          </a:p>
        </p:txBody>
      </p:sp>
      <p:sp>
        <p:nvSpPr>
          <p:cNvPr id="223" name="Google Shape;223;p11"/>
          <p:cNvSpPr/>
          <p:nvPr/>
        </p:nvSpPr>
        <p:spPr>
          <a:xfrm>
            <a:off x="914400" y="1440061"/>
            <a:ext cx="14878050" cy="671959"/>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Baseline: mean validation BLEU-4 of 0.1873</a:t>
            </a:r>
            <a:endParaRPr b="0" i="0" sz="4800" u="none" cap="none" strike="noStrike">
              <a:solidFill>
                <a:schemeClr val="dk1"/>
              </a:solidFill>
              <a:latin typeface="Calibri"/>
              <a:ea typeface="Calibri"/>
              <a:cs typeface="Calibri"/>
              <a:sym typeface="Calibri"/>
            </a:endParaRPr>
          </a:p>
        </p:txBody>
      </p:sp>
      <p:sp>
        <p:nvSpPr>
          <p:cNvPr id="224" name="Google Shape;224;p11"/>
          <p:cNvSpPr/>
          <p:nvPr/>
        </p:nvSpPr>
        <p:spPr>
          <a:xfrm>
            <a:off x="914400" y="2226320"/>
            <a:ext cx="18105120" cy="432346"/>
          </a:xfrm>
          <a:prstGeom prst="rect">
            <a:avLst/>
          </a:prstGeom>
          <a:noFill/>
          <a:ln>
            <a:noFill/>
          </a:ln>
        </p:spPr>
        <p:txBody>
          <a:bodyPr anchorCtr="0" anchor="t" bIns="25400" lIns="25400" spcFirstLastPara="1" rIns="25400" wrap="square" tIns="25400">
            <a:noAutofit/>
          </a:bodyPr>
          <a:lstStyle/>
          <a:p>
            <a:pPr indent="0" lvl="0" marL="0" marR="0" rtl="0" algn="l">
              <a:lnSpc>
                <a:spcPct val="121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No-attention GRU · 4,185,837 trainable parameters · selected learning rate 3×10⁻⁴</a:t>
            </a:r>
            <a:endParaRPr b="0" i="0" sz="2250" u="none" cap="none" strike="noStrike">
              <a:solidFill>
                <a:schemeClr val="dk1"/>
              </a:solidFill>
              <a:latin typeface="Calibri"/>
              <a:ea typeface="Calibri"/>
              <a:cs typeface="Calibri"/>
              <a:sym typeface="Calibri"/>
            </a:endParaRPr>
          </a:p>
        </p:txBody>
      </p:sp>
      <p:sp>
        <p:nvSpPr>
          <p:cNvPr id="225" name="Google Shape;225;p11"/>
          <p:cNvSpPr/>
          <p:nvPr/>
        </p:nvSpPr>
        <p:spPr>
          <a:xfrm>
            <a:off x="914400" y="3551634"/>
            <a:ext cx="1894731"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1"/>
          <p:cNvSpPr/>
          <p:nvPr/>
        </p:nvSpPr>
        <p:spPr>
          <a:xfrm>
            <a:off x="914400" y="3039666"/>
            <a:ext cx="1970931" cy="397669"/>
          </a:xfrm>
          <a:prstGeom prst="rect">
            <a:avLst/>
          </a:prstGeom>
          <a:noFill/>
          <a:ln>
            <a:noFill/>
          </a:ln>
        </p:spPr>
        <p:txBody>
          <a:bodyPr anchorCtr="0" anchor="ctr" bIns="25400" lIns="25400" spcFirstLastPara="1" rIns="25400" wrap="square" tIns="25400">
            <a:noAutofit/>
          </a:bodyPr>
          <a:lstStyle/>
          <a:p>
            <a:pPr indent="0" lvl="0" marL="0" marR="0" rtl="0" algn="l">
              <a:lnSpc>
                <a:spcPct val="133621"/>
              </a:lnSpc>
              <a:spcBef>
                <a:spcPts val="0"/>
              </a:spcBef>
              <a:spcAft>
                <a:spcPts val="0"/>
              </a:spcAft>
              <a:buClr>
                <a:srgbClr val="605D5D"/>
              </a:buClr>
              <a:buSzPts val="1875"/>
              <a:buFont typeface="Arial"/>
              <a:buNone/>
            </a:pPr>
            <a:r>
              <a:rPr b="1" i="0" lang="en-US" sz="1875" u="none" cap="none" strike="noStrike">
                <a:solidFill>
                  <a:srgbClr val="605D5D"/>
                </a:solidFill>
                <a:latin typeface="Arial"/>
                <a:ea typeface="Arial"/>
                <a:cs typeface="Arial"/>
                <a:sym typeface="Arial"/>
              </a:rPr>
              <a:t>SEED</a:t>
            </a:r>
            <a:endParaRPr b="0" i="0" sz="1875" u="none" cap="none" strike="noStrike">
              <a:solidFill>
                <a:schemeClr val="dk1"/>
              </a:solidFill>
              <a:latin typeface="Calibri"/>
              <a:ea typeface="Calibri"/>
              <a:cs typeface="Calibri"/>
              <a:sym typeface="Calibri"/>
            </a:endParaRPr>
          </a:p>
        </p:txBody>
      </p:sp>
      <p:sp>
        <p:nvSpPr>
          <p:cNvPr id="227" name="Google Shape;227;p11"/>
          <p:cNvSpPr/>
          <p:nvPr/>
        </p:nvSpPr>
        <p:spPr>
          <a:xfrm>
            <a:off x="2809131" y="3551634"/>
            <a:ext cx="280972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1"/>
          <p:cNvSpPr/>
          <p:nvPr/>
        </p:nvSpPr>
        <p:spPr>
          <a:xfrm>
            <a:off x="2724839" y="3039666"/>
            <a:ext cx="2894018" cy="397669"/>
          </a:xfrm>
          <a:prstGeom prst="rect">
            <a:avLst/>
          </a:prstGeom>
          <a:noFill/>
          <a:ln>
            <a:noFill/>
          </a:ln>
        </p:spPr>
        <p:txBody>
          <a:bodyPr anchorCtr="0" anchor="ctr" bIns="25400" lIns="25400" spcFirstLastPara="1" rIns="25400" wrap="square" tIns="25400">
            <a:noAutofit/>
          </a:bodyPr>
          <a:lstStyle/>
          <a:p>
            <a:pPr indent="0" lvl="0" marL="0" marR="0" rtl="0" algn="r">
              <a:lnSpc>
                <a:spcPct val="133621"/>
              </a:lnSpc>
              <a:spcBef>
                <a:spcPts val="0"/>
              </a:spcBef>
              <a:spcAft>
                <a:spcPts val="0"/>
              </a:spcAft>
              <a:buClr>
                <a:srgbClr val="605D5D"/>
              </a:buClr>
              <a:buSzPts val="1875"/>
              <a:buFont typeface="Arial"/>
              <a:buNone/>
            </a:pPr>
            <a:r>
              <a:rPr b="1" i="0" lang="en-US" sz="1875" u="none" cap="none" strike="noStrike">
                <a:solidFill>
                  <a:srgbClr val="605D5D"/>
                </a:solidFill>
                <a:latin typeface="Arial"/>
                <a:ea typeface="Arial"/>
                <a:cs typeface="Arial"/>
                <a:sym typeface="Arial"/>
              </a:rPr>
              <a:t>SEL. EPOCH</a:t>
            </a:r>
            <a:endParaRPr b="0" i="0" sz="1875" u="none" cap="none" strike="noStrike">
              <a:solidFill>
                <a:schemeClr val="dk1"/>
              </a:solidFill>
              <a:latin typeface="Calibri"/>
              <a:ea typeface="Calibri"/>
              <a:cs typeface="Calibri"/>
              <a:sym typeface="Calibri"/>
            </a:endParaRPr>
          </a:p>
        </p:txBody>
      </p:sp>
      <p:sp>
        <p:nvSpPr>
          <p:cNvPr id="229" name="Google Shape;229;p11"/>
          <p:cNvSpPr/>
          <p:nvPr/>
        </p:nvSpPr>
        <p:spPr>
          <a:xfrm>
            <a:off x="5618857" y="3551634"/>
            <a:ext cx="1682948"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1"/>
          <p:cNvSpPr/>
          <p:nvPr/>
        </p:nvSpPr>
        <p:spPr>
          <a:xfrm>
            <a:off x="5542657" y="3039666"/>
            <a:ext cx="1759148" cy="397669"/>
          </a:xfrm>
          <a:prstGeom prst="rect">
            <a:avLst/>
          </a:prstGeom>
          <a:noFill/>
          <a:ln>
            <a:noFill/>
          </a:ln>
        </p:spPr>
        <p:txBody>
          <a:bodyPr anchorCtr="0" anchor="ctr" bIns="25400" lIns="25400" spcFirstLastPara="1" rIns="25400" wrap="square" tIns="25400">
            <a:noAutofit/>
          </a:bodyPr>
          <a:lstStyle/>
          <a:p>
            <a:pPr indent="0" lvl="0" marL="0" marR="0" rtl="0" algn="r">
              <a:lnSpc>
                <a:spcPct val="133621"/>
              </a:lnSpc>
              <a:spcBef>
                <a:spcPts val="0"/>
              </a:spcBef>
              <a:spcAft>
                <a:spcPts val="0"/>
              </a:spcAft>
              <a:buClr>
                <a:srgbClr val="605D5D"/>
              </a:buClr>
              <a:buSzPts val="1875"/>
              <a:buFont typeface="Arial"/>
              <a:buNone/>
            </a:pPr>
            <a:r>
              <a:rPr b="1" i="0" lang="en-US" sz="1875" u="none" cap="none" strike="noStrike">
                <a:solidFill>
                  <a:srgbClr val="605D5D"/>
                </a:solidFill>
                <a:latin typeface="Arial"/>
                <a:ea typeface="Arial"/>
                <a:cs typeface="Arial"/>
                <a:sym typeface="Arial"/>
              </a:rPr>
              <a:t>BLEU-1</a:t>
            </a:r>
            <a:endParaRPr b="0" i="0" sz="1875" u="none" cap="none" strike="noStrike">
              <a:solidFill>
                <a:schemeClr val="dk1"/>
              </a:solidFill>
              <a:latin typeface="Calibri"/>
              <a:ea typeface="Calibri"/>
              <a:cs typeface="Calibri"/>
              <a:sym typeface="Calibri"/>
            </a:endParaRPr>
          </a:p>
        </p:txBody>
      </p:sp>
      <p:sp>
        <p:nvSpPr>
          <p:cNvPr id="231" name="Google Shape;231;p11"/>
          <p:cNvSpPr/>
          <p:nvPr/>
        </p:nvSpPr>
        <p:spPr>
          <a:xfrm>
            <a:off x="7301805" y="3551634"/>
            <a:ext cx="1682948"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1"/>
          <p:cNvSpPr/>
          <p:nvPr/>
        </p:nvSpPr>
        <p:spPr>
          <a:xfrm>
            <a:off x="7225605" y="3039666"/>
            <a:ext cx="1759148" cy="397669"/>
          </a:xfrm>
          <a:prstGeom prst="rect">
            <a:avLst/>
          </a:prstGeom>
          <a:noFill/>
          <a:ln>
            <a:noFill/>
          </a:ln>
        </p:spPr>
        <p:txBody>
          <a:bodyPr anchorCtr="0" anchor="ctr" bIns="25400" lIns="25400" spcFirstLastPara="1" rIns="25400" wrap="square" tIns="25400">
            <a:noAutofit/>
          </a:bodyPr>
          <a:lstStyle/>
          <a:p>
            <a:pPr indent="0" lvl="0" marL="0" marR="0" rtl="0" algn="r">
              <a:lnSpc>
                <a:spcPct val="133621"/>
              </a:lnSpc>
              <a:spcBef>
                <a:spcPts val="0"/>
              </a:spcBef>
              <a:spcAft>
                <a:spcPts val="0"/>
              </a:spcAft>
              <a:buClr>
                <a:srgbClr val="605D5D"/>
              </a:buClr>
              <a:buSzPts val="1875"/>
              <a:buFont typeface="Arial"/>
              <a:buNone/>
            </a:pPr>
            <a:r>
              <a:rPr b="1" i="0" lang="en-US" sz="1875" u="none" cap="none" strike="noStrike">
                <a:solidFill>
                  <a:srgbClr val="605D5D"/>
                </a:solidFill>
                <a:latin typeface="Arial"/>
                <a:ea typeface="Arial"/>
                <a:cs typeface="Arial"/>
                <a:sym typeface="Arial"/>
              </a:rPr>
              <a:t>BLEU-2</a:t>
            </a:r>
            <a:endParaRPr b="0" i="0" sz="1875" u="none" cap="none" strike="noStrike">
              <a:solidFill>
                <a:schemeClr val="dk1"/>
              </a:solidFill>
              <a:latin typeface="Calibri"/>
              <a:ea typeface="Calibri"/>
              <a:cs typeface="Calibri"/>
              <a:sym typeface="Calibri"/>
            </a:endParaRPr>
          </a:p>
        </p:txBody>
      </p:sp>
      <p:sp>
        <p:nvSpPr>
          <p:cNvPr id="233" name="Google Shape;233;p11"/>
          <p:cNvSpPr/>
          <p:nvPr/>
        </p:nvSpPr>
        <p:spPr>
          <a:xfrm>
            <a:off x="8984754" y="3551634"/>
            <a:ext cx="168324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1"/>
          <p:cNvSpPr/>
          <p:nvPr/>
        </p:nvSpPr>
        <p:spPr>
          <a:xfrm>
            <a:off x="8908554" y="3039666"/>
            <a:ext cx="1759446" cy="397669"/>
          </a:xfrm>
          <a:prstGeom prst="rect">
            <a:avLst/>
          </a:prstGeom>
          <a:noFill/>
          <a:ln>
            <a:noFill/>
          </a:ln>
        </p:spPr>
        <p:txBody>
          <a:bodyPr anchorCtr="0" anchor="ctr" bIns="25400" lIns="25400" spcFirstLastPara="1" rIns="25400" wrap="square" tIns="25400">
            <a:noAutofit/>
          </a:bodyPr>
          <a:lstStyle/>
          <a:p>
            <a:pPr indent="0" lvl="0" marL="0" marR="0" rtl="0" algn="r">
              <a:lnSpc>
                <a:spcPct val="133621"/>
              </a:lnSpc>
              <a:spcBef>
                <a:spcPts val="0"/>
              </a:spcBef>
              <a:spcAft>
                <a:spcPts val="0"/>
              </a:spcAft>
              <a:buClr>
                <a:srgbClr val="605D5D"/>
              </a:buClr>
              <a:buSzPts val="1875"/>
              <a:buFont typeface="Arial"/>
              <a:buNone/>
            </a:pPr>
            <a:r>
              <a:rPr b="1" i="0" lang="en-US" sz="1875" u="none" cap="none" strike="noStrike">
                <a:solidFill>
                  <a:srgbClr val="605D5D"/>
                </a:solidFill>
                <a:latin typeface="Arial"/>
                <a:ea typeface="Arial"/>
                <a:cs typeface="Arial"/>
                <a:sym typeface="Arial"/>
              </a:rPr>
              <a:t>BLEU-4</a:t>
            </a:r>
            <a:endParaRPr b="0" i="0" sz="1875" u="none" cap="none" strike="noStrike">
              <a:solidFill>
                <a:schemeClr val="dk1"/>
              </a:solidFill>
              <a:latin typeface="Calibri"/>
              <a:ea typeface="Calibri"/>
              <a:cs typeface="Calibri"/>
              <a:sym typeface="Calibri"/>
            </a:endParaRPr>
          </a:p>
        </p:txBody>
      </p:sp>
      <p:sp>
        <p:nvSpPr>
          <p:cNvPr id="235" name="Google Shape;235;p11"/>
          <p:cNvSpPr/>
          <p:nvPr/>
        </p:nvSpPr>
        <p:spPr>
          <a:xfrm>
            <a:off x="914400" y="4409331"/>
            <a:ext cx="189473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1"/>
          <p:cNvSpPr/>
          <p:nvPr/>
        </p:nvSpPr>
        <p:spPr>
          <a:xfrm>
            <a:off x="914400" y="3761184"/>
            <a:ext cx="1970931" cy="495746"/>
          </a:xfrm>
          <a:prstGeom prst="rect">
            <a:avLst/>
          </a:prstGeom>
          <a:noFill/>
          <a:ln>
            <a:noFill/>
          </a:ln>
        </p:spPr>
        <p:txBody>
          <a:bodyPr anchorCtr="0" anchor="ctr" bIns="25400" lIns="25400" spcFirstLastPara="1" rIns="25400" wrap="square" tIns="25400">
            <a:noAutofit/>
          </a:bodyPr>
          <a:lstStyle/>
          <a:p>
            <a:pPr indent="0" lvl="0" marL="0" marR="0" rtl="0" algn="l">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1</a:t>
            </a:r>
            <a:endParaRPr b="0" i="0" sz="2325" u="none" cap="none" strike="noStrike">
              <a:solidFill>
                <a:schemeClr val="dk1"/>
              </a:solidFill>
              <a:latin typeface="Calibri"/>
              <a:ea typeface="Calibri"/>
              <a:cs typeface="Calibri"/>
              <a:sym typeface="Calibri"/>
            </a:endParaRPr>
          </a:p>
        </p:txBody>
      </p:sp>
      <p:sp>
        <p:nvSpPr>
          <p:cNvPr id="237" name="Google Shape;237;p11"/>
          <p:cNvSpPr/>
          <p:nvPr/>
        </p:nvSpPr>
        <p:spPr>
          <a:xfrm>
            <a:off x="2809131" y="4409331"/>
            <a:ext cx="280972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a:off x="2724839" y="3761184"/>
            <a:ext cx="289401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605D5D"/>
              </a:buClr>
              <a:buSzPts val="2325"/>
              <a:buFont typeface="Arial"/>
              <a:buNone/>
            </a:pPr>
            <a:r>
              <a:rPr b="0" i="0" lang="en-US" sz="2325" u="none" cap="none" strike="noStrike">
                <a:solidFill>
                  <a:srgbClr val="605D5D"/>
                </a:solidFill>
                <a:latin typeface="Arial"/>
                <a:ea typeface="Arial"/>
                <a:cs typeface="Arial"/>
                <a:sym typeface="Arial"/>
              </a:rPr>
              <a:t>8</a:t>
            </a:r>
            <a:endParaRPr b="0" i="0" sz="2325" u="none" cap="none" strike="noStrike">
              <a:solidFill>
                <a:schemeClr val="dk1"/>
              </a:solidFill>
              <a:latin typeface="Calibri"/>
              <a:ea typeface="Calibri"/>
              <a:cs typeface="Calibri"/>
              <a:sym typeface="Calibri"/>
            </a:endParaRPr>
          </a:p>
        </p:txBody>
      </p:sp>
      <p:sp>
        <p:nvSpPr>
          <p:cNvPr id="239" name="Google Shape;239;p11"/>
          <p:cNvSpPr/>
          <p:nvPr/>
        </p:nvSpPr>
        <p:spPr>
          <a:xfrm>
            <a:off x="5618857" y="4409331"/>
            <a:ext cx="1682948"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1"/>
          <p:cNvSpPr/>
          <p:nvPr/>
        </p:nvSpPr>
        <p:spPr>
          <a:xfrm>
            <a:off x="5542657" y="3761184"/>
            <a:ext cx="175914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0.6070</a:t>
            </a:r>
            <a:endParaRPr b="0" i="0" sz="2325" u="none" cap="none" strike="noStrike">
              <a:solidFill>
                <a:schemeClr val="dk1"/>
              </a:solidFill>
              <a:latin typeface="Calibri"/>
              <a:ea typeface="Calibri"/>
              <a:cs typeface="Calibri"/>
              <a:sym typeface="Calibri"/>
            </a:endParaRPr>
          </a:p>
        </p:txBody>
      </p:sp>
      <p:sp>
        <p:nvSpPr>
          <p:cNvPr id="241" name="Google Shape;241;p11"/>
          <p:cNvSpPr/>
          <p:nvPr/>
        </p:nvSpPr>
        <p:spPr>
          <a:xfrm>
            <a:off x="7301805" y="4409331"/>
            <a:ext cx="1682948"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1"/>
          <p:cNvSpPr/>
          <p:nvPr/>
        </p:nvSpPr>
        <p:spPr>
          <a:xfrm>
            <a:off x="7225605" y="3761184"/>
            <a:ext cx="175914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0.4226</a:t>
            </a:r>
            <a:endParaRPr b="0" i="0" sz="2325" u="none" cap="none" strike="noStrike">
              <a:solidFill>
                <a:schemeClr val="dk1"/>
              </a:solidFill>
              <a:latin typeface="Calibri"/>
              <a:ea typeface="Calibri"/>
              <a:cs typeface="Calibri"/>
              <a:sym typeface="Calibri"/>
            </a:endParaRPr>
          </a:p>
        </p:txBody>
      </p:sp>
      <p:sp>
        <p:nvSpPr>
          <p:cNvPr id="243" name="Google Shape;243;p11"/>
          <p:cNvSpPr/>
          <p:nvPr/>
        </p:nvSpPr>
        <p:spPr>
          <a:xfrm>
            <a:off x="8984754" y="4409331"/>
            <a:ext cx="168324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1"/>
          <p:cNvSpPr/>
          <p:nvPr/>
        </p:nvSpPr>
        <p:spPr>
          <a:xfrm>
            <a:off x="8908554" y="3761184"/>
            <a:ext cx="1759446"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0.1874</a:t>
            </a:r>
            <a:endParaRPr b="0" i="0" sz="2325" u="none" cap="none" strike="noStrike">
              <a:solidFill>
                <a:schemeClr val="dk1"/>
              </a:solidFill>
              <a:latin typeface="Calibri"/>
              <a:ea typeface="Calibri"/>
              <a:cs typeface="Calibri"/>
              <a:sym typeface="Calibri"/>
            </a:endParaRPr>
          </a:p>
        </p:txBody>
      </p:sp>
      <p:sp>
        <p:nvSpPr>
          <p:cNvPr id="245" name="Google Shape;245;p11"/>
          <p:cNvSpPr/>
          <p:nvPr/>
        </p:nvSpPr>
        <p:spPr>
          <a:xfrm>
            <a:off x="914400" y="5267027"/>
            <a:ext cx="189473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1"/>
          <p:cNvSpPr/>
          <p:nvPr/>
        </p:nvSpPr>
        <p:spPr>
          <a:xfrm>
            <a:off x="914400" y="4618881"/>
            <a:ext cx="1970931" cy="495746"/>
          </a:xfrm>
          <a:prstGeom prst="rect">
            <a:avLst/>
          </a:prstGeom>
          <a:noFill/>
          <a:ln>
            <a:noFill/>
          </a:ln>
        </p:spPr>
        <p:txBody>
          <a:bodyPr anchorCtr="0" anchor="ctr" bIns="25400" lIns="25400" spcFirstLastPara="1" rIns="25400" wrap="square" tIns="25400">
            <a:noAutofit/>
          </a:bodyPr>
          <a:lstStyle/>
          <a:p>
            <a:pPr indent="0" lvl="0" marL="0" marR="0" rtl="0" algn="l">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2</a:t>
            </a:r>
            <a:endParaRPr b="0" i="0" sz="2325" u="none" cap="none" strike="noStrike">
              <a:solidFill>
                <a:schemeClr val="dk1"/>
              </a:solidFill>
              <a:latin typeface="Calibri"/>
              <a:ea typeface="Calibri"/>
              <a:cs typeface="Calibri"/>
              <a:sym typeface="Calibri"/>
            </a:endParaRPr>
          </a:p>
        </p:txBody>
      </p:sp>
      <p:sp>
        <p:nvSpPr>
          <p:cNvPr id="247" name="Google Shape;247;p11"/>
          <p:cNvSpPr/>
          <p:nvPr/>
        </p:nvSpPr>
        <p:spPr>
          <a:xfrm>
            <a:off x="2809131" y="5267027"/>
            <a:ext cx="280972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1"/>
          <p:cNvSpPr/>
          <p:nvPr/>
        </p:nvSpPr>
        <p:spPr>
          <a:xfrm>
            <a:off x="2724839" y="4618881"/>
            <a:ext cx="289401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605D5D"/>
              </a:buClr>
              <a:buSzPts val="2325"/>
              <a:buFont typeface="Arial"/>
              <a:buNone/>
            </a:pPr>
            <a:r>
              <a:rPr b="0" i="0" lang="en-US" sz="2325" u="none" cap="none" strike="noStrike">
                <a:solidFill>
                  <a:srgbClr val="605D5D"/>
                </a:solidFill>
                <a:latin typeface="Arial"/>
                <a:ea typeface="Arial"/>
                <a:cs typeface="Arial"/>
                <a:sym typeface="Arial"/>
              </a:rPr>
              <a:t>13</a:t>
            </a:r>
            <a:endParaRPr b="0" i="0" sz="2325" u="none" cap="none" strike="noStrike">
              <a:solidFill>
                <a:schemeClr val="dk1"/>
              </a:solidFill>
              <a:latin typeface="Calibri"/>
              <a:ea typeface="Calibri"/>
              <a:cs typeface="Calibri"/>
              <a:sym typeface="Calibri"/>
            </a:endParaRPr>
          </a:p>
        </p:txBody>
      </p:sp>
      <p:sp>
        <p:nvSpPr>
          <p:cNvPr id="249" name="Google Shape;249;p11"/>
          <p:cNvSpPr/>
          <p:nvPr/>
        </p:nvSpPr>
        <p:spPr>
          <a:xfrm>
            <a:off x="5618857" y="5267027"/>
            <a:ext cx="1682948"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1"/>
          <p:cNvSpPr/>
          <p:nvPr/>
        </p:nvSpPr>
        <p:spPr>
          <a:xfrm>
            <a:off x="5542657" y="4618881"/>
            <a:ext cx="175914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0.6016</a:t>
            </a:r>
            <a:endParaRPr b="0" i="0" sz="2325" u="none" cap="none" strike="noStrike">
              <a:solidFill>
                <a:schemeClr val="dk1"/>
              </a:solidFill>
              <a:latin typeface="Calibri"/>
              <a:ea typeface="Calibri"/>
              <a:cs typeface="Calibri"/>
              <a:sym typeface="Calibri"/>
            </a:endParaRPr>
          </a:p>
        </p:txBody>
      </p:sp>
      <p:sp>
        <p:nvSpPr>
          <p:cNvPr id="251" name="Google Shape;251;p11"/>
          <p:cNvSpPr/>
          <p:nvPr/>
        </p:nvSpPr>
        <p:spPr>
          <a:xfrm>
            <a:off x="7301805" y="5267027"/>
            <a:ext cx="1682948"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1"/>
          <p:cNvSpPr/>
          <p:nvPr/>
        </p:nvSpPr>
        <p:spPr>
          <a:xfrm>
            <a:off x="7225605" y="4618881"/>
            <a:ext cx="175914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0.4196</a:t>
            </a:r>
            <a:endParaRPr b="0" i="0" sz="2325" u="none" cap="none" strike="noStrike">
              <a:solidFill>
                <a:schemeClr val="dk1"/>
              </a:solidFill>
              <a:latin typeface="Calibri"/>
              <a:ea typeface="Calibri"/>
              <a:cs typeface="Calibri"/>
              <a:sym typeface="Calibri"/>
            </a:endParaRPr>
          </a:p>
        </p:txBody>
      </p:sp>
      <p:sp>
        <p:nvSpPr>
          <p:cNvPr id="253" name="Google Shape;253;p11"/>
          <p:cNvSpPr/>
          <p:nvPr/>
        </p:nvSpPr>
        <p:spPr>
          <a:xfrm>
            <a:off x="8984754" y="5267027"/>
            <a:ext cx="168324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1"/>
          <p:cNvSpPr/>
          <p:nvPr/>
        </p:nvSpPr>
        <p:spPr>
          <a:xfrm>
            <a:off x="8908554" y="4618881"/>
            <a:ext cx="1759446"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0.1874</a:t>
            </a:r>
            <a:endParaRPr b="0" i="0" sz="2325" u="none" cap="none" strike="noStrike">
              <a:solidFill>
                <a:schemeClr val="dk1"/>
              </a:solidFill>
              <a:latin typeface="Calibri"/>
              <a:ea typeface="Calibri"/>
              <a:cs typeface="Calibri"/>
              <a:sym typeface="Calibri"/>
            </a:endParaRPr>
          </a:p>
        </p:txBody>
      </p:sp>
      <p:sp>
        <p:nvSpPr>
          <p:cNvPr id="255" name="Google Shape;255;p11"/>
          <p:cNvSpPr/>
          <p:nvPr/>
        </p:nvSpPr>
        <p:spPr>
          <a:xfrm>
            <a:off x="914400" y="6124724"/>
            <a:ext cx="1894731"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1"/>
          <p:cNvSpPr/>
          <p:nvPr/>
        </p:nvSpPr>
        <p:spPr>
          <a:xfrm>
            <a:off x="914400" y="5476577"/>
            <a:ext cx="1970931" cy="495746"/>
          </a:xfrm>
          <a:prstGeom prst="rect">
            <a:avLst/>
          </a:prstGeom>
          <a:noFill/>
          <a:ln>
            <a:noFill/>
          </a:ln>
        </p:spPr>
        <p:txBody>
          <a:bodyPr anchorCtr="0" anchor="ctr" bIns="25400" lIns="25400" spcFirstLastPara="1" rIns="25400" wrap="square" tIns="25400">
            <a:noAutofit/>
          </a:bodyPr>
          <a:lstStyle/>
          <a:p>
            <a:pPr indent="0" lvl="0" marL="0" marR="0" rtl="0" algn="l">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3</a:t>
            </a:r>
            <a:endParaRPr b="0" i="0" sz="2325" u="none" cap="none" strike="noStrike">
              <a:solidFill>
                <a:schemeClr val="dk1"/>
              </a:solidFill>
              <a:latin typeface="Calibri"/>
              <a:ea typeface="Calibri"/>
              <a:cs typeface="Calibri"/>
              <a:sym typeface="Calibri"/>
            </a:endParaRPr>
          </a:p>
        </p:txBody>
      </p:sp>
      <p:sp>
        <p:nvSpPr>
          <p:cNvPr id="257" name="Google Shape;257;p11"/>
          <p:cNvSpPr/>
          <p:nvPr/>
        </p:nvSpPr>
        <p:spPr>
          <a:xfrm>
            <a:off x="2809131" y="6124724"/>
            <a:ext cx="280972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1"/>
          <p:cNvSpPr/>
          <p:nvPr/>
        </p:nvSpPr>
        <p:spPr>
          <a:xfrm>
            <a:off x="2724839" y="5476577"/>
            <a:ext cx="289401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605D5D"/>
              </a:buClr>
              <a:buSzPts val="2325"/>
              <a:buFont typeface="Arial"/>
              <a:buNone/>
            </a:pPr>
            <a:r>
              <a:rPr b="0" i="0" lang="en-US" sz="2325" u="none" cap="none" strike="noStrike">
                <a:solidFill>
                  <a:srgbClr val="605D5D"/>
                </a:solidFill>
                <a:latin typeface="Arial"/>
                <a:ea typeface="Arial"/>
                <a:cs typeface="Arial"/>
                <a:sym typeface="Arial"/>
              </a:rPr>
              <a:t>13</a:t>
            </a:r>
            <a:endParaRPr b="0" i="0" sz="2325" u="none" cap="none" strike="noStrike">
              <a:solidFill>
                <a:schemeClr val="dk1"/>
              </a:solidFill>
              <a:latin typeface="Calibri"/>
              <a:ea typeface="Calibri"/>
              <a:cs typeface="Calibri"/>
              <a:sym typeface="Calibri"/>
            </a:endParaRPr>
          </a:p>
        </p:txBody>
      </p:sp>
      <p:sp>
        <p:nvSpPr>
          <p:cNvPr id="259" name="Google Shape;259;p11"/>
          <p:cNvSpPr/>
          <p:nvPr/>
        </p:nvSpPr>
        <p:spPr>
          <a:xfrm>
            <a:off x="5618857" y="6124724"/>
            <a:ext cx="1682948"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1"/>
          <p:cNvSpPr/>
          <p:nvPr/>
        </p:nvSpPr>
        <p:spPr>
          <a:xfrm>
            <a:off x="5542657" y="5476577"/>
            <a:ext cx="175914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0.6089</a:t>
            </a:r>
            <a:endParaRPr b="0" i="0" sz="2325" u="none" cap="none" strike="noStrike">
              <a:solidFill>
                <a:schemeClr val="dk1"/>
              </a:solidFill>
              <a:latin typeface="Calibri"/>
              <a:ea typeface="Calibri"/>
              <a:cs typeface="Calibri"/>
              <a:sym typeface="Calibri"/>
            </a:endParaRPr>
          </a:p>
        </p:txBody>
      </p:sp>
      <p:sp>
        <p:nvSpPr>
          <p:cNvPr id="261" name="Google Shape;261;p11"/>
          <p:cNvSpPr/>
          <p:nvPr/>
        </p:nvSpPr>
        <p:spPr>
          <a:xfrm>
            <a:off x="7301805" y="6124724"/>
            <a:ext cx="1682948"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1"/>
          <p:cNvSpPr/>
          <p:nvPr/>
        </p:nvSpPr>
        <p:spPr>
          <a:xfrm>
            <a:off x="7225605" y="5476577"/>
            <a:ext cx="1759148"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0.4227</a:t>
            </a:r>
            <a:endParaRPr b="0" i="0" sz="2325" u="none" cap="none" strike="noStrike">
              <a:solidFill>
                <a:schemeClr val="dk1"/>
              </a:solidFill>
              <a:latin typeface="Calibri"/>
              <a:ea typeface="Calibri"/>
              <a:cs typeface="Calibri"/>
              <a:sym typeface="Calibri"/>
            </a:endParaRPr>
          </a:p>
        </p:txBody>
      </p:sp>
      <p:sp>
        <p:nvSpPr>
          <p:cNvPr id="263" name="Google Shape;263;p11"/>
          <p:cNvSpPr/>
          <p:nvPr/>
        </p:nvSpPr>
        <p:spPr>
          <a:xfrm>
            <a:off x="8984754" y="6124724"/>
            <a:ext cx="168324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1"/>
          <p:cNvSpPr/>
          <p:nvPr/>
        </p:nvSpPr>
        <p:spPr>
          <a:xfrm>
            <a:off x="8908554" y="5476577"/>
            <a:ext cx="1759446"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201E1D"/>
              </a:buClr>
              <a:buSzPts val="2325"/>
              <a:buFont typeface="Arial"/>
              <a:buNone/>
            </a:pPr>
            <a:r>
              <a:rPr b="0" i="0" lang="en-US" sz="2325" u="none" cap="none" strike="noStrike">
                <a:solidFill>
                  <a:srgbClr val="201E1D"/>
                </a:solidFill>
                <a:latin typeface="Arial"/>
                <a:ea typeface="Arial"/>
                <a:cs typeface="Arial"/>
                <a:sym typeface="Arial"/>
              </a:rPr>
              <a:t>0.1870</a:t>
            </a:r>
            <a:endParaRPr b="0" i="0" sz="2325" u="none" cap="none" strike="noStrike">
              <a:solidFill>
                <a:schemeClr val="dk1"/>
              </a:solidFill>
              <a:latin typeface="Calibri"/>
              <a:ea typeface="Calibri"/>
              <a:cs typeface="Calibri"/>
              <a:sym typeface="Calibri"/>
            </a:endParaRPr>
          </a:p>
        </p:txBody>
      </p:sp>
      <p:sp>
        <p:nvSpPr>
          <p:cNvPr id="265" name="Google Shape;265;p11"/>
          <p:cNvSpPr/>
          <p:nvPr/>
        </p:nvSpPr>
        <p:spPr>
          <a:xfrm>
            <a:off x="914400" y="6334274"/>
            <a:ext cx="1970931" cy="505271"/>
          </a:xfrm>
          <a:prstGeom prst="rect">
            <a:avLst/>
          </a:prstGeom>
          <a:noFill/>
          <a:ln>
            <a:noFill/>
          </a:ln>
        </p:spPr>
        <p:txBody>
          <a:bodyPr anchorCtr="0" anchor="ctr" bIns="25400" lIns="25400" spcFirstLastPara="1" rIns="25400" wrap="square" tIns="25400">
            <a:noAutofit/>
          </a:bodyPr>
          <a:lstStyle/>
          <a:p>
            <a:pPr indent="0" lvl="0" marL="0" marR="0" rtl="0" algn="l">
              <a:lnSpc>
                <a:spcPct val="109205"/>
              </a:lnSpc>
              <a:spcBef>
                <a:spcPts val="0"/>
              </a:spcBef>
              <a:spcAft>
                <a:spcPts val="0"/>
              </a:spcAft>
              <a:buClr>
                <a:srgbClr val="201E1D"/>
              </a:buClr>
              <a:buSzPts val="2325"/>
              <a:buFont typeface="Arial"/>
              <a:buNone/>
            </a:pPr>
            <a:r>
              <a:rPr b="1" i="0" lang="en-US" sz="2325" u="none" cap="none" strike="noStrike">
                <a:solidFill>
                  <a:srgbClr val="201E1D"/>
                </a:solidFill>
                <a:latin typeface="Arial"/>
                <a:ea typeface="Arial"/>
                <a:cs typeface="Arial"/>
                <a:sym typeface="Arial"/>
              </a:rPr>
              <a:t>Mean</a:t>
            </a:r>
            <a:endParaRPr b="0" i="0" sz="2325" u="none" cap="none" strike="noStrike">
              <a:solidFill>
                <a:schemeClr val="dk1"/>
              </a:solidFill>
              <a:latin typeface="Calibri"/>
              <a:ea typeface="Calibri"/>
              <a:cs typeface="Calibri"/>
              <a:sym typeface="Calibri"/>
            </a:endParaRPr>
          </a:p>
        </p:txBody>
      </p:sp>
      <p:sp>
        <p:nvSpPr>
          <p:cNvPr id="266" name="Google Shape;266;p11"/>
          <p:cNvSpPr/>
          <p:nvPr/>
        </p:nvSpPr>
        <p:spPr>
          <a:xfrm>
            <a:off x="2724839" y="6334274"/>
            <a:ext cx="2894018" cy="505271"/>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9B9797"/>
              </a:buClr>
              <a:buSzPts val="2325"/>
              <a:buFont typeface="Arial"/>
              <a:buNone/>
            </a:pPr>
            <a:r>
              <a:rPr b="0" i="0" lang="en-US" sz="2325" u="none" cap="none" strike="noStrike">
                <a:solidFill>
                  <a:srgbClr val="9B9797"/>
                </a:solidFill>
                <a:latin typeface="Arial"/>
                <a:ea typeface="Arial"/>
                <a:cs typeface="Arial"/>
                <a:sym typeface="Arial"/>
              </a:rPr>
              <a:t>—</a:t>
            </a:r>
            <a:endParaRPr b="0" i="0" sz="2325" u="none" cap="none" strike="noStrike">
              <a:solidFill>
                <a:schemeClr val="dk1"/>
              </a:solidFill>
              <a:latin typeface="Calibri"/>
              <a:ea typeface="Calibri"/>
              <a:cs typeface="Calibri"/>
              <a:sym typeface="Calibri"/>
            </a:endParaRPr>
          </a:p>
        </p:txBody>
      </p:sp>
      <p:sp>
        <p:nvSpPr>
          <p:cNvPr id="267" name="Google Shape;267;p11"/>
          <p:cNvSpPr/>
          <p:nvPr/>
        </p:nvSpPr>
        <p:spPr>
          <a:xfrm>
            <a:off x="5542657" y="6334274"/>
            <a:ext cx="1759148" cy="505271"/>
          </a:xfrm>
          <a:prstGeom prst="rect">
            <a:avLst/>
          </a:prstGeom>
          <a:noFill/>
          <a:ln>
            <a:noFill/>
          </a:ln>
        </p:spPr>
        <p:txBody>
          <a:bodyPr anchorCtr="0" anchor="ctr" bIns="25400" lIns="25400" spcFirstLastPara="1" rIns="25400" wrap="square" tIns="25400">
            <a:noAutofit/>
          </a:bodyPr>
          <a:lstStyle/>
          <a:p>
            <a:pPr indent="0" lvl="0" marL="0" marR="0" rtl="0" algn="r">
              <a:lnSpc>
                <a:spcPct val="109205"/>
              </a:lnSpc>
              <a:spcBef>
                <a:spcPts val="0"/>
              </a:spcBef>
              <a:spcAft>
                <a:spcPts val="0"/>
              </a:spcAft>
              <a:buClr>
                <a:srgbClr val="201E1D"/>
              </a:buClr>
              <a:buSzPts val="2325"/>
              <a:buFont typeface="Arial"/>
              <a:buNone/>
            </a:pPr>
            <a:r>
              <a:rPr b="1" i="0" lang="en-US" sz="2325" u="none" cap="none" strike="noStrike">
                <a:solidFill>
                  <a:srgbClr val="201E1D"/>
                </a:solidFill>
                <a:latin typeface="Arial"/>
                <a:ea typeface="Arial"/>
                <a:cs typeface="Arial"/>
                <a:sym typeface="Arial"/>
              </a:rPr>
              <a:t>0.6058</a:t>
            </a:r>
            <a:endParaRPr b="0" i="0" sz="2325" u="none" cap="none" strike="noStrike">
              <a:solidFill>
                <a:schemeClr val="dk1"/>
              </a:solidFill>
              <a:latin typeface="Calibri"/>
              <a:ea typeface="Calibri"/>
              <a:cs typeface="Calibri"/>
              <a:sym typeface="Calibri"/>
            </a:endParaRPr>
          </a:p>
        </p:txBody>
      </p:sp>
      <p:sp>
        <p:nvSpPr>
          <p:cNvPr id="268" name="Google Shape;268;p11"/>
          <p:cNvSpPr/>
          <p:nvPr/>
        </p:nvSpPr>
        <p:spPr>
          <a:xfrm>
            <a:off x="7225605" y="6334274"/>
            <a:ext cx="1759148" cy="505271"/>
          </a:xfrm>
          <a:prstGeom prst="rect">
            <a:avLst/>
          </a:prstGeom>
          <a:noFill/>
          <a:ln>
            <a:noFill/>
          </a:ln>
        </p:spPr>
        <p:txBody>
          <a:bodyPr anchorCtr="0" anchor="ctr" bIns="25400" lIns="25400" spcFirstLastPara="1" rIns="25400" wrap="square" tIns="25400">
            <a:noAutofit/>
          </a:bodyPr>
          <a:lstStyle/>
          <a:p>
            <a:pPr indent="0" lvl="0" marL="0" marR="0" rtl="0" algn="r">
              <a:lnSpc>
                <a:spcPct val="109205"/>
              </a:lnSpc>
              <a:spcBef>
                <a:spcPts val="0"/>
              </a:spcBef>
              <a:spcAft>
                <a:spcPts val="0"/>
              </a:spcAft>
              <a:buClr>
                <a:srgbClr val="201E1D"/>
              </a:buClr>
              <a:buSzPts val="2325"/>
              <a:buFont typeface="Arial"/>
              <a:buNone/>
            </a:pPr>
            <a:r>
              <a:rPr b="1" i="0" lang="en-US" sz="2325" u="none" cap="none" strike="noStrike">
                <a:solidFill>
                  <a:srgbClr val="201E1D"/>
                </a:solidFill>
                <a:latin typeface="Arial"/>
                <a:ea typeface="Arial"/>
                <a:cs typeface="Arial"/>
                <a:sym typeface="Arial"/>
              </a:rPr>
              <a:t>0.4216</a:t>
            </a:r>
            <a:endParaRPr b="0" i="0" sz="2325" u="none" cap="none" strike="noStrike">
              <a:solidFill>
                <a:schemeClr val="dk1"/>
              </a:solidFill>
              <a:latin typeface="Calibri"/>
              <a:ea typeface="Calibri"/>
              <a:cs typeface="Calibri"/>
              <a:sym typeface="Calibri"/>
            </a:endParaRPr>
          </a:p>
        </p:txBody>
      </p:sp>
      <p:sp>
        <p:nvSpPr>
          <p:cNvPr id="269" name="Google Shape;269;p11"/>
          <p:cNvSpPr/>
          <p:nvPr/>
        </p:nvSpPr>
        <p:spPr>
          <a:xfrm>
            <a:off x="8908554" y="6334274"/>
            <a:ext cx="1759446" cy="505271"/>
          </a:xfrm>
          <a:prstGeom prst="rect">
            <a:avLst/>
          </a:prstGeom>
          <a:noFill/>
          <a:ln>
            <a:noFill/>
          </a:ln>
        </p:spPr>
        <p:txBody>
          <a:bodyPr anchorCtr="0" anchor="ctr" bIns="25400" lIns="25400" spcFirstLastPara="1" rIns="25400" wrap="square" tIns="25400">
            <a:noAutofit/>
          </a:bodyPr>
          <a:lstStyle/>
          <a:p>
            <a:pPr indent="0" lvl="0" marL="0" marR="0" rtl="0" algn="r">
              <a:lnSpc>
                <a:spcPct val="109205"/>
              </a:lnSpc>
              <a:spcBef>
                <a:spcPts val="0"/>
              </a:spcBef>
              <a:spcAft>
                <a:spcPts val="0"/>
              </a:spcAft>
              <a:buClr>
                <a:srgbClr val="201E1D"/>
              </a:buClr>
              <a:buSzPts val="2325"/>
              <a:buFont typeface="Arial"/>
              <a:buNone/>
            </a:pPr>
            <a:r>
              <a:rPr b="1" i="0" lang="en-US" sz="2325" u="none" cap="none" strike="noStrike">
                <a:solidFill>
                  <a:srgbClr val="201E1D"/>
                </a:solidFill>
                <a:latin typeface="Arial"/>
                <a:ea typeface="Arial"/>
                <a:cs typeface="Arial"/>
                <a:sym typeface="Arial"/>
              </a:rPr>
              <a:t>0.1873</a:t>
            </a:r>
            <a:endParaRPr b="0" i="0" sz="2325" u="none" cap="none" strike="noStrike">
              <a:solidFill>
                <a:schemeClr val="dk1"/>
              </a:solidFill>
              <a:latin typeface="Calibri"/>
              <a:ea typeface="Calibri"/>
              <a:cs typeface="Calibri"/>
              <a:sym typeface="Calibri"/>
            </a:endParaRPr>
          </a:p>
        </p:txBody>
      </p:sp>
      <p:sp>
        <p:nvSpPr>
          <p:cNvPr id="270" name="Google Shape;270;p11"/>
          <p:cNvSpPr/>
          <p:nvPr/>
        </p:nvSpPr>
        <p:spPr>
          <a:xfrm>
            <a:off x="914400" y="6896695"/>
            <a:ext cx="2084204" cy="495746"/>
          </a:xfrm>
          <a:prstGeom prst="rect">
            <a:avLst/>
          </a:prstGeom>
          <a:noFill/>
          <a:ln>
            <a:noFill/>
          </a:ln>
        </p:spPr>
        <p:txBody>
          <a:bodyPr anchorCtr="0" anchor="ctr" bIns="25400" lIns="25400" spcFirstLastPara="1" rIns="25400" wrap="square" tIns="25400">
            <a:noAutofit/>
          </a:bodyPr>
          <a:lstStyle/>
          <a:p>
            <a:pPr indent="0" lvl="0" marL="0" marR="0" rtl="0" algn="l">
              <a:lnSpc>
                <a:spcPct val="133472"/>
              </a:lnSpc>
              <a:spcBef>
                <a:spcPts val="0"/>
              </a:spcBef>
              <a:spcAft>
                <a:spcPts val="0"/>
              </a:spcAft>
              <a:buClr>
                <a:srgbClr val="605D5D"/>
              </a:buClr>
              <a:buSzPts val="2325"/>
              <a:buFont typeface="Arial"/>
              <a:buNone/>
            </a:pPr>
            <a:r>
              <a:rPr b="0" i="0" lang="en-US" sz="2325" u="none" cap="none" strike="noStrike">
                <a:solidFill>
                  <a:srgbClr val="605D5D"/>
                </a:solidFill>
                <a:latin typeface="Arial"/>
                <a:ea typeface="Arial"/>
                <a:cs typeface="Arial"/>
                <a:sym typeface="Arial"/>
              </a:rPr>
              <a:t>Std. dev.</a:t>
            </a:r>
            <a:endParaRPr b="0" i="0" sz="2325" u="none" cap="none" strike="noStrike">
              <a:solidFill>
                <a:schemeClr val="dk1"/>
              </a:solidFill>
              <a:latin typeface="Calibri"/>
              <a:ea typeface="Calibri"/>
              <a:cs typeface="Calibri"/>
              <a:sym typeface="Calibri"/>
            </a:endParaRPr>
          </a:p>
        </p:txBody>
      </p:sp>
      <p:sp>
        <p:nvSpPr>
          <p:cNvPr id="271" name="Google Shape;271;p11"/>
          <p:cNvSpPr/>
          <p:nvPr/>
        </p:nvSpPr>
        <p:spPr>
          <a:xfrm>
            <a:off x="2528158" y="6896695"/>
            <a:ext cx="3090699"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9B9797"/>
              </a:buClr>
              <a:buSzPts val="2325"/>
              <a:buFont typeface="Arial"/>
              <a:buNone/>
            </a:pPr>
            <a:r>
              <a:rPr b="0" i="0" lang="en-US" sz="2325" u="none" cap="none" strike="noStrike">
                <a:solidFill>
                  <a:srgbClr val="9B9797"/>
                </a:solidFill>
                <a:latin typeface="Arial"/>
                <a:ea typeface="Arial"/>
                <a:cs typeface="Arial"/>
                <a:sym typeface="Arial"/>
              </a:rPr>
              <a:t>—</a:t>
            </a:r>
            <a:endParaRPr b="0" i="0" sz="2325" u="none" cap="none" strike="noStrike">
              <a:solidFill>
                <a:schemeClr val="dk1"/>
              </a:solidFill>
              <a:latin typeface="Calibri"/>
              <a:ea typeface="Calibri"/>
              <a:cs typeface="Calibri"/>
              <a:sym typeface="Calibri"/>
            </a:endParaRPr>
          </a:p>
        </p:txBody>
      </p:sp>
      <p:sp>
        <p:nvSpPr>
          <p:cNvPr id="272" name="Google Shape;272;p11"/>
          <p:cNvSpPr/>
          <p:nvPr/>
        </p:nvSpPr>
        <p:spPr>
          <a:xfrm>
            <a:off x="5450562" y="6896695"/>
            <a:ext cx="1851243"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605D5D"/>
              </a:buClr>
              <a:buSzPts val="2325"/>
              <a:buFont typeface="Arial"/>
              <a:buNone/>
            </a:pPr>
            <a:r>
              <a:rPr b="0" i="0" lang="en-US" sz="2325" u="none" cap="none" strike="noStrike">
                <a:solidFill>
                  <a:srgbClr val="605D5D"/>
                </a:solidFill>
                <a:latin typeface="Arial"/>
                <a:ea typeface="Arial"/>
                <a:cs typeface="Arial"/>
                <a:sym typeface="Arial"/>
              </a:rPr>
              <a:t>0.0038</a:t>
            </a:r>
            <a:endParaRPr b="0" i="0" sz="2325" u="none" cap="none" strike="noStrike">
              <a:solidFill>
                <a:schemeClr val="dk1"/>
              </a:solidFill>
              <a:latin typeface="Calibri"/>
              <a:ea typeface="Calibri"/>
              <a:cs typeface="Calibri"/>
              <a:sym typeface="Calibri"/>
            </a:endParaRPr>
          </a:p>
        </p:txBody>
      </p:sp>
      <p:sp>
        <p:nvSpPr>
          <p:cNvPr id="273" name="Google Shape;273;p11"/>
          <p:cNvSpPr/>
          <p:nvPr/>
        </p:nvSpPr>
        <p:spPr>
          <a:xfrm>
            <a:off x="7133511" y="6896695"/>
            <a:ext cx="1851243"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33472"/>
              </a:lnSpc>
              <a:spcBef>
                <a:spcPts val="0"/>
              </a:spcBef>
              <a:spcAft>
                <a:spcPts val="0"/>
              </a:spcAft>
              <a:buClr>
                <a:srgbClr val="605D5D"/>
              </a:buClr>
              <a:buSzPts val="2325"/>
              <a:buFont typeface="Arial"/>
              <a:buNone/>
            </a:pPr>
            <a:r>
              <a:rPr b="0" i="0" lang="en-US" sz="2325" u="none" cap="none" strike="noStrike">
                <a:solidFill>
                  <a:srgbClr val="605D5D"/>
                </a:solidFill>
                <a:latin typeface="Arial"/>
                <a:ea typeface="Arial"/>
                <a:cs typeface="Arial"/>
                <a:sym typeface="Arial"/>
              </a:rPr>
              <a:t>0.0018</a:t>
            </a:r>
            <a:endParaRPr b="0" i="0" sz="2325" u="none" cap="none" strike="noStrike">
              <a:solidFill>
                <a:schemeClr val="dk1"/>
              </a:solidFill>
              <a:latin typeface="Calibri"/>
              <a:ea typeface="Calibri"/>
              <a:cs typeface="Calibri"/>
              <a:sym typeface="Calibri"/>
            </a:endParaRPr>
          </a:p>
        </p:txBody>
      </p:sp>
      <p:sp>
        <p:nvSpPr>
          <p:cNvPr id="274" name="Google Shape;274;p11"/>
          <p:cNvSpPr/>
          <p:nvPr/>
        </p:nvSpPr>
        <p:spPr>
          <a:xfrm>
            <a:off x="8816429" y="6896695"/>
            <a:ext cx="1851571" cy="495746"/>
          </a:xfrm>
          <a:prstGeom prst="rect">
            <a:avLst/>
          </a:prstGeom>
          <a:noFill/>
          <a:ln>
            <a:noFill/>
          </a:ln>
        </p:spPr>
        <p:txBody>
          <a:bodyPr anchorCtr="0" anchor="ctr" bIns="25400" lIns="25400" spcFirstLastPara="1" rIns="25400" wrap="square" tIns="25400">
            <a:noAutofit/>
          </a:bodyPr>
          <a:lstStyle/>
          <a:p>
            <a:pPr indent="0" lvl="0" marL="0" marR="0" rtl="0" algn="r">
              <a:lnSpc>
                <a:spcPct val="109205"/>
              </a:lnSpc>
              <a:spcBef>
                <a:spcPts val="0"/>
              </a:spcBef>
              <a:spcAft>
                <a:spcPts val="0"/>
              </a:spcAft>
              <a:buClr>
                <a:srgbClr val="AE1800"/>
              </a:buClr>
              <a:buSzPts val="2325"/>
              <a:buFont typeface="Arial"/>
              <a:buNone/>
            </a:pPr>
            <a:r>
              <a:rPr b="1" i="0" lang="en-US" sz="2325" u="none" cap="none" strike="noStrike">
                <a:solidFill>
                  <a:srgbClr val="AE1800"/>
                </a:solidFill>
                <a:latin typeface="Arial"/>
                <a:ea typeface="Arial"/>
                <a:cs typeface="Arial"/>
                <a:sym typeface="Arial"/>
              </a:rPr>
              <a:t>0.0002</a:t>
            </a:r>
            <a:endParaRPr b="0" i="0" sz="2325" u="none" cap="none" strike="noStrike">
              <a:solidFill>
                <a:schemeClr val="dk1"/>
              </a:solidFill>
              <a:latin typeface="Calibri"/>
              <a:ea typeface="Calibri"/>
              <a:cs typeface="Calibri"/>
              <a:sym typeface="Calibri"/>
            </a:endParaRPr>
          </a:p>
        </p:txBody>
      </p:sp>
      <p:sp>
        <p:nvSpPr>
          <p:cNvPr id="275" name="Google Shape;275;p11"/>
          <p:cNvSpPr/>
          <p:nvPr/>
        </p:nvSpPr>
        <p:spPr>
          <a:xfrm>
            <a:off x="11277600" y="3039666"/>
            <a:ext cx="6096000" cy="5707261"/>
          </a:xfrm>
          <a:prstGeom prst="rect">
            <a:avLst/>
          </a:prstGeom>
          <a:solidFill>
            <a:srgbClr val="EC30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1"/>
          <p:cNvSpPr/>
          <p:nvPr/>
        </p:nvSpPr>
        <p:spPr>
          <a:xfrm>
            <a:off x="11734800" y="3496866"/>
            <a:ext cx="569976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FFE0D9"/>
              </a:buClr>
              <a:buSzPts val="1800"/>
              <a:buFont typeface="Arial"/>
              <a:buNone/>
            </a:pPr>
            <a:r>
              <a:rPr b="1" lang="en-US" sz="1800">
                <a:solidFill>
                  <a:srgbClr val="FFE0D9"/>
                </a:solidFill>
              </a:rPr>
              <a:t>VALIDATION SEED VARIATION</a:t>
            </a:r>
            <a:endParaRPr b="0" i="0" sz="1800" u="none" cap="none" strike="noStrike">
              <a:solidFill>
                <a:schemeClr val="dk1"/>
              </a:solidFill>
              <a:latin typeface="Calibri"/>
              <a:ea typeface="Calibri"/>
              <a:cs typeface="Calibri"/>
              <a:sym typeface="Calibri"/>
            </a:endParaRPr>
          </a:p>
        </p:txBody>
      </p:sp>
      <p:sp>
        <p:nvSpPr>
          <p:cNvPr id="277" name="Google Shape;277;p11"/>
          <p:cNvSpPr/>
          <p:nvPr/>
        </p:nvSpPr>
        <p:spPr>
          <a:xfrm>
            <a:off x="11734800" y="4041577"/>
            <a:ext cx="5699760" cy="876300"/>
          </a:xfrm>
          <a:prstGeom prst="rect">
            <a:avLst/>
          </a:prstGeom>
          <a:noFill/>
          <a:ln>
            <a:noFill/>
          </a:ln>
        </p:spPr>
        <p:txBody>
          <a:bodyPr anchorCtr="0" anchor="t" bIns="25400" lIns="25400" spcFirstLastPara="1" rIns="25400" wrap="square" tIns="25400">
            <a:noAutofit/>
          </a:bodyPr>
          <a:lstStyle/>
          <a:p>
            <a:pPr indent="0" lvl="0" marL="0" marR="0" rtl="0" algn="l">
              <a:lnSpc>
                <a:spcPct val="70968"/>
              </a:lnSpc>
              <a:spcBef>
                <a:spcPts val="0"/>
              </a:spcBef>
              <a:spcAft>
                <a:spcPts val="0"/>
              </a:spcAft>
              <a:buClr>
                <a:srgbClr val="F3F2F2"/>
              </a:buClr>
              <a:buSzPts val="6600"/>
              <a:buFont typeface="Arial"/>
              <a:buNone/>
            </a:pPr>
            <a:r>
              <a:rPr b="1" i="0" lang="en-US" sz="6600" u="none" cap="none" strike="noStrike">
                <a:solidFill>
                  <a:srgbClr val="F3F2F2"/>
                </a:solidFill>
                <a:latin typeface="Arial"/>
                <a:ea typeface="Arial"/>
                <a:cs typeface="Arial"/>
                <a:sym typeface="Arial"/>
              </a:rPr>
              <a:t>0.0002</a:t>
            </a:r>
            <a:endParaRPr b="0" i="0" sz="6600" u="none" cap="none" strike="noStrike">
              <a:solidFill>
                <a:schemeClr val="dk1"/>
              </a:solidFill>
              <a:latin typeface="Calibri"/>
              <a:ea typeface="Calibri"/>
              <a:cs typeface="Calibri"/>
              <a:sym typeface="Calibri"/>
            </a:endParaRPr>
          </a:p>
        </p:txBody>
      </p:sp>
      <p:sp>
        <p:nvSpPr>
          <p:cNvPr id="278" name="Google Shape;278;p11"/>
          <p:cNvSpPr/>
          <p:nvPr/>
        </p:nvSpPr>
        <p:spPr>
          <a:xfrm>
            <a:off x="11734800" y="5070277"/>
            <a:ext cx="5337048" cy="1509713"/>
          </a:xfrm>
          <a:prstGeom prst="rect">
            <a:avLst/>
          </a:prstGeom>
          <a:noFill/>
          <a:ln>
            <a:noFill/>
          </a:ln>
        </p:spPr>
        <p:txBody>
          <a:bodyPr anchorCtr="0" anchor="t" bIns="25400" lIns="25400" spcFirstLastPara="1" rIns="25400" wrap="square" tIns="25400">
            <a:noAutofit/>
          </a:bodyPr>
          <a:lstStyle/>
          <a:p>
            <a:pPr indent="0" lvl="0" marL="0" marR="0" rtl="0" algn="l">
              <a:lnSpc>
                <a:spcPct val="120750"/>
              </a:lnSpc>
              <a:spcBef>
                <a:spcPts val="0"/>
              </a:spcBef>
              <a:spcAft>
                <a:spcPts val="0"/>
              </a:spcAft>
              <a:buClr>
                <a:srgbClr val="FFF2EF"/>
              </a:buClr>
              <a:buSzPts val="2100"/>
              <a:buFont typeface="Arial"/>
              <a:buNone/>
            </a:pPr>
            <a:r>
              <a:rPr b="0" i="0" lang="en-US" sz="2100" u="none" cap="none" strike="noStrike">
                <a:solidFill>
                  <a:srgbClr val="FFF2EF"/>
                </a:solidFill>
                <a:latin typeface="Arial"/>
                <a:ea typeface="Arial"/>
                <a:cs typeface="Arial"/>
                <a:sym typeface="Arial"/>
              </a:rPr>
              <a:t>Three-seed standard deviation in validation BLEU-4. An improvement smaller than roughly this spread cannot be distinguished from seed variation.</a:t>
            </a:r>
            <a:endParaRPr b="0" i="0" sz="2100" u="none" cap="none" strike="noStrike">
              <a:solidFill>
                <a:schemeClr val="dk1"/>
              </a:solidFill>
              <a:latin typeface="Calibri"/>
              <a:ea typeface="Calibri"/>
              <a:cs typeface="Calibri"/>
              <a:sym typeface="Calibri"/>
            </a:endParaRPr>
          </a:p>
        </p:txBody>
      </p:sp>
      <p:sp>
        <p:nvSpPr>
          <p:cNvPr id="279" name="Google Shape;279;p11"/>
          <p:cNvSpPr/>
          <p:nvPr/>
        </p:nvSpPr>
        <p:spPr>
          <a:xfrm>
            <a:off x="11734800" y="6732389"/>
            <a:ext cx="5181600" cy="19050"/>
          </a:xfrm>
          <a:prstGeom prst="rect">
            <a:avLst/>
          </a:prstGeom>
          <a:solidFill>
            <a:srgbClr val="FFC4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1"/>
          <p:cNvSpPr/>
          <p:nvPr/>
        </p:nvSpPr>
        <p:spPr>
          <a:xfrm>
            <a:off x="11734800" y="6922889"/>
            <a:ext cx="5337048" cy="1404938"/>
          </a:xfrm>
          <a:prstGeom prst="rect">
            <a:avLst/>
          </a:prstGeom>
          <a:noFill/>
          <a:ln>
            <a:noFill/>
          </a:ln>
        </p:spPr>
        <p:txBody>
          <a:bodyPr anchorCtr="0" anchor="t" bIns="25400" lIns="25400" spcFirstLastPara="1" rIns="25400" wrap="square" tIns="25400">
            <a:noAutofit/>
          </a:bodyPr>
          <a:lstStyle/>
          <a:p>
            <a:pPr indent="0" lvl="0" marL="0" marR="0" rtl="0" algn="l">
              <a:lnSpc>
                <a:spcPct val="115742"/>
              </a:lnSpc>
              <a:spcBef>
                <a:spcPts val="0"/>
              </a:spcBef>
              <a:spcAft>
                <a:spcPts val="0"/>
              </a:spcAft>
              <a:buClr>
                <a:srgbClr val="FFE0D9"/>
              </a:buClr>
              <a:buSzPts val="1950"/>
              <a:buFont typeface="Arial"/>
              <a:buNone/>
            </a:pPr>
            <a:r>
              <a:rPr b="0" i="0" lang="en-US" sz="1950" u="none" cap="none" strike="noStrike">
                <a:solidFill>
                  <a:srgbClr val="FFE0D9"/>
                </a:solidFill>
                <a:latin typeface="Arial"/>
                <a:ea typeface="Arial"/>
                <a:cs typeface="Arial"/>
                <a:sym typeface="Arial"/>
              </a:rPr>
              <a:t>The floor is model-specific: the attention decoders ran 0.0009–0.0035, so we judge each comparison against the noisier of the two models.</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285" name="Shape 285"/>
        <p:cNvGrpSpPr/>
        <p:nvPr/>
      </p:nvGrpSpPr>
      <p:grpSpPr>
        <a:xfrm>
          <a:off x="0" y="0"/>
          <a:ext cx="0" cy="0"/>
          <a:chOff x="0" y="0"/>
          <a:chExt cx="0" cy="0"/>
        </a:xfrm>
      </p:grpSpPr>
      <p:sp>
        <p:nvSpPr>
          <p:cNvPr id="286" name="Google Shape;286;p12"/>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4 — EVALUATION, RESULTS, AND ANALYSIS</a:t>
            </a:r>
            <a:endParaRPr b="0" i="0" sz="1800" u="none" cap="none" strike="noStrike">
              <a:solidFill>
                <a:schemeClr val="dk1"/>
              </a:solidFill>
              <a:latin typeface="Calibri"/>
              <a:ea typeface="Calibri"/>
              <a:cs typeface="Calibri"/>
              <a:sym typeface="Calibri"/>
            </a:endParaRPr>
          </a:p>
        </p:txBody>
      </p:sp>
      <p:sp>
        <p:nvSpPr>
          <p:cNvPr id="287" name="Google Shape;287;p12"/>
          <p:cNvSpPr/>
          <p:nvPr/>
        </p:nvSpPr>
        <p:spPr>
          <a:xfrm>
            <a:off x="914400" y="1440061"/>
            <a:ext cx="14716125" cy="1305818"/>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Validation loss and validation BLEU-4 peak at different epochs</a:t>
            </a:r>
            <a:endParaRPr b="0" i="0" sz="4800" u="none" cap="none" strike="noStrike">
              <a:solidFill>
                <a:schemeClr val="dk1"/>
              </a:solidFill>
              <a:latin typeface="Calibri"/>
              <a:ea typeface="Calibri"/>
              <a:cs typeface="Calibri"/>
              <a:sym typeface="Calibri"/>
            </a:endParaRPr>
          </a:p>
        </p:txBody>
      </p:sp>
      <p:sp>
        <p:nvSpPr>
          <p:cNvPr id="288" name="Google Shape;288;p12"/>
          <p:cNvSpPr/>
          <p:nvPr/>
        </p:nvSpPr>
        <p:spPr>
          <a:xfrm>
            <a:off x="914400" y="2860179"/>
            <a:ext cx="18105120" cy="432346"/>
          </a:xfrm>
          <a:prstGeom prst="rect">
            <a:avLst/>
          </a:prstGeom>
          <a:noFill/>
          <a:ln>
            <a:noFill/>
          </a:ln>
        </p:spPr>
        <p:txBody>
          <a:bodyPr anchorCtr="0" anchor="t" bIns="25400" lIns="25400" spcFirstLastPara="1" rIns="25400" wrap="square" tIns="25400">
            <a:noAutofit/>
          </a:bodyPr>
          <a:lstStyle/>
          <a:p>
            <a:pPr indent="0" lvl="0" marL="0" marR="0" rtl="0" algn="l">
              <a:lnSpc>
                <a:spcPct val="121765"/>
              </a:lnSpc>
              <a:spcBef>
                <a:spcPts val="0"/>
              </a:spcBef>
              <a:spcAft>
                <a:spcPts val="0"/>
              </a:spcAft>
              <a:buClr>
                <a:srgbClr val="605D5D"/>
              </a:buClr>
              <a:buSzPts val="2250"/>
              <a:buFont typeface="Arial"/>
              <a:buNone/>
            </a:pPr>
            <a:r>
              <a:rPr b="0" i="0" lang="en-US" sz="2250" u="none" cap="none" strike="noStrike">
                <a:solidFill>
                  <a:srgbClr val="605D5D"/>
                </a:solidFill>
                <a:latin typeface="Arial"/>
                <a:ea typeface="Arial"/>
                <a:cs typeface="Arial"/>
                <a:sym typeface="Arial"/>
              </a:rPr>
              <a:t>Baseline, seed 1. Loss reaches a broad minimum around epochs 9–13; BLEU-4 peaks at epoch 8.</a:t>
            </a:r>
            <a:endParaRPr b="0" i="0" sz="2250" u="none" cap="none" strike="noStrike">
              <a:solidFill>
                <a:schemeClr val="dk1"/>
              </a:solidFill>
              <a:latin typeface="Calibri"/>
              <a:ea typeface="Calibri"/>
              <a:cs typeface="Calibri"/>
              <a:sym typeface="Calibri"/>
            </a:endParaRPr>
          </a:p>
        </p:txBody>
      </p:sp>
      <p:pic>
        <p:nvPicPr>
          <p:cNvPr id="289" name="Google Shape;289;p12"/>
          <p:cNvPicPr preferRelativeResize="0"/>
          <p:nvPr/>
        </p:nvPicPr>
        <p:blipFill rotWithShape="1">
          <a:blip r:embed="rId3">
            <a:alphaModFix/>
          </a:blip>
          <a:srcRect b="0" l="0" r="0" t="0"/>
          <a:stretch/>
        </p:blipFill>
        <p:spPr>
          <a:xfrm>
            <a:off x="1877673" y="3616375"/>
            <a:ext cx="6112554" cy="4517975"/>
          </a:xfrm>
          <a:prstGeom prst="rect">
            <a:avLst/>
          </a:prstGeom>
          <a:noFill/>
          <a:ln>
            <a:noFill/>
          </a:ln>
        </p:spPr>
      </p:pic>
      <p:sp>
        <p:nvSpPr>
          <p:cNvPr id="290" name="Google Shape;290;p12"/>
          <p:cNvSpPr/>
          <p:nvPr/>
        </p:nvSpPr>
        <p:spPr>
          <a:xfrm>
            <a:off x="1276350" y="6895207"/>
            <a:ext cx="1993344" cy="42192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05D5D"/>
              </a:buClr>
              <a:buSzPts val="1950"/>
              <a:buFont typeface="Arial"/>
              <a:buNone/>
            </a:pPr>
            <a:r>
              <a:rPr b="1" i="0" lang="en-US" sz="1950" u="none" cap="none" strike="noStrike">
                <a:solidFill>
                  <a:srgbClr val="605D5D"/>
                </a:solidFill>
                <a:latin typeface="Arial"/>
                <a:ea typeface="Arial"/>
                <a:cs typeface="Arial"/>
                <a:sym typeface="Arial"/>
              </a:rPr>
              <a:t>FIGURE 1(A)</a:t>
            </a:r>
            <a:endParaRPr b="0" i="0" sz="1950" u="none" cap="none" strike="noStrike">
              <a:solidFill>
                <a:schemeClr val="dk1"/>
              </a:solidFill>
              <a:latin typeface="Calibri"/>
              <a:ea typeface="Calibri"/>
              <a:cs typeface="Calibri"/>
              <a:sym typeface="Calibri"/>
            </a:endParaRPr>
          </a:p>
        </p:txBody>
      </p:sp>
      <p:sp>
        <p:nvSpPr>
          <p:cNvPr id="291" name="Google Shape;291;p12"/>
          <p:cNvSpPr/>
          <p:nvPr/>
        </p:nvSpPr>
        <p:spPr>
          <a:xfrm>
            <a:off x="1959150" y="8060100"/>
            <a:ext cx="5949600" cy="398100"/>
          </a:xfrm>
          <a:prstGeom prst="rect">
            <a:avLst/>
          </a:prstGeom>
          <a:noFill/>
          <a:ln>
            <a:noFill/>
          </a:ln>
        </p:spPr>
        <p:txBody>
          <a:bodyPr anchorCtr="0" anchor="t" bIns="25400" lIns="25400" spcFirstLastPara="1" rIns="25400" wrap="square" tIns="25400">
            <a:noAutofit/>
          </a:bodyPr>
          <a:lstStyle/>
          <a:p>
            <a:pPr indent="0" lvl="0" marL="0" marR="0" rtl="0" algn="l">
              <a:lnSpc>
                <a:spcPct val="118125"/>
              </a:lnSpc>
              <a:spcBef>
                <a:spcPts val="0"/>
              </a:spcBef>
              <a:spcAft>
                <a:spcPts val="0"/>
              </a:spcAft>
              <a:buClr>
                <a:srgbClr val="444141"/>
              </a:buClr>
              <a:buSzPts val="2100"/>
              <a:buFont typeface="Arial"/>
              <a:buNone/>
            </a:pPr>
            <a:r>
              <a:rPr b="0" i="0" lang="en-US" sz="2100" u="none" cap="none" strike="noStrike">
                <a:solidFill>
                  <a:srgbClr val="444141"/>
                </a:solidFill>
                <a:latin typeface="Arial"/>
                <a:ea typeface="Arial"/>
                <a:cs typeface="Arial"/>
                <a:sym typeface="Arial"/>
              </a:rPr>
              <a:t>Training vs. validation cross-entropy loss (seed 1)</a:t>
            </a:r>
            <a:endParaRPr b="0" i="0" sz="2100" u="none" cap="none" strike="noStrike">
              <a:solidFill>
                <a:schemeClr val="dk1"/>
              </a:solidFill>
              <a:latin typeface="Calibri"/>
              <a:ea typeface="Calibri"/>
              <a:cs typeface="Calibri"/>
              <a:sym typeface="Calibri"/>
            </a:endParaRPr>
          </a:p>
        </p:txBody>
      </p:sp>
      <p:pic>
        <p:nvPicPr>
          <p:cNvPr id="292" name="Google Shape;292;p12"/>
          <p:cNvPicPr preferRelativeResize="0"/>
          <p:nvPr/>
        </p:nvPicPr>
        <p:blipFill rotWithShape="1">
          <a:blip r:embed="rId4">
            <a:alphaModFix/>
          </a:blip>
          <a:srcRect b="0" l="0" r="0" t="0"/>
          <a:stretch/>
        </p:blipFill>
        <p:spPr>
          <a:xfrm>
            <a:off x="10293191" y="3616375"/>
            <a:ext cx="6121718" cy="4517975"/>
          </a:xfrm>
          <a:prstGeom prst="rect">
            <a:avLst/>
          </a:prstGeom>
          <a:noFill/>
          <a:ln>
            <a:noFill/>
          </a:ln>
        </p:spPr>
      </p:pic>
      <p:sp>
        <p:nvSpPr>
          <p:cNvPr id="293" name="Google Shape;293;p12"/>
          <p:cNvSpPr/>
          <p:nvPr/>
        </p:nvSpPr>
        <p:spPr>
          <a:xfrm>
            <a:off x="9696450" y="6895207"/>
            <a:ext cx="1992526" cy="42192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05D5D"/>
              </a:buClr>
              <a:buSzPts val="1950"/>
              <a:buFont typeface="Arial"/>
              <a:buNone/>
            </a:pPr>
            <a:r>
              <a:rPr b="1" i="0" lang="en-US" sz="1950" u="none" cap="none" strike="noStrike">
                <a:solidFill>
                  <a:srgbClr val="605D5D"/>
                </a:solidFill>
                <a:latin typeface="Arial"/>
                <a:ea typeface="Arial"/>
                <a:cs typeface="Arial"/>
                <a:sym typeface="Arial"/>
              </a:rPr>
              <a:t>FIGURE 1(B)</a:t>
            </a:r>
            <a:endParaRPr b="0" i="0" sz="1950" u="none" cap="none" strike="noStrike">
              <a:solidFill>
                <a:schemeClr val="dk1"/>
              </a:solidFill>
              <a:latin typeface="Calibri"/>
              <a:ea typeface="Calibri"/>
              <a:cs typeface="Calibri"/>
              <a:sym typeface="Calibri"/>
            </a:endParaRPr>
          </a:p>
        </p:txBody>
      </p:sp>
      <p:sp>
        <p:nvSpPr>
          <p:cNvPr id="294" name="Google Shape;294;p12"/>
          <p:cNvSpPr/>
          <p:nvPr/>
        </p:nvSpPr>
        <p:spPr>
          <a:xfrm>
            <a:off x="9815100" y="8060098"/>
            <a:ext cx="7077900" cy="398100"/>
          </a:xfrm>
          <a:prstGeom prst="rect">
            <a:avLst/>
          </a:prstGeom>
          <a:noFill/>
          <a:ln>
            <a:noFill/>
          </a:ln>
        </p:spPr>
        <p:txBody>
          <a:bodyPr anchorCtr="0" anchor="t" bIns="25400" lIns="25400" spcFirstLastPara="1" rIns="25400" wrap="square" tIns="25400">
            <a:noAutofit/>
          </a:bodyPr>
          <a:lstStyle/>
          <a:p>
            <a:pPr indent="0" lvl="0" marL="0" marR="0" rtl="0" algn="l">
              <a:lnSpc>
                <a:spcPct val="118125"/>
              </a:lnSpc>
              <a:spcBef>
                <a:spcPts val="0"/>
              </a:spcBef>
              <a:spcAft>
                <a:spcPts val="0"/>
              </a:spcAft>
              <a:buClr>
                <a:srgbClr val="444141"/>
              </a:buClr>
              <a:buSzPts val="2100"/>
              <a:buFont typeface="Arial"/>
              <a:buNone/>
            </a:pPr>
            <a:r>
              <a:rPr b="0" i="0" lang="en-US" sz="2100" u="none" cap="none" strike="noStrike">
                <a:solidFill>
                  <a:srgbClr val="444141"/>
                </a:solidFill>
                <a:latin typeface="Arial"/>
                <a:ea typeface="Arial"/>
                <a:cs typeface="Arial"/>
                <a:sym typeface="Arial"/>
              </a:rPr>
              <a:t>Validation BLEU-4 with selected-epoch marker (epoch 8)</a:t>
            </a:r>
            <a:endParaRPr b="0" i="0" sz="2100" u="none" cap="none" strike="noStrike">
              <a:solidFill>
                <a:schemeClr val="dk1"/>
              </a:solidFill>
              <a:latin typeface="Calibri"/>
              <a:ea typeface="Calibri"/>
              <a:cs typeface="Calibri"/>
              <a:sym typeface="Calibri"/>
            </a:endParaRPr>
          </a:p>
        </p:txBody>
      </p:sp>
      <p:sp>
        <p:nvSpPr>
          <p:cNvPr id="295" name="Google Shape;295;p12"/>
          <p:cNvSpPr/>
          <p:nvPr/>
        </p:nvSpPr>
        <p:spPr>
          <a:xfrm>
            <a:off x="914400" y="8458200"/>
            <a:ext cx="142875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2"/>
          <p:cNvSpPr/>
          <p:nvPr/>
        </p:nvSpPr>
        <p:spPr>
          <a:xfrm>
            <a:off x="914400" y="8763000"/>
            <a:ext cx="14716125" cy="838200"/>
          </a:xfrm>
          <a:prstGeom prst="rect">
            <a:avLst/>
          </a:prstGeom>
          <a:noFill/>
          <a:ln>
            <a:noFill/>
          </a:ln>
        </p:spPr>
        <p:txBody>
          <a:bodyPr anchorCtr="0" anchor="t" bIns="25400" lIns="25400" spcFirstLastPara="1" rIns="25400" wrap="square" tIns="25400">
            <a:noAutofit/>
          </a:bodyPr>
          <a:lstStyle/>
          <a:p>
            <a:pPr indent="0" lvl="0" marL="0" marR="0" rtl="0" algn="l">
              <a:lnSpc>
                <a:spcPct val="123529"/>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Checkpointing on loss would have shipped a different — and by the metric we report, worse — model. This is why selection is on BLEU-4.</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301" name="Shape 301"/>
        <p:cNvGrpSpPr/>
        <p:nvPr/>
      </p:nvGrpSpPr>
      <p:grpSpPr>
        <a:xfrm>
          <a:off x="0" y="0"/>
          <a:ext cx="0" cy="0"/>
          <a:chOff x="0" y="0"/>
          <a:chExt cx="0" cy="0"/>
        </a:xfrm>
      </p:grpSpPr>
      <p:sp>
        <p:nvSpPr>
          <p:cNvPr id="302" name="Google Shape;302;p13"/>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4 — EVALUATION, RESULTS, AND ANALYSIS</a:t>
            </a:r>
            <a:endParaRPr b="0" i="0" sz="1800" u="none" cap="none" strike="noStrike">
              <a:solidFill>
                <a:schemeClr val="dk1"/>
              </a:solidFill>
              <a:latin typeface="Calibri"/>
              <a:ea typeface="Calibri"/>
              <a:cs typeface="Calibri"/>
              <a:sym typeface="Calibri"/>
            </a:endParaRPr>
          </a:p>
        </p:txBody>
      </p:sp>
      <p:sp>
        <p:nvSpPr>
          <p:cNvPr id="303" name="Google Shape;303;p13"/>
          <p:cNvSpPr/>
          <p:nvPr/>
        </p:nvSpPr>
        <p:spPr>
          <a:xfrm>
            <a:off x="914400" y="1440061"/>
            <a:ext cx="14716125" cy="1226641"/>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201E1D"/>
                </a:solidFill>
                <a:latin typeface="Arial"/>
                <a:ea typeface="Arial"/>
                <a:cs typeface="Arial"/>
                <a:sym typeface="Arial"/>
              </a:rPr>
              <a:t>Attention is not a free win: gains depend on the mechanism</a:t>
            </a:r>
            <a:endParaRPr/>
          </a:p>
        </p:txBody>
      </p:sp>
      <p:sp>
        <p:nvSpPr>
          <p:cNvPr id="304" name="Google Shape;304;p13"/>
          <p:cNvSpPr/>
          <p:nvPr/>
        </p:nvSpPr>
        <p:spPr>
          <a:xfrm>
            <a:off x="914400" y="2761952"/>
            <a:ext cx="18105120" cy="419249"/>
          </a:xfrm>
          <a:prstGeom prst="rect">
            <a:avLst/>
          </a:prstGeom>
          <a:noFill/>
          <a:ln>
            <a:noFill/>
          </a:ln>
        </p:spPr>
        <p:txBody>
          <a:bodyPr anchorCtr="0" anchor="t" bIns="25400" lIns="25400" spcFirstLastPara="1" rIns="25400" wrap="square" tIns="25400">
            <a:noAutofit/>
          </a:bodyPr>
          <a:lstStyle/>
          <a:p>
            <a:pPr indent="0" lvl="0" marL="0" marR="0" rtl="0" algn="l">
              <a:lnSpc>
                <a:spcPct val="121273"/>
              </a:lnSpc>
              <a:spcBef>
                <a:spcPts val="0"/>
              </a:spcBef>
              <a:spcAft>
                <a:spcPts val="0"/>
              </a:spcAft>
              <a:buClr>
                <a:srgbClr val="605D5D"/>
              </a:buClr>
              <a:buSzPts val="2175"/>
              <a:buFont typeface="Arial"/>
              <a:buNone/>
            </a:pPr>
            <a:r>
              <a:rPr b="0" i="0" lang="en-US" sz="2175" u="none" cap="none" strike="noStrike">
                <a:solidFill>
                  <a:srgbClr val="605D5D"/>
                </a:solidFill>
                <a:latin typeface="Arial"/>
                <a:ea typeface="Arial"/>
                <a:cs typeface="Arial"/>
                <a:sym typeface="Arial"/>
              </a:rPr>
              <a:t>Validation BLEU-4, mean over three matched seeds. Δ columns are per-seed differences against the baseline at the same seed.</a:t>
            </a:r>
            <a:endParaRPr b="0" i="0" sz="2175" u="none" cap="none" strike="noStrike">
              <a:solidFill>
                <a:schemeClr val="dk1"/>
              </a:solidFill>
              <a:latin typeface="Calibri"/>
              <a:ea typeface="Calibri"/>
              <a:cs typeface="Calibri"/>
              <a:sym typeface="Calibri"/>
            </a:endParaRPr>
          </a:p>
        </p:txBody>
      </p:sp>
      <p:sp>
        <p:nvSpPr>
          <p:cNvPr id="305" name="Google Shape;305;p13"/>
          <p:cNvSpPr/>
          <p:nvPr/>
        </p:nvSpPr>
        <p:spPr>
          <a:xfrm>
            <a:off x="914400" y="3944987"/>
            <a:ext cx="3737967"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3"/>
          <p:cNvSpPr/>
          <p:nvPr/>
        </p:nvSpPr>
        <p:spPr>
          <a:xfrm>
            <a:off x="914400" y="3466951"/>
            <a:ext cx="3850106" cy="382786"/>
          </a:xfrm>
          <a:prstGeom prst="rect">
            <a:avLst/>
          </a:prstGeom>
          <a:noFill/>
          <a:ln>
            <a:noFill/>
          </a:ln>
        </p:spPr>
        <p:txBody>
          <a:bodyPr anchorCtr="0" anchor="ctr" bIns="25400" lIns="25400" spcFirstLastPara="1" rIns="25400" wrap="square" tIns="25400">
            <a:noAutofit/>
          </a:bodyPr>
          <a:lstStyle/>
          <a:p>
            <a:pPr indent="0" lvl="0" marL="0" marR="0" rtl="0" algn="l">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MODEL</a:t>
            </a:r>
            <a:endParaRPr b="0" i="0" sz="1800" u="none" cap="none" strike="noStrike">
              <a:solidFill>
                <a:schemeClr val="dk1"/>
              </a:solidFill>
              <a:latin typeface="Calibri"/>
              <a:ea typeface="Calibri"/>
              <a:cs typeface="Calibri"/>
              <a:sym typeface="Calibri"/>
            </a:endParaRPr>
          </a:p>
        </p:txBody>
      </p:sp>
      <p:sp>
        <p:nvSpPr>
          <p:cNvPr id="307" name="Google Shape;307;p13"/>
          <p:cNvSpPr/>
          <p:nvPr/>
        </p:nvSpPr>
        <p:spPr>
          <a:xfrm>
            <a:off x="4652367" y="3944987"/>
            <a:ext cx="174679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3"/>
          <p:cNvSpPr/>
          <p:nvPr/>
        </p:nvSpPr>
        <p:spPr>
          <a:xfrm>
            <a:off x="4576167" y="3466951"/>
            <a:ext cx="1822996"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PARAMS</a:t>
            </a:r>
            <a:endParaRPr b="0" i="0" sz="1800" u="none" cap="none" strike="noStrike">
              <a:solidFill>
                <a:schemeClr val="dk1"/>
              </a:solidFill>
              <a:latin typeface="Calibri"/>
              <a:ea typeface="Calibri"/>
              <a:cs typeface="Calibri"/>
              <a:sym typeface="Calibri"/>
            </a:endParaRPr>
          </a:p>
        </p:txBody>
      </p:sp>
      <p:sp>
        <p:nvSpPr>
          <p:cNvPr id="309" name="Google Shape;309;p13"/>
          <p:cNvSpPr/>
          <p:nvPr/>
        </p:nvSpPr>
        <p:spPr>
          <a:xfrm>
            <a:off x="6399163" y="3944987"/>
            <a:ext cx="89713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3"/>
          <p:cNvSpPr/>
          <p:nvPr/>
        </p:nvSpPr>
        <p:spPr>
          <a:xfrm>
            <a:off x="6322963" y="3466951"/>
            <a:ext cx="973336"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LR</a:t>
            </a:r>
            <a:endParaRPr b="0" i="0" sz="1800" u="none" cap="none" strike="noStrike">
              <a:solidFill>
                <a:schemeClr val="dk1"/>
              </a:solidFill>
              <a:latin typeface="Calibri"/>
              <a:ea typeface="Calibri"/>
              <a:cs typeface="Calibri"/>
              <a:sym typeface="Calibri"/>
            </a:endParaRPr>
          </a:p>
        </p:txBody>
      </p:sp>
      <p:sp>
        <p:nvSpPr>
          <p:cNvPr id="311" name="Google Shape;311;p13"/>
          <p:cNvSpPr/>
          <p:nvPr/>
        </p:nvSpPr>
        <p:spPr>
          <a:xfrm>
            <a:off x="7296299" y="3944987"/>
            <a:ext cx="2392114"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3"/>
          <p:cNvSpPr/>
          <p:nvPr/>
        </p:nvSpPr>
        <p:spPr>
          <a:xfrm>
            <a:off x="7220099" y="3466951"/>
            <a:ext cx="2468314"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VAL BLEU-4</a:t>
            </a:r>
            <a:endParaRPr b="0" i="0" sz="1800" u="none" cap="none" strike="noStrike">
              <a:solidFill>
                <a:schemeClr val="dk1"/>
              </a:solidFill>
              <a:latin typeface="Calibri"/>
              <a:ea typeface="Calibri"/>
              <a:cs typeface="Calibri"/>
              <a:sym typeface="Calibri"/>
            </a:endParaRPr>
          </a:p>
        </p:txBody>
      </p:sp>
      <p:sp>
        <p:nvSpPr>
          <p:cNvPr id="313" name="Google Shape;313;p13"/>
          <p:cNvSpPr/>
          <p:nvPr/>
        </p:nvSpPr>
        <p:spPr>
          <a:xfrm>
            <a:off x="9688413" y="3944987"/>
            <a:ext cx="2058591"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3"/>
          <p:cNvSpPr/>
          <p:nvPr/>
        </p:nvSpPr>
        <p:spPr>
          <a:xfrm>
            <a:off x="9612213" y="3466951"/>
            <a:ext cx="2134791"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SEED STD</a:t>
            </a:r>
            <a:endParaRPr b="0" i="0" sz="1800" u="none" cap="none" strike="noStrike">
              <a:solidFill>
                <a:schemeClr val="dk1"/>
              </a:solidFill>
              <a:latin typeface="Calibri"/>
              <a:ea typeface="Calibri"/>
              <a:cs typeface="Calibri"/>
              <a:sym typeface="Calibri"/>
            </a:endParaRPr>
          </a:p>
        </p:txBody>
      </p:sp>
      <p:sp>
        <p:nvSpPr>
          <p:cNvPr id="315" name="Google Shape;315;p13"/>
          <p:cNvSpPr/>
          <p:nvPr/>
        </p:nvSpPr>
        <p:spPr>
          <a:xfrm>
            <a:off x="11747004" y="3944987"/>
            <a:ext cx="562659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3"/>
          <p:cNvSpPr/>
          <p:nvPr/>
        </p:nvSpPr>
        <p:spPr>
          <a:xfrm>
            <a:off x="11578206" y="3466951"/>
            <a:ext cx="5795394"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Δ VS BASELINE, PER SEED</a:t>
            </a:r>
            <a:endParaRPr b="0" i="0" sz="1800" u="none" cap="none" strike="noStrike">
              <a:solidFill>
                <a:schemeClr val="dk1"/>
              </a:solidFill>
              <a:latin typeface="Calibri"/>
              <a:ea typeface="Calibri"/>
              <a:cs typeface="Calibri"/>
              <a:sym typeface="Calibri"/>
            </a:endParaRPr>
          </a:p>
        </p:txBody>
      </p:sp>
      <p:sp>
        <p:nvSpPr>
          <p:cNvPr id="317" name="Google Shape;317;p13"/>
          <p:cNvSpPr/>
          <p:nvPr/>
        </p:nvSpPr>
        <p:spPr>
          <a:xfrm>
            <a:off x="914400" y="4754017"/>
            <a:ext cx="3737967"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3"/>
          <p:cNvSpPr/>
          <p:nvPr/>
        </p:nvSpPr>
        <p:spPr>
          <a:xfrm>
            <a:off x="914400" y="4145012"/>
            <a:ext cx="3850106"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09634"/>
              </a:lnSpc>
              <a:spcBef>
                <a:spcPts val="0"/>
              </a:spcBef>
              <a:spcAft>
                <a:spcPts val="0"/>
              </a:spcAft>
              <a:buClr>
                <a:srgbClr val="201E1D"/>
              </a:buClr>
              <a:buSzPts val="2175"/>
              <a:buFont typeface="Arial"/>
              <a:buNone/>
            </a:pPr>
            <a:r>
              <a:rPr b="1" i="0" lang="en-US" sz="2175" u="none" cap="none" strike="noStrike">
                <a:solidFill>
                  <a:srgbClr val="201E1D"/>
                </a:solidFill>
                <a:latin typeface="Arial"/>
                <a:ea typeface="Arial"/>
                <a:cs typeface="Arial"/>
                <a:sym typeface="Arial"/>
              </a:rPr>
              <a:t>GRU (no attention)</a:t>
            </a:r>
            <a:endParaRPr b="0" i="0" sz="2175" u="none" cap="none" strike="noStrike">
              <a:solidFill>
                <a:schemeClr val="dk1"/>
              </a:solidFill>
              <a:latin typeface="Calibri"/>
              <a:ea typeface="Calibri"/>
              <a:cs typeface="Calibri"/>
              <a:sym typeface="Calibri"/>
            </a:endParaRPr>
          </a:p>
        </p:txBody>
      </p:sp>
      <p:sp>
        <p:nvSpPr>
          <p:cNvPr id="319" name="Google Shape;319;p13"/>
          <p:cNvSpPr/>
          <p:nvPr/>
        </p:nvSpPr>
        <p:spPr>
          <a:xfrm>
            <a:off x="4652367" y="4754017"/>
            <a:ext cx="17467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3"/>
          <p:cNvSpPr/>
          <p:nvPr/>
        </p:nvSpPr>
        <p:spPr>
          <a:xfrm>
            <a:off x="4576167" y="4145012"/>
            <a:ext cx="182299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4.19M</a:t>
            </a:r>
            <a:endParaRPr b="0" i="0" sz="2175" u="none" cap="none" strike="noStrike">
              <a:solidFill>
                <a:schemeClr val="dk1"/>
              </a:solidFill>
              <a:latin typeface="Calibri"/>
              <a:ea typeface="Calibri"/>
              <a:cs typeface="Calibri"/>
              <a:sym typeface="Calibri"/>
            </a:endParaRPr>
          </a:p>
        </p:txBody>
      </p:sp>
      <p:sp>
        <p:nvSpPr>
          <p:cNvPr id="321" name="Google Shape;321;p13"/>
          <p:cNvSpPr/>
          <p:nvPr/>
        </p:nvSpPr>
        <p:spPr>
          <a:xfrm>
            <a:off x="6399163" y="4754017"/>
            <a:ext cx="89713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3"/>
          <p:cNvSpPr/>
          <p:nvPr/>
        </p:nvSpPr>
        <p:spPr>
          <a:xfrm>
            <a:off x="6322963" y="4145012"/>
            <a:ext cx="97333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3e-4</a:t>
            </a:r>
            <a:endParaRPr b="0" i="0" sz="2175" u="none" cap="none" strike="noStrike">
              <a:solidFill>
                <a:schemeClr val="dk1"/>
              </a:solidFill>
              <a:latin typeface="Calibri"/>
              <a:ea typeface="Calibri"/>
              <a:cs typeface="Calibri"/>
              <a:sym typeface="Calibri"/>
            </a:endParaRPr>
          </a:p>
        </p:txBody>
      </p:sp>
      <p:sp>
        <p:nvSpPr>
          <p:cNvPr id="323" name="Google Shape;323;p13"/>
          <p:cNvSpPr/>
          <p:nvPr/>
        </p:nvSpPr>
        <p:spPr>
          <a:xfrm>
            <a:off x="7296299" y="4754017"/>
            <a:ext cx="239211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3"/>
          <p:cNvSpPr/>
          <p:nvPr/>
        </p:nvSpPr>
        <p:spPr>
          <a:xfrm>
            <a:off x="7220099" y="4145012"/>
            <a:ext cx="246831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0.1873</a:t>
            </a:r>
            <a:endParaRPr b="0" i="0" sz="2175" u="none" cap="none" strike="noStrike">
              <a:solidFill>
                <a:schemeClr val="dk1"/>
              </a:solidFill>
              <a:latin typeface="Calibri"/>
              <a:ea typeface="Calibri"/>
              <a:cs typeface="Calibri"/>
              <a:sym typeface="Calibri"/>
            </a:endParaRPr>
          </a:p>
        </p:txBody>
      </p:sp>
      <p:sp>
        <p:nvSpPr>
          <p:cNvPr id="325" name="Google Shape;325;p13"/>
          <p:cNvSpPr/>
          <p:nvPr/>
        </p:nvSpPr>
        <p:spPr>
          <a:xfrm>
            <a:off x="9688413" y="4754017"/>
            <a:ext cx="205859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3"/>
          <p:cNvSpPr/>
          <p:nvPr/>
        </p:nvSpPr>
        <p:spPr>
          <a:xfrm>
            <a:off x="9612213" y="4145012"/>
            <a:ext cx="2134791"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±0.0002</a:t>
            </a:r>
            <a:endParaRPr b="0" i="0" sz="2175" u="none" cap="none" strike="noStrike">
              <a:solidFill>
                <a:schemeClr val="dk1"/>
              </a:solidFill>
              <a:latin typeface="Calibri"/>
              <a:ea typeface="Calibri"/>
              <a:cs typeface="Calibri"/>
              <a:sym typeface="Calibri"/>
            </a:endParaRPr>
          </a:p>
        </p:txBody>
      </p:sp>
      <p:sp>
        <p:nvSpPr>
          <p:cNvPr id="327" name="Google Shape;327;p13"/>
          <p:cNvSpPr/>
          <p:nvPr/>
        </p:nvSpPr>
        <p:spPr>
          <a:xfrm>
            <a:off x="11747004" y="4754017"/>
            <a:ext cx="56265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3"/>
          <p:cNvSpPr/>
          <p:nvPr/>
        </p:nvSpPr>
        <p:spPr>
          <a:xfrm>
            <a:off x="11578206" y="4145012"/>
            <a:ext cx="579539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a:t>
            </a:r>
            <a:endParaRPr b="0" i="0" sz="2175" u="none" cap="none" strike="noStrike">
              <a:solidFill>
                <a:schemeClr val="dk1"/>
              </a:solidFill>
              <a:latin typeface="Calibri"/>
              <a:ea typeface="Calibri"/>
              <a:cs typeface="Calibri"/>
              <a:sym typeface="Calibri"/>
            </a:endParaRPr>
          </a:p>
        </p:txBody>
      </p:sp>
      <p:sp>
        <p:nvSpPr>
          <p:cNvPr id="329" name="Google Shape;329;p13"/>
          <p:cNvSpPr/>
          <p:nvPr/>
        </p:nvSpPr>
        <p:spPr>
          <a:xfrm>
            <a:off x="914400" y="5563046"/>
            <a:ext cx="3737967"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3"/>
          <p:cNvSpPr/>
          <p:nvPr/>
        </p:nvSpPr>
        <p:spPr>
          <a:xfrm>
            <a:off x="914400" y="4954042"/>
            <a:ext cx="3850106"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GRU + Luong</a:t>
            </a:r>
            <a:endParaRPr b="0" i="0" sz="2175" u="none" cap="none" strike="noStrike">
              <a:solidFill>
                <a:schemeClr val="dk1"/>
              </a:solidFill>
              <a:latin typeface="Calibri"/>
              <a:ea typeface="Calibri"/>
              <a:cs typeface="Calibri"/>
              <a:sym typeface="Calibri"/>
            </a:endParaRPr>
          </a:p>
        </p:txBody>
      </p:sp>
      <p:sp>
        <p:nvSpPr>
          <p:cNvPr id="331" name="Google Shape;331;p13"/>
          <p:cNvSpPr/>
          <p:nvPr/>
        </p:nvSpPr>
        <p:spPr>
          <a:xfrm>
            <a:off x="4652367" y="5563046"/>
            <a:ext cx="17467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3"/>
          <p:cNvSpPr/>
          <p:nvPr/>
        </p:nvSpPr>
        <p:spPr>
          <a:xfrm>
            <a:off x="4576167" y="4954042"/>
            <a:ext cx="182299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5.23M</a:t>
            </a:r>
            <a:endParaRPr b="0" i="0" sz="2175" u="none" cap="none" strike="noStrike">
              <a:solidFill>
                <a:schemeClr val="dk1"/>
              </a:solidFill>
              <a:latin typeface="Calibri"/>
              <a:ea typeface="Calibri"/>
              <a:cs typeface="Calibri"/>
              <a:sym typeface="Calibri"/>
            </a:endParaRPr>
          </a:p>
        </p:txBody>
      </p:sp>
      <p:sp>
        <p:nvSpPr>
          <p:cNvPr id="333" name="Google Shape;333;p13"/>
          <p:cNvSpPr/>
          <p:nvPr/>
        </p:nvSpPr>
        <p:spPr>
          <a:xfrm>
            <a:off x="6399163" y="5563046"/>
            <a:ext cx="89713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3"/>
          <p:cNvSpPr/>
          <p:nvPr/>
        </p:nvSpPr>
        <p:spPr>
          <a:xfrm>
            <a:off x="6322963" y="4954042"/>
            <a:ext cx="97333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3e-4</a:t>
            </a:r>
            <a:endParaRPr b="0" i="0" sz="2175" u="none" cap="none" strike="noStrike">
              <a:solidFill>
                <a:schemeClr val="dk1"/>
              </a:solidFill>
              <a:latin typeface="Calibri"/>
              <a:ea typeface="Calibri"/>
              <a:cs typeface="Calibri"/>
              <a:sym typeface="Calibri"/>
            </a:endParaRPr>
          </a:p>
        </p:txBody>
      </p:sp>
      <p:sp>
        <p:nvSpPr>
          <p:cNvPr id="335" name="Google Shape;335;p13"/>
          <p:cNvSpPr/>
          <p:nvPr/>
        </p:nvSpPr>
        <p:spPr>
          <a:xfrm>
            <a:off x="7296299" y="5563046"/>
            <a:ext cx="239211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3"/>
          <p:cNvSpPr/>
          <p:nvPr/>
        </p:nvSpPr>
        <p:spPr>
          <a:xfrm>
            <a:off x="7220099" y="4954042"/>
            <a:ext cx="246831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0.1735</a:t>
            </a:r>
            <a:endParaRPr b="0" i="0" sz="2175" u="none" cap="none" strike="noStrike">
              <a:solidFill>
                <a:schemeClr val="dk1"/>
              </a:solidFill>
              <a:latin typeface="Calibri"/>
              <a:ea typeface="Calibri"/>
              <a:cs typeface="Calibri"/>
              <a:sym typeface="Calibri"/>
            </a:endParaRPr>
          </a:p>
        </p:txBody>
      </p:sp>
      <p:sp>
        <p:nvSpPr>
          <p:cNvPr id="337" name="Google Shape;337;p13"/>
          <p:cNvSpPr/>
          <p:nvPr/>
        </p:nvSpPr>
        <p:spPr>
          <a:xfrm>
            <a:off x="9688413" y="5563046"/>
            <a:ext cx="205859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3"/>
          <p:cNvSpPr/>
          <p:nvPr/>
        </p:nvSpPr>
        <p:spPr>
          <a:xfrm>
            <a:off x="9612213" y="4954042"/>
            <a:ext cx="2134791"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±0.0009</a:t>
            </a:r>
            <a:endParaRPr b="0" i="0" sz="2175" u="none" cap="none" strike="noStrike">
              <a:solidFill>
                <a:schemeClr val="dk1"/>
              </a:solidFill>
              <a:latin typeface="Calibri"/>
              <a:ea typeface="Calibri"/>
              <a:cs typeface="Calibri"/>
              <a:sym typeface="Calibri"/>
            </a:endParaRPr>
          </a:p>
        </p:txBody>
      </p:sp>
      <p:sp>
        <p:nvSpPr>
          <p:cNvPr id="339" name="Google Shape;339;p13"/>
          <p:cNvSpPr/>
          <p:nvPr/>
        </p:nvSpPr>
        <p:spPr>
          <a:xfrm>
            <a:off x="11747004" y="5563046"/>
            <a:ext cx="56265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3"/>
          <p:cNvSpPr/>
          <p:nvPr/>
        </p:nvSpPr>
        <p:spPr>
          <a:xfrm>
            <a:off x="11578206" y="4954042"/>
            <a:ext cx="579539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−0.0134 / −0.0133 / −0.0145</a:t>
            </a:r>
            <a:endParaRPr b="0" i="0" sz="2175" u="none" cap="none" strike="noStrike">
              <a:solidFill>
                <a:schemeClr val="dk1"/>
              </a:solidFill>
              <a:latin typeface="Calibri"/>
              <a:ea typeface="Calibri"/>
              <a:cs typeface="Calibri"/>
              <a:sym typeface="Calibri"/>
            </a:endParaRPr>
          </a:p>
        </p:txBody>
      </p:sp>
      <p:sp>
        <p:nvSpPr>
          <p:cNvPr id="341" name="Google Shape;341;p13"/>
          <p:cNvSpPr/>
          <p:nvPr/>
        </p:nvSpPr>
        <p:spPr>
          <a:xfrm>
            <a:off x="914400" y="5582096"/>
            <a:ext cx="16459200" cy="809030"/>
          </a:xfrm>
          <a:prstGeom prst="rect">
            <a:avLst/>
          </a:prstGeom>
          <a:solidFill>
            <a:srgbClr val="EA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3"/>
          <p:cNvSpPr/>
          <p:nvPr/>
        </p:nvSpPr>
        <p:spPr>
          <a:xfrm>
            <a:off x="914400" y="6372076"/>
            <a:ext cx="3737967"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3"/>
          <p:cNvSpPr/>
          <p:nvPr/>
        </p:nvSpPr>
        <p:spPr>
          <a:xfrm>
            <a:off x="1047750" y="5763071"/>
            <a:ext cx="3716756"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09634"/>
              </a:lnSpc>
              <a:spcBef>
                <a:spcPts val="0"/>
              </a:spcBef>
              <a:spcAft>
                <a:spcPts val="0"/>
              </a:spcAft>
              <a:buClr>
                <a:srgbClr val="201E1D"/>
              </a:buClr>
              <a:buSzPts val="2175"/>
              <a:buFont typeface="Arial"/>
              <a:buNone/>
            </a:pPr>
            <a:r>
              <a:rPr b="1" i="0" lang="en-US" sz="2175" u="none" cap="none" strike="noStrike">
                <a:solidFill>
                  <a:srgbClr val="201E1D"/>
                </a:solidFill>
                <a:latin typeface="Arial"/>
                <a:ea typeface="Arial"/>
                <a:cs typeface="Arial"/>
                <a:sym typeface="Arial"/>
              </a:rPr>
              <a:t>GRU + Bahdanau</a:t>
            </a:r>
            <a:endParaRPr b="0" i="0" sz="2175" u="none" cap="none" strike="noStrike">
              <a:solidFill>
                <a:schemeClr val="dk1"/>
              </a:solidFill>
              <a:latin typeface="Calibri"/>
              <a:ea typeface="Calibri"/>
              <a:cs typeface="Calibri"/>
              <a:sym typeface="Calibri"/>
            </a:endParaRPr>
          </a:p>
        </p:txBody>
      </p:sp>
      <p:sp>
        <p:nvSpPr>
          <p:cNvPr id="344" name="Google Shape;344;p13"/>
          <p:cNvSpPr/>
          <p:nvPr/>
        </p:nvSpPr>
        <p:spPr>
          <a:xfrm>
            <a:off x="4652367" y="6372076"/>
            <a:ext cx="17467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3"/>
          <p:cNvSpPr/>
          <p:nvPr/>
        </p:nvSpPr>
        <p:spPr>
          <a:xfrm>
            <a:off x="4576167" y="5763071"/>
            <a:ext cx="182299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5.76M</a:t>
            </a:r>
            <a:endParaRPr b="0" i="0" sz="2175" u="none" cap="none" strike="noStrike">
              <a:solidFill>
                <a:schemeClr val="dk1"/>
              </a:solidFill>
              <a:latin typeface="Calibri"/>
              <a:ea typeface="Calibri"/>
              <a:cs typeface="Calibri"/>
              <a:sym typeface="Calibri"/>
            </a:endParaRPr>
          </a:p>
        </p:txBody>
      </p:sp>
      <p:sp>
        <p:nvSpPr>
          <p:cNvPr id="346" name="Google Shape;346;p13"/>
          <p:cNvSpPr/>
          <p:nvPr/>
        </p:nvSpPr>
        <p:spPr>
          <a:xfrm>
            <a:off x="6399163" y="6372076"/>
            <a:ext cx="89713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3"/>
          <p:cNvSpPr/>
          <p:nvPr/>
        </p:nvSpPr>
        <p:spPr>
          <a:xfrm>
            <a:off x="6322963" y="5763071"/>
            <a:ext cx="97333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3e-4</a:t>
            </a:r>
            <a:endParaRPr b="0" i="0" sz="2175" u="none" cap="none" strike="noStrike">
              <a:solidFill>
                <a:schemeClr val="dk1"/>
              </a:solidFill>
              <a:latin typeface="Calibri"/>
              <a:ea typeface="Calibri"/>
              <a:cs typeface="Calibri"/>
              <a:sym typeface="Calibri"/>
            </a:endParaRPr>
          </a:p>
        </p:txBody>
      </p:sp>
      <p:sp>
        <p:nvSpPr>
          <p:cNvPr id="348" name="Google Shape;348;p13"/>
          <p:cNvSpPr/>
          <p:nvPr/>
        </p:nvSpPr>
        <p:spPr>
          <a:xfrm>
            <a:off x="7296299" y="6372076"/>
            <a:ext cx="239211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3"/>
          <p:cNvSpPr/>
          <p:nvPr/>
        </p:nvSpPr>
        <p:spPr>
          <a:xfrm>
            <a:off x="7220099" y="5763071"/>
            <a:ext cx="246831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0.1974</a:t>
            </a:r>
            <a:endParaRPr b="0" i="0" sz="2175" u="none" cap="none" strike="noStrike">
              <a:solidFill>
                <a:schemeClr val="dk1"/>
              </a:solidFill>
              <a:latin typeface="Calibri"/>
              <a:ea typeface="Calibri"/>
              <a:cs typeface="Calibri"/>
              <a:sym typeface="Calibri"/>
            </a:endParaRPr>
          </a:p>
        </p:txBody>
      </p:sp>
      <p:sp>
        <p:nvSpPr>
          <p:cNvPr id="350" name="Google Shape;350;p13"/>
          <p:cNvSpPr/>
          <p:nvPr/>
        </p:nvSpPr>
        <p:spPr>
          <a:xfrm>
            <a:off x="9688413" y="6372076"/>
            <a:ext cx="205859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3"/>
          <p:cNvSpPr/>
          <p:nvPr/>
        </p:nvSpPr>
        <p:spPr>
          <a:xfrm>
            <a:off x="9612213" y="5763071"/>
            <a:ext cx="2134791"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±0.0035</a:t>
            </a:r>
            <a:endParaRPr b="0" i="0" sz="2175" u="none" cap="none" strike="noStrike">
              <a:solidFill>
                <a:schemeClr val="dk1"/>
              </a:solidFill>
              <a:latin typeface="Calibri"/>
              <a:ea typeface="Calibri"/>
              <a:cs typeface="Calibri"/>
              <a:sym typeface="Calibri"/>
            </a:endParaRPr>
          </a:p>
        </p:txBody>
      </p:sp>
      <p:sp>
        <p:nvSpPr>
          <p:cNvPr id="352" name="Google Shape;352;p13"/>
          <p:cNvSpPr/>
          <p:nvPr/>
        </p:nvSpPr>
        <p:spPr>
          <a:xfrm>
            <a:off x="11747004" y="6372076"/>
            <a:ext cx="56265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3"/>
          <p:cNvSpPr/>
          <p:nvPr/>
        </p:nvSpPr>
        <p:spPr>
          <a:xfrm>
            <a:off x="11578206" y="5763071"/>
            <a:ext cx="579539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+0.0117 / +0.0060 / +0.0128</a:t>
            </a:r>
            <a:endParaRPr b="0" i="0" sz="2175" u="none" cap="none" strike="noStrike">
              <a:solidFill>
                <a:schemeClr val="dk1"/>
              </a:solidFill>
              <a:latin typeface="Calibri"/>
              <a:ea typeface="Calibri"/>
              <a:cs typeface="Calibri"/>
              <a:sym typeface="Calibri"/>
            </a:endParaRPr>
          </a:p>
        </p:txBody>
      </p:sp>
      <p:sp>
        <p:nvSpPr>
          <p:cNvPr id="354" name="Google Shape;354;p13"/>
          <p:cNvSpPr/>
          <p:nvPr/>
        </p:nvSpPr>
        <p:spPr>
          <a:xfrm>
            <a:off x="914400" y="7181106"/>
            <a:ext cx="3737967"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3"/>
          <p:cNvSpPr/>
          <p:nvPr/>
        </p:nvSpPr>
        <p:spPr>
          <a:xfrm>
            <a:off x="914400" y="6572101"/>
            <a:ext cx="3850106"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GRU + multi-head</a:t>
            </a:r>
            <a:endParaRPr b="0" i="0" sz="2175" u="none" cap="none" strike="noStrike">
              <a:solidFill>
                <a:schemeClr val="dk1"/>
              </a:solidFill>
              <a:latin typeface="Calibri"/>
              <a:ea typeface="Calibri"/>
              <a:cs typeface="Calibri"/>
              <a:sym typeface="Calibri"/>
            </a:endParaRPr>
          </a:p>
        </p:txBody>
      </p:sp>
      <p:sp>
        <p:nvSpPr>
          <p:cNvPr id="356" name="Google Shape;356;p13"/>
          <p:cNvSpPr/>
          <p:nvPr/>
        </p:nvSpPr>
        <p:spPr>
          <a:xfrm>
            <a:off x="4652367" y="7181106"/>
            <a:ext cx="17467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3"/>
          <p:cNvSpPr/>
          <p:nvPr/>
        </p:nvSpPr>
        <p:spPr>
          <a:xfrm>
            <a:off x="4576167" y="6572101"/>
            <a:ext cx="182299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6.29M</a:t>
            </a:r>
            <a:endParaRPr b="0" i="0" sz="2175" u="none" cap="none" strike="noStrike">
              <a:solidFill>
                <a:schemeClr val="dk1"/>
              </a:solidFill>
              <a:latin typeface="Calibri"/>
              <a:ea typeface="Calibri"/>
              <a:cs typeface="Calibri"/>
              <a:sym typeface="Calibri"/>
            </a:endParaRPr>
          </a:p>
        </p:txBody>
      </p:sp>
      <p:sp>
        <p:nvSpPr>
          <p:cNvPr id="358" name="Google Shape;358;p13"/>
          <p:cNvSpPr/>
          <p:nvPr/>
        </p:nvSpPr>
        <p:spPr>
          <a:xfrm>
            <a:off x="6399163" y="7181106"/>
            <a:ext cx="89713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3"/>
          <p:cNvSpPr/>
          <p:nvPr/>
        </p:nvSpPr>
        <p:spPr>
          <a:xfrm>
            <a:off x="6322963" y="6572101"/>
            <a:ext cx="97333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3e-4</a:t>
            </a:r>
            <a:endParaRPr b="0" i="0" sz="2175" u="none" cap="none" strike="noStrike">
              <a:solidFill>
                <a:schemeClr val="dk1"/>
              </a:solidFill>
              <a:latin typeface="Calibri"/>
              <a:ea typeface="Calibri"/>
              <a:cs typeface="Calibri"/>
              <a:sym typeface="Calibri"/>
            </a:endParaRPr>
          </a:p>
        </p:txBody>
      </p:sp>
      <p:sp>
        <p:nvSpPr>
          <p:cNvPr id="360" name="Google Shape;360;p13"/>
          <p:cNvSpPr/>
          <p:nvPr/>
        </p:nvSpPr>
        <p:spPr>
          <a:xfrm>
            <a:off x="7296299" y="7181106"/>
            <a:ext cx="239211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3"/>
          <p:cNvSpPr/>
          <p:nvPr/>
        </p:nvSpPr>
        <p:spPr>
          <a:xfrm>
            <a:off x="7220099" y="6572101"/>
            <a:ext cx="246831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0.1863</a:t>
            </a:r>
            <a:endParaRPr b="0" i="0" sz="2175" u="none" cap="none" strike="noStrike">
              <a:solidFill>
                <a:schemeClr val="dk1"/>
              </a:solidFill>
              <a:latin typeface="Calibri"/>
              <a:ea typeface="Calibri"/>
              <a:cs typeface="Calibri"/>
              <a:sym typeface="Calibri"/>
            </a:endParaRPr>
          </a:p>
        </p:txBody>
      </p:sp>
      <p:sp>
        <p:nvSpPr>
          <p:cNvPr id="362" name="Google Shape;362;p13"/>
          <p:cNvSpPr/>
          <p:nvPr/>
        </p:nvSpPr>
        <p:spPr>
          <a:xfrm>
            <a:off x="9688413" y="7181106"/>
            <a:ext cx="205859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3"/>
          <p:cNvSpPr/>
          <p:nvPr/>
        </p:nvSpPr>
        <p:spPr>
          <a:xfrm>
            <a:off x="9612213" y="6572101"/>
            <a:ext cx="2134791"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±0.0017</a:t>
            </a:r>
            <a:endParaRPr b="0" i="0" sz="2175" u="none" cap="none" strike="noStrike">
              <a:solidFill>
                <a:schemeClr val="dk1"/>
              </a:solidFill>
              <a:latin typeface="Calibri"/>
              <a:ea typeface="Calibri"/>
              <a:cs typeface="Calibri"/>
              <a:sym typeface="Calibri"/>
            </a:endParaRPr>
          </a:p>
        </p:txBody>
      </p:sp>
      <p:sp>
        <p:nvSpPr>
          <p:cNvPr id="364" name="Google Shape;364;p13"/>
          <p:cNvSpPr/>
          <p:nvPr/>
        </p:nvSpPr>
        <p:spPr>
          <a:xfrm>
            <a:off x="11747004" y="7181106"/>
            <a:ext cx="562659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3"/>
          <p:cNvSpPr/>
          <p:nvPr/>
        </p:nvSpPr>
        <p:spPr>
          <a:xfrm>
            <a:off x="11578206" y="6572101"/>
            <a:ext cx="579539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+0.0007 / −0.0028 / −0.0008</a:t>
            </a:r>
            <a:endParaRPr b="0" i="0" sz="2175" u="none" cap="none" strike="noStrike">
              <a:solidFill>
                <a:schemeClr val="dk1"/>
              </a:solidFill>
              <a:latin typeface="Calibri"/>
              <a:ea typeface="Calibri"/>
              <a:cs typeface="Calibri"/>
              <a:sym typeface="Calibri"/>
            </a:endParaRPr>
          </a:p>
        </p:txBody>
      </p:sp>
      <p:sp>
        <p:nvSpPr>
          <p:cNvPr id="366" name="Google Shape;366;p13"/>
          <p:cNvSpPr/>
          <p:nvPr/>
        </p:nvSpPr>
        <p:spPr>
          <a:xfrm>
            <a:off x="914400" y="7990136"/>
            <a:ext cx="3737967"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3"/>
          <p:cNvSpPr/>
          <p:nvPr/>
        </p:nvSpPr>
        <p:spPr>
          <a:xfrm>
            <a:off x="914400" y="7381131"/>
            <a:ext cx="3850106"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Transformer</a:t>
            </a:r>
            <a:endParaRPr b="0" i="0" sz="2175" u="none" cap="none" strike="noStrike">
              <a:solidFill>
                <a:schemeClr val="dk1"/>
              </a:solidFill>
              <a:latin typeface="Calibri"/>
              <a:ea typeface="Calibri"/>
              <a:cs typeface="Calibri"/>
              <a:sym typeface="Calibri"/>
            </a:endParaRPr>
          </a:p>
        </p:txBody>
      </p:sp>
      <p:sp>
        <p:nvSpPr>
          <p:cNvPr id="368" name="Google Shape;368;p13"/>
          <p:cNvSpPr/>
          <p:nvPr/>
        </p:nvSpPr>
        <p:spPr>
          <a:xfrm>
            <a:off x="4652367" y="7990136"/>
            <a:ext cx="174679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3"/>
          <p:cNvSpPr/>
          <p:nvPr/>
        </p:nvSpPr>
        <p:spPr>
          <a:xfrm>
            <a:off x="4576167" y="7381131"/>
            <a:ext cx="182299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10.03M</a:t>
            </a:r>
            <a:endParaRPr b="0" i="0" sz="2175" u="none" cap="none" strike="noStrike">
              <a:solidFill>
                <a:schemeClr val="dk1"/>
              </a:solidFill>
              <a:latin typeface="Calibri"/>
              <a:ea typeface="Calibri"/>
              <a:cs typeface="Calibri"/>
              <a:sym typeface="Calibri"/>
            </a:endParaRPr>
          </a:p>
        </p:txBody>
      </p:sp>
      <p:sp>
        <p:nvSpPr>
          <p:cNvPr id="370" name="Google Shape;370;p13"/>
          <p:cNvSpPr/>
          <p:nvPr/>
        </p:nvSpPr>
        <p:spPr>
          <a:xfrm>
            <a:off x="6399163" y="7990136"/>
            <a:ext cx="89713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3"/>
          <p:cNvSpPr/>
          <p:nvPr/>
        </p:nvSpPr>
        <p:spPr>
          <a:xfrm>
            <a:off x="6322963" y="7381131"/>
            <a:ext cx="973336"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1e-4</a:t>
            </a:r>
            <a:endParaRPr b="0" i="0" sz="2175" u="none" cap="none" strike="noStrike">
              <a:solidFill>
                <a:schemeClr val="dk1"/>
              </a:solidFill>
              <a:latin typeface="Calibri"/>
              <a:ea typeface="Calibri"/>
              <a:cs typeface="Calibri"/>
              <a:sym typeface="Calibri"/>
            </a:endParaRPr>
          </a:p>
        </p:txBody>
      </p:sp>
      <p:sp>
        <p:nvSpPr>
          <p:cNvPr id="372" name="Google Shape;372;p13"/>
          <p:cNvSpPr/>
          <p:nvPr/>
        </p:nvSpPr>
        <p:spPr>
          <a:xfrm>
            <a:off x="7296299" y="7990136"/>
            <a:ext cx="2392114"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3"/>
          <p:cNvSpPr/>
          <p:nvPr/>
        </p:nvSpPr>
        <p:spPr>
          <a:xfrm>
            <a:off x="7220099" y="7381131"/>
            <a:ext cx="246831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0.1959</a:t>
            </a:r>
            <a:endParaRPr b="0" i="0" sz="2175" u="none" cap="none" strike="noStrike">
              <a:solidFill>
                <a:schemeClr val="dk1"/>
              </a:solidFill>
              <a:latin typeface="Calibri"/>
              <a:ea typeface="Calibri"/>
              <a:cs typeface="Calibri"/>
              <a:sym typeface="Calibri"/>
            </a:endParaRPr>
          </a:p>
        </p:txBody>
      </p:sp>
      <p:sp>
        <p:nvSpPr>
          <p:cNvPr id="374" name="Google Shape;374;p13"/>
          <p:cNvSpPr/>
          <p:nvPr/>
        </p:nvSpPr>
        <p:spPr>
          <a:xfrm>
            <a:off x="9688413" y="7990136"/>
            <a:ext cx="2058591"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3"/>
          <p:cNvSpPr/>
          <p:nvPr/>
        </p:nvSpPr>
        <p:spPr>
          <a:xfrm>
            <a:off x="9612213" y="7381131"/>
            <a:ext cx="2134791"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±0.0028</a:t>
            </a:r>
            <a:endParaRPr b="0" i="0" sz="2175" u="none" cap="none" strike="noStrike">
              <a:solidFill>
                <a:schemeClr val="dk1"/>
              </a:solidFill>
              <a:latin typeface="Calibri"/>
              <a:ea typeface="Calibri"/>
              <a:cs typeface="Calibri"/>
              <a:sym typeface="Calibri"/>
            </a:endParaRPr>
          </a:p>
        </p:txBody>
      </p:sp>
      <p:sp>
        <p:nvSpPr>
          <p:cNvPr id="376" name="Google Shape;376;p13"/>
          <p:cNvSpPr/>
          <p:nvPr/>
        </p:nvSpPr>
        <p:spPr>
          <a:xfrm>
            <a:off x="11747004" y="7990136"/>
            <a:ext cx="562659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3"/>
          <p:cNvSpPr/>
          <p:nvPr/>
        </p:nvSpPr>
        <p:spPr>
          <a:xfrm>
            <a:off x="11578206" y="7381131"/>
            <a:ext cx="5795394"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+0.0109 / +0.0090 / +0.0058</a:t>
            </a:r>
            <a:endParaRPr b="0" i="0" sz="2175" u="none" cap="none" strike="noStrike">
              <a:solidFill>
                <a:schemeClr val="dk1"/>
              </a:solidFill>
              <a:latin typeface="Calibri"/>
              <a:ea typeface="Calibri"/>
              <a:cs typeface="Calibri"/>
              <a:sym typeface="Calibri"/>
            </a:endParaRPr>
          </a:p>
        </p:txBody>
      </p:sp>
      <p:sp>
        <p:nvSpPr>
          <p:cNvPr id="378" name="Google Shape;378;p13"/>
          <p:cNvSpPr/>
          <p:nvPr/>
        </p:nvSpPr>
        <p:spPr>
          <a:xfrm>
            <a:off x="914400" y="8228261"/>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3"/>
          <p:cNvSpPr/>
          <p:nvPr/>
        </p:nvSpPr>
        <p:spPr>
          <a:xfrm>
            <a:off x="914400" y="8494961"/>
            <a:ext cx="5363108" cy="1102519"/>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1500" u="none" cap="none" strike="noStrike">
                <a:solidFill>
                  <a:srgbClr val="201E1D"/>
                </a:solidFill>
                <a:latin typeface="Arial"/>
                <a:ea typeface="Arial"/>
                <a:cs typeface="Arial"/>
                <a:sym typeface="Arial"/>
              </a:rPr>
              <a:t>Bahdanau leads validation BLEU-4. Transformer also improves validation BLEU-4, but is larger, slower, and selected a lower LR. Baseline still leads on METEOR.</a:t>
            </a:r>
            <a:endParaRPr/>
          </a:p>
        </p:txBody>
      </p:sp>
      <p:sp>
        <p:nvSpPr>
          <p:cNvPr id="380" name="Google Shape;380;p13"/>
          <p:cNvSpPr/>
          <p:nvPr/>
        </p:nvSpPr>
        <p:spPr>
          <a:xfrm>
            <a:off x="6540401" y="8494961"/>
            <a:ext cx="5363261" cy="1102519"/>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1500" u="none" cap="none" strike="noStrike">
                <a:solidFill>
                  <a:srgbClr val="201E1D"/>
                </a:solidFill>
                <a:latin typeface="Arial"/>
                <a:ea typeface="Arial"/>
                <a:cs typeface="Arial"/>
                <a:sym typeface="Arial"/>
              </a:rPr>
              <a:t>Luong is lower than baseline on all three seeds. Dot-product scoring against a frozen ResNet feature space appears to hurt here.</a:t>
            </a:r>
            <a:endParaRPr/>
          </a:p>
        </p:txBody>
      </p:sp>
      <p:sp>
        <p:nvSpPr>
          <p:cNvPr id="381" name="Google Shape;381;p13"/>
          <p:cNvSpPr/>
          <p:nvPr/>
        </p:nvSpPr>
        <p:spPr>
          <a:xfrm>
            <a:off x="12166550" y="8494961"/>
            <a:ext cx="5363261" cy="1102519"/>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1500" u="none" cap="none" strike="noStrike">
                <a:solidFill>
                  <a:srgbClr val="201E1D"/>
                </a:solidFill>
                <a:latin typeface="Arial"/>
                <a:ea typeface="Arial"/>
                <a:cs typeface="Arial"/>
                <a:sym typeface="Arial"/>
              </a:rPr>
              <a:t>Multi-head: no consistent gain. Deltas straddle zero at 50% more parameters — not a clear improvement.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386" name="Shape 386"/>
        <p:cNvGrpSpPr/>
        <p:nvPr/>
      </p:nvGrpSpPr>
      <p:grpSpPr>
        <a:xfrm>
          <a:off x="0" y="0"/>
          <a:ext cx="0" cy="0"/>
          <a:chOff x="0" y="0"/>
          <a:chExt cx="0" cy="0"/>
        </a:xfrm>
      </p:grpSpPr>
      <p:sp>
        <p:nvSpPr>
          <p:cNvPr id="387" name="Google Shape;387;p14"/>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4 — EVALUATION, RESULTS, AND ANALYSIS</a:t>
            </a:r>
            <a:endParaRPr b="0" i="0" sz="1800" u="none" cap="none" strike="noStrike">
              <a:solidFill>
                <a:schemeClr val="dk1"/>
              </a:solidFill>
              <a:latin typeface="Calibri"/>
              <a:ea typeface="Calibri"/>
              <a:cs typeface="Calibri"/>
              <a:sym typeface="Calibri"/>
            </a:endParaRPr>
          </a:p>
        </p:txBody>
      </p:sp>
      <p:sp>
        <p:nvSpPr>
          <p:cNvPr id="388" name="Google Shape;388;p14"/>
          <p:cNvSpPr/>
          <p:nvPr/>
        </p:nvSpPr>
        <p:spPr>
          <a:xfrm>
            <a:off x="914400" y="1440061"/>
            <a:ext cx="15716250" cy="632371"/>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201E1D"/>
                </a:solidFill>
                <a:latin typeface="Arial"/>
                <a:ea typeface="Arial"/>
                <a:cs typeface="Arial"/>
                <a:sym typeface="Arial"/>
              </a:rPr>
              <a:t>Final test pass — and a metric that disagrees</a:t>
            </a:r>
            <a:endParaRPr/>
          </a:p>
        </p:txBody>
      </p:sp>
      <p:sp>
        <p:nvSpPr>
          <p:cNvPr id="389" name="Google Shape;389;p14"/>
          <p:cNvSpPr/>
          <p:nvPr/>
        </p:nvSpPr>
        <p:spPr>
          <a:xfrm>
            <a:off x="914400" y="2167682"/>
            <a:ext cx="18105120" cy="419249"/>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0" i="0" lang="en-US" sz="1500" u="none" cap="none" strike="noStrike">
                <a:solidFill>
                  <a:srgbClr val="605D5D"/>
                </a:solidFill>
                <a:latin typeface="Arial"/>
                <a:ea typeface="Arial"/>
                <a:cs typeface="Arial"/>
                <a:sym typeface="Arial"/>
              </a:rPr>
              <a:t>Final test set, mean over three seeds, greedy decoding, run once against the frozen manifest.</a:t>
            </a:r>
            <a:endParaRPr/>
          </a:p>
        </p:txBody>
      </p:sp>
      <p:sp>
        <p:nvSpPr>
          <p:cNvPr id="390" name="Google Shape;390;p14"/>
          <p:cNvSpPr/>
          <p:nvPr/>
        </p:nvSpPr>
        <p:spPr>
          <a:xfrm>
            <a:off x="914400" y="3350716"/>
            <a:ext cx="4636294"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4"/>
          <p:cNvSpPr/>
          <p:nvPr/>
        </p:nvSpPr>
        <p:spPr>
          <a:xfrm>
            <a:off x="914400" y="2872680"/>
            <a:ext cx="4775383" cy="382786"/>
          </a:xfrm>
          <a:prstGeom prst="rect">
            <a:avLst/>
          </a:prstGeom>
          <a:noFill/>
          <a:ln>
            <a:noFill/>
          </a:ln>
        </p:spPr>
        <p:txBody>
          <a:bodyPr anchorCtr="0" anchor="ctr" bIns="25400" lIns="25400" spcFirstLastPara="1" rIns="25400" wrap="square" tIns="25400">
            <a:noAutofit/>
          </a:bodyPr>
          <a:lstStyle/>
          <a:p>
            <a:pPr indent="0" lvl="0" marL="0" marR="0" rtl="0" algn="l">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MODEL</a:t>
            </a:r>
            <a:endParaRPr b="0" i="0" sz="1800" u="none" cap="none" strike="noStrike">
              <a:solidFill>
                <a:schemeClr val="dk1"/>
              </a:solidFill>
              <a:latin typeface="Calibri"/>
              <a:ea typeface="Calibri"/>
              <a:cs typeface="Calibri"/>
              <a:sym typeface="Calibri"/>
            </a:endParaRPr>
          </a:p>
        </p:txBody>
      </p:sp>
      <p:sp>
        <p:nvSpPr>
          <p:cNvPr id="392" name="Google Shape;392;p14"/>
          <p:cNvSpPr/>
          <p:nvPr/>
        </p:nvSpPr>
        <p:spPr>
          <a:xfrm>
            <a:off x="5550694" y="3350716"/>
            <a:ext cx="3305919"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4"/>
          <p:cNvSpPr/>
          <p:nvPr/>
        </p:nvSpPr>
        <p:spPr>
          <a:xfrm>
            <a:off x="5451516" y="2872680"/>
            <a:ext cx="3405097"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TEST BLEU-4</a:t>
            </a:r>
            <a:endParaRPr b="0" i="0" sz="1800" u="none" cap="none" strike="noStrike">
              <a:solidFill>
                <a:schemeClr val="dk1"/>
              </a:solidFill>
              <a:latin typeface="Calibri"/>
              <a:ea typeface="Calibri"/>
              <a:cs typeface="Calibri"/>
              <a:sym typeface="Calibri"/>
            </a:endParaRPr>
          </a:p>
        </p:txBody>
      </p:sp>
      <p:sp>
        <p:nvSpPr>
          <p:cNvPr id="394" name="Google Shape;394;p14"/>
          <p:cNvSpPr/>
          <p:nvPr/>
        </p:nvSpPr>
        <p:spPr>
          <a:xfrm>
            <a:off x="8856613" y="3350716"/>
            <a:ext cx="2185095"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4"/>
          <p:cNvSpPr/>
          <p:nvPr/>
        </p:nvSpPr>
        <p:spPr>
          <a:xfrm>
            <a:off x="8780413" y="2872680"/>
            <a:ext cx="2261295"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METEOR</a:t>
            </a:r>
            <a:endParaRPr b="0" i="0" sz="1800" u="none" cap="none" strike="noStrike">
              <a:solidFill>
                <a:schemeClr val="dk1"/>
              </a:solidFill>
              <a:latin typeface="Calibri"/>
              <a:ea typeface="Calibri"/>
              <a:cs typeface="Calibri"/>
              <a:sym typeface="Calibri"/>
            </a:endParaRPr>
          </a:p>
        </p:txBody>
      </p:sp>
      <p:sp>
        <p:nvSpPr>
          <p:cNvPr id="396" name="Google Shape;396;p14"/>
          <p:cNvSpPr/>
          <p:nvPr/>
        </p:nvSpPr>
        <p:spPr>
          <a:xfrm>
            <a:off x="11041707" y="3350716"/>
            <a:ext cx="345742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4"/>
          <p:cNvSpPr/>
          <p:nvPr/>
        </p:nvSpPr>
        <p:spPr>
          <a:xfrm>
            <a:off x="10937985" y="2872680"/>
            <a:ext cx="3561149"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TF-IDF OVERLAP</a:t>
            </a:r>
            <a:endParaRPr b="0" i="0" sz="1800" u="none" cap="none" strike="noStrike">
              <a:solidFill>
                <a:schemeClr val="dk1"/>
              </a:solidFill>
              <a:latin typeface="Calibri"/>
              <a:ea typeface="Calibri"/>
              <a:cs typeface="Calibri"/>
              <a:sym typeface="Calibri"/>
            </a:endParaRPr>
          </a:p>
        </p:txBody>
      </p:sp>
      <p:sp>
        <p:nvSpPr>
          <p:cNvPr id="398" name="Google Shape;398;p14"/>
          <p:cNvSpPr/>
          <p:nvPr/>
        </p:nvSpPr>
        <p:spPr>
          <a:xfrm>
            <a:off x="14499134" y="3350716"/>
            <a:ext cx="287446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4"/>
          <p:cNvSpPr/>
          <p:nvPr/>
        </p:nvSpPr>
        <p:spPr>
          <a:xfrm>
            <a:off x="14412900" y="2872680"/>
            <a:ext cx="2960700" cy="382786"/>
          </a:xfrm>
          <a:prstGeom prst="rect">
            <a:avLst/>
          </a:prstGeom>
          <a:noFill/>
          <a:ln>
            <a:noFill/>
          </a:ln>
        </p:spPr>
        <p:txBody>
          <a:bodyPr anchorCtr="0" anchor="ctr" bIns="25400" lIns="25400" spcFirstLastPara="1" rIns="25400" wrap="square" tIns="25400">
            <a:noAutofit/>
          </a:bodyPr>
          <a:lstStyle/>
          <a:p>
            <a:pPr indent="0" lvl="0" marL="0" marR="0" rtl="0" algn="r">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MS / IMAGE</a:t>
            </a:r>
            <a:endParaRPr b="0" i="0" sz="1800" u="none" cap="none" strike="noStrike">
              <a:solidFill>
                <a:schemeClr val="dk1"/>
              </a:solidFill>
              <a:latin typeface="Calibri"/>
              <a:ea typeface="Calibri"/>
              <a:cs typeface="Calibri"/>
              <a:sym typeface="Calibri"/>
            </a:endParaRPr>
          </a:p>
        </p:txBody>
      </p:sp>
      <p:sp>
        <p:nvSpPr>
          <p:cNvPr id="400" name="Google Shape;400;p14"/>
          <p:cNvSpPr/>
          <p:nvPr/>
        </p:nvSpPr>
        <p:spPr>
          <a:xfrm>
            <a:off x="914400" y="4159746"/>
            <a:ext cx="463629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4"/>
          <p:cNvSpPr/>
          <p:nvPr/>
        </p:nvSpPr>
        <p:spPr>
          <a:xfrm>
            <a:off x="914400" y="3550741"/>
            <a:ext cx="4775383"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09634"/>
              </a:lnSpc>
              <a:spcBef>
                <a:spcPts val="0"/>
              </a:spcBef>
              <a:spcAft>
                <a:spcPts val="0"/>
              </a:spcAft>
              <a:buClr>
                <a:srgbClr val="201E1D"/>
              </a:buClr>
              <a:buSzPts val="2175"/>
              <a:buFont typeface="Arial"/>
              <a:buNone/>
            </a:pPr>
            <a:r>
              <a:rPr b="1" i="0" lang="en-US" sz="2175" u="none" cap="none" strike="noStrike">
                <a:solidFill>
                  <a:srgbClr val="201E1D"/>
                </a:solidFill>
                <a:latin typeface="Arial"/>
                <a:ea typeface="Arial"/>
                <a:cs typeface="Arial"/>
                <a:sym typeface="Arial"/>
              </a:rPr>
              <a:t>GRU (no attention)</a:t>
            </a:r>
            <a:endParaRPr b="0" i="0" sz="2175" u="none" cap="none" strike="noStrike">
              <a:solidFill>
                <a:schemeClr val="dk1"/>
              </a:solidFill>
              <a:latin typeface="Calibri"/>
              <a:ea typeface="Calibri"/>
              <a:cs typeface="Calibri"/>
              <a:sym typeface="Calibri"/>
            </a:endParaRPr>
          </a:p>
        </p:txBody>
      </p:sp>
      <p:sp>
        <p:nvSpPr>
          <p:cNvPr id="402" name="Google Shape;402;p14"/>
          <p:cNvSpPr/>
          <p:nvPr/>
        </p:nvSpPr>
        <p:spPr>
          <a:xfrm>
            <a:off x="5550694" y="4159746"/>
            <a:ext cx="330591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4"/>
          <p:cNvSpPr/>
          <p:nvPr/>
        </p:nvSpPr>
        <p:spPr>
          <a:xfrm>
            <a:off x="5451516" y="3550741"/>
            <a:ext cx="3405097"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0.1987</a:t>
            </a:r>
            <a:endParaRPr b="0" i="0" sz="2175" u="none" cap="none" strike="noStrike">
              <a:solidFill>
                <a:schemeClr val="dk1"/>
              </a:solidFill>
              <a:latin typeface="Calibri"/>
              <a:ea typeface="Calibri"/>
              <a:cs typeface="Calibri"/>
              <a:sym typeface="Calibri"/>
            </a:endParaRPr>
          </a:p>
        </p:txBody>
      </p:sp>
      <p:sp>
        <p:nvSpPr>
          <p:cNvPr id="404" name="Google Shape;404;p14"/>
          <p:cNvSpPr/>
          <p:nvPr/>
        </p:nvSpPr>
        <p:spPr>
          <a:xfrm>
            <a:off x="8856613" y="4159746"/>
            <a:ext cx="2185095"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4"/>
          <p:cNvSpPr/>
          <p:nvPr/>
        </p:nvSpPr>
        <p:spPr>
          <a:xfrm>
            <a:off x="8780413" y="3550741"/>
            <a:ext cx="2261295"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0.4150</a:t>
            </a:r>
            <a:endParaRPr b="0" i="0" sz="2175" u="none" cap="none" strike="noStrike">
              <a:solidFill>
                <a:schemeClr val="dk1"/>
              </a:solidFill>
              <a:latin typeface="Calibri"/>
              <a:ea typeface="Calibri"/>
              <a:cs typeface="Calibri"/>
              <a:sym typeface="Calibri"/>
            </a:endParaRPr>
          </a:p>
        </p:txBody>
      </p:sp>
      <p:sp>
        <p:nvSpPr>
          <p:cNvPr id="406" name="Google Shape;406;p14"/>
          <p:cNvSpPr/>
          <p:nvPr/>
        </p:nvSpPr>
        <p:spPr>
          <a:xfrm>
            <a:off x="11041707" y="4159746"/>
            <a:ext cx="345742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4"/>
          <p:cNvSpPr/>
          <p:nvPr/>
        </p:nvSpPr>
        <p:spPr>
          <a:xfrm>
            <a:off x="10937985" y="3550741"/>
            <a:ext cx="3561149"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0.0403</a:t>
            </a:r>
            <a:endParaRPr b="0" i="0" sz="2175" u="none" cap="none" strike="noStrike">
              <a:solidFill>
                <a:schemeClr val="dk1"/>
              </a:solidFill>
              <a:latin typeface="Calibri"/>
              <a:ea typeface="Calibri"/>
              <a:cs typeface="Calibri"/>
              <a:sym typeface="Calibri"/>
            </a:endParaRPr>
          </a:p>
        </p:txBody>
      </p:sp>
      <p:sp>
        <p:nvSpPr>
          <p:cNvPr id="408" name="Google Shape;408;p14"/>
          <p:cNvSpPr/>
          <p:nvPr/>
        </p:nvSpPr>
        <p:spPr>
          <a:xfrm>
            <a:off x="14499134" y="4159746"/>
            <a:ext cx="287446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4"/>
          <p:cNvSpPr/>
          <p:nvPr/>
        </p:nvSpPr>
        <p:spPr>
          <a:xfrm>
            <a:off x="14412900" y="3550741"/>
            <a:ext cx="2960700"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0.43</a:t>
            </a:r>
            <a:endParaRPr b="0" i="0" sz="2175" u="none" cap="none" strike="noStrike">
              <a:solidFill>
                <a:schemeClr val="dk1"/>
              </a:solidFill>
              <a:latin typeface="Calibri"/>
              <a:ea typeface="Calibri"/>
              <a:cs typeface="Calibri"/>
              <a:sym typeface="Calibri"/>
            </a:endParaRPr>
          </a:p>
        </p:txBody>
      </p:sp>
      <p:sp>
        <p:nvSpPr>
          <p:cNvPr id="410" name="Google Shape;410;p14"/>
          <p:cNvSpPr/>
          <p:nvPr/>
        </p:nvSpPr>
        <p:spPr>
          <a:xfrm>
            <a:off x="914400" y="4968776"/>
            <a:ext cx="463629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4"/>
          <p:cNvSpPr/>
          <p:nvPr/>
        </p:nvSpPr>
        <p:spPr>
          <a:xfrm>
            <a:off x="914400" y="4359771"/>
            <a:ext cx="4775383"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GRU + Luong</a:t>
            </a:r>
            <a:endParaRPr b="0" i="0" sz="2175" u="none" cap="none" strike="noStrike">
              <a:solidFill>
                <a:schemeClr val="dk1"/>
              </a:solidFill>
              <a:latin typeface="Calibri"/>
              <a:ea typeface="Calibri"/>
              <a:cs typeface="Calibri"/>
              <a:sym typeface="Calibri"/>
            </a:endParaRPr>
          </a:p>
        </p:txBody>
      </p:sp>
      <p:sp>
        <p:nvSpPr>
          <p:cNvPr id="412" name="Google Shape;412;p14"/>
          <p:cNvSpPr/>
          <p:nvPr/>
        </p:nvSpPr>
        <p:spPr>
          <a:xfrm>
            <a:off x="5550694" y="4968776"/>
            <a:ext cx="330591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4"/>
          <p:cNvSpPr/>
          <p:nvPr/>
        </p:nvSpPr>
        <p:spPr>
          <a:xfrm>
            <a:off x="5451516" y="4359771"/>
            <a:ext cx="3405097"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0.1798</a:t>
            </a:r>
            <a:endParaRPr b="0" i="0" sz="2175" u="none" cap="none" strike="noStrike">
              <a:solidFill>
                <a:schemeClr val="dk1"/>
              </a:solidFill>
              <a:latin typeface="Calibri"/>
              <a:ea typeface="Calibri"/>
              <a:cs typeface="Calibri"/>
              <a:sym typeface="Calibri"/>
            </a:endParaRPr>
          </a:p>
        </p:txBody>
      </p:sp>
      <p:sp>
        <p:nvSpPr>
          <p:cNvPr id="414" name="Google Shape;414;p14"/>
          <p:cNvSpPr/>
          <p:nvPr/>
        </p:nvSpPr>
        <p:spPr>
          <a:xfrm>
            <a:off x="8856613" y="4968776"/>
            <a:ext cx="2185095"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4"/>
          <p:cNvSpPr/>
          <p:nvPr/>
        </p:nvSpPr>
        <p:spPr>
          <a:xfrm>
            <a:off x="8780413" y="4359771"/>
            <a:ext cx="2261295"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0.3850</a:t>
            </a:r>
            <a:endParaRPr b="0" i="0" sz="2175" u="none" cap="none" strike="noStrike">
              <a:solidFill>
                <a:schemeClr val="dk1"/>
              </a:solidFill>
              <a:latin typeface="Calibri"/>
              <a:ea typeface="Calibri"/>
              <a:cs typeface="Calibri"/>
              <a:sym typeface="Calibri"/>
            </a:endParaRPr>
          </a:p>
        </p:txBody>
      </p:sp>
      <p:sp>
        <p:nvSpPr>
          <p:cNvPr id="416" name="Google Shape;416;p14"/>
          <p:cNvSpPr/>
          <p:nvPr/>
        </p:nvSpPr>
        <p:spPr>
          <a:xfrm>
            <a:off x="11041707" y="4968776"/>
            <a:ext cx="345742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4"/>
          <p:cNvSpPr/>
          <p:nvPr/>
        </p:nvSpPr>
        <p:spPr>
          <a:xfrm>
            <a:off x="10937985" y="4359771"/>
            <a:ext cx="3561149"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0.0350</a:t>
            </a:r>
            <a:endParaRPr b="0" i="0" sz="2175" u="none" cap="none" strike="noStrike">
              <a:solidFill>
                <a:schemeClr val="dk1"/>
              </a:solidFill>
              <a:latin typeface="Calibri"/>
              <a:ea typeface="Calibri"/>
              <a:cs typeface="Calibri"/>
              <a:sym typeface="Calibri"/>
            </a:endParaRPr>
          </a:p>
        </p:txBody>
      </p:sp>
      <p:sp>
        <p:nvSpPr>
          <p:cNvPr id="418" name="Google Shape;418;p14"/>
          <p:cNvSpPr/>
          <p:nvPr/>
        </p:nvSpPr>
        <p:spPr>
          <a:xfrm>
            <a:off x="14499134" y="4968776"/>
            <a:ext cx="287446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4"/>
          <p:cNvSpPr/>
          <p:nvPr/>
        </p:nvSpPr>
        <p:spPr>
          <a:xfrm>
            <a:off x="14412900" y="4359771"/>
            <a:ext cx="2960700"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0.60</a:t>
            </a:r>
            <a:endParaRPr b="0" i="0" sz="2175" u="none" cap="none" strike="noStrike">
              <a:solidFill>
                <a:schemeClr val="dk1"/>
              </a:solidFill>
              <a:latin typeface="Calibri"/>
              <a:ea typeface="Calibri"/>
              <a:cs typeface="Calibri"/>
              <a:sym typeface="Calibri"/>
            </a:endParaRPr>
          </a:p>
        </p:txBody>
      </p:sp>
      <p:sp>
        <p:nvSpPr>
          <p:cNvPr id="420" name="Google Shape;420;p14"/>
          <p:cNvSpPr/>
          <p:nvPr/>
        </p:nvSpPr>
        <p:spPr>
          <a:xfrm>
            <a:off x="914400" y="4987826"/>
            <a:ext cx="16459200" cy="809030"/>
          </a:xfrm>
          <a:prstGeom prst="rect">
            <a:avLst/>
          </a:prstGeom>
          <a:solidFill>
            <a:srgbClr val="EA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4"/>
          <p:cNvSpPr/>
          <p:nvPr/>
        </p:nvSpPr>
        <p:spPr>
          <a:xfrm>
            <a:off x="914400" y="5777805"/>
            <a:ext cx="463629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4"/>
          <p:cNvSpPr/>
          <p:nvPr/>
        </p:nvSpPr>
        <p:spPr>
          <a:xfrm>
            <a:off x="1047750" y="5168801"/>
            <a:ext cx="4642033"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09634"/>
              </a:lnSpc>
              <a:spcBef>
                <a:spcPts val="0"/>
              </a:spcBef>
              <a:spcAft>
                <a:spcPts val="0"/>
              </a:spcAft>
              <a:buClr>
                <a:srgbClr val="201E1D"/>
              </a:buClr>
              <a:buSzPts val="2175"/>
              <a:buFont typeface="Arial"/>
              <a:buNone/>
            </a:pPr>
            <a:r>
              <a:rPr b="1" i="0" lang="en-US" sz="2175" u="none" cap="none" strike="noStrike">
                <a:solidFill>
                  <a:srgbClr val="201E1D"/>
                </a:solidFill>
                <a:latin typeface="Arial"/>
                <a:ea typeface="Arial"/>
                <a:cs typeface="Arial"/>
                <a:sym typeface="Arial"/>
              </a:rPr>
              <a:t>GRU + Bahdanau</a:t>
            </a:r>
            <a:endParaRPr b="0" i="0" sz="2175" u="none" cap="none" strike="noStrike">
              <a:solidFill>
                <a:schemeClr val="dk1"/>
              </a:solidFill>
              <a:latin typeface="Calibri"/>
              <a:ea typeface="Calibri"/>
              <a:cs typeface="Calibri"/>
              <a:sym typeface="Calibri"/>
            </a:endParaRPr>
          </a:p>
        </p:txBody>
      </p:sp>
      <p:sp>
        <p:nvSpPr>
          <p:cNvPr id="423" name="Google Shape;423;p14"/>
          <p:cNvSpPr/>
          <p:nvPr/>
        </p:nvSpPr>
        <p:spPr>
          <a:xfrm>
            <a:off x="5550694" y="5777805"/>
            <a:ext cx="330591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4"/>
          <p:cNvSpPr/>
          <p:nvPr/>
        </p:nvSpPr>
        <p:spPr>
          <a:xfrm>
            <a:off x="5451516" y="5168801"/>
            <a:ext cx="3405097"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0.2062</a:t>
            </a:r>
            <a:endParaRPr b="0" i="0" sz="2175" u="none" cap="none" strike="noStrike">
              <a:solidFill>
                <a:schemeClr val="dk1"/>
              </a:solidFill>
              <a:latin typeface="Calibri"/>
              <a:ea typeface="Calibri"/>
              <a:cs typeface="Calibri"/>
              <a:sym typeface="Calibri"/>
            </a:endParaRPr>
          </a:p>
        </p:txBody>
      </p:sp>
      <p:sp>
        <p:nvSpPr>
          <p:cNvPr id="425" name="Google Shape;425;p14"/>
          <p:cNvSpPr/>
          <p:nvPr/>
        </p:nvSpPr>
        <p:spPr>
          <a:xfrm>
            <a:off x="8856613" y="5777805"/>
            <a:ext cx="2185095"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4"/>
          <p:cNvSpPr/>
          <p:nvPr/>
        </p:nvSpPr>
        <p:spPr>
          <a:xfrm>
            <a:off x="8780413" y="5168801"/>
            <a:ext cx="2261295"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0.4115</a:t>
            </a:r>
            <a:endParaRPr b="0" i="0" sz="2175" u="none" cap="none" strike="noStrike">
              <a:solidFill>
                <a:schemeClr val="dk1"/>
              </a:solidFill>
              <a:latin typeface="Calibri"/>
              <a:ea typeface="Calibri"/>
              <a:cs typeface="Calibri"/>
              <a:sym typeface="Calibri"/>
            </a:endParaRPr>
          </a:p>
        </p:txBody>
      </p:sp>
      <p:sp>
        <p:nvSpPr>
          <p:cNvPr id="427" name="Google Shape;427;p14"/>
          <p:cNvSpPr/>
          <p:nvPr/>
        </p:nvSpPr>
        <p:spPr>
          <a:xfrm>
            <a:off x="11041707" y="5777805"/>
            <a:ext cx="345742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4"/>
          <p:cNvSpPr/>
          <p:nvPr/>
        </p:nvSpPr>
        <p:spPr>
          <a:xfrm>
            <a:off x="10937985" y="5168801"/>
            <a:ext cx="3561149"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0.0413</a:t>
            </a:r>
            <a:endParaRPr b="0" i="0" sz="2175" u="none" cap="none" strike="noStrike">
              <a:solidFill>
                <a:schemeClr val="dk1"/>
              </a:solidFill>
              <a:latin typeface="Calibri"/>
              <a:ea typeface="Calibri"/>
              <a:cs typeface="Calibri"/>
              <a:sym typeface="Calibri"/>
            </a:endParaRPr>
          </a:p>
        </p:txBody>
      </p:sp>
      <p:sp>
        <p:nvSpPr>
          <p:cNvPr id="429" name="Google Shape;429;p14"/>
          <p:cNvSpPr/>
          <p:nvPr/>
        </p:nvSpPr>
        <p:spPr>
          <a:xfrm>
            <a:off x="14499134" y="5777805"/>
            <a:ext cx="287446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4"/>
          <p:cNvSpPr/>
          <p:nvPr/>
        </p:nvSpPr>
        <p:spPr>
          <a:xfrm>
            <a:off x="14412900" y="5168801"/>
            <a:ext cx="2960700"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09634"/>
              </a:lnSpc>
              <a:spcBef>
                <a:spcPts val="0"/>
              </a:spcBef>
              <a:spcAft>
                <a:spcPts val="0"/>
              </a:spcAft>
              <a:buClr>
                <a:srgbClr val="AE1800"/>
              </a:buClr>
              <a:buSzPts val="2175"/>
              <a:buFont typeface="Arial"/>
              <a:buNone/>
            </a:pPr>
            <a:r>
              <a:rPr b="1" i="0" lang="en-US" sz="2175" u="none" cap="none" strike="noStrike">
                <a:solidFill>
                  <a:srgbClr val="AE1800"/>
                </a:solidFill>
                <a:latin typeface="Arial"/>
                <a:ea typeface="Arial"/>
                <a:cs typeface="Arial"/>
                <a:sym typeface="Arial"/>
              </a:rPr>
              <a:t>0.70</a:t>
            </a:r>
            <a:endParaRPr b="0" i="0" sz="2175" u="none" cap="none" strike="noStrike">
              <a:solidFill>
                <a:schemeClr val="dk1"/>
              </a:solidFill>
              <a:latin typeface="Calibri"/>
              <a:ea typeface="Calibri"/>
              <a:cs typeface="Calibri"/>
              <a:sym typeface="Calibri"/>
            </a:endParaRPr>
          </a:p>
        </p:txBody>
      </p:sp>
      <p:sp>
        <p:nvSpPr>
          <p:cNvPr id="431" name="Google Shape;431;p14"/>
          <p:cNvSpPr/>
          <p:nvPr/>
        </p:nvSpPr>
        <p:spPr>
          <a:xfrm>
            <a:off x="914400" y="6586835"/>
            <a:ext cx="463629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4"/>
          <p:cNvSpPr/>
          <p:nvPr/>
        </p:nvSpPr>
        <p:spPr>
          <a:xfrm>
            <a:off x="914400" y="5977830"/>
            <a:ext cx="4775383"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GRU + multi-head</a:t>
            </a:r>
            <a:endParaRPr b="0" i="0" sz="2175" u="none" cap="none" strike="noStrike">
              <a:solidFill>
                <a:schemeClr val="dk1"/>
              </a:solidFill>
              <a:latin typeface="Calibri"/>
              <a:ea typeface="Calibri"/>
              <a:cs typeface="Calibri"/>
              <a:sym typeface="Calibri"/>
            </a:endParaRPr>
          </a:p>
        </p:txBody>
      </p:sp>
      <p:sp>
        <p:nvSpPr>
          <p:cNvPr id="433" name="Google Shape;433;p14"/>
          <p:cNvSpPr/>
          <p:nvPr/>
        </p:nvSpPr>
        <p:spPr>
          <a:xfrm>
            <a:off x="5550694" y="6586835"/>
            <a:ext cx="330591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4"/>
          <p:cNvSpPr/>
          <p:nvPr/>
        </p:nvSpPr>
        <p:spPr>
          <a:xfrm>
            <a:off x="5451516" y="5977830"/>
            <a:ext cx="3405097"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0.1970</a:t>
            </a:r>
            <a:endParaRPr b="0" i="0" sz="2175" u="none" cap="none" strike="noStrike">
              <a:solidFill>
                <a:schemeClr val="dk1"/>
              </a:solidFill>
              <a:latin typeface="Calibri"/>
              <a:ea typeface="Calibri"/>
              <a:cs typeface="Calibri"/>
              <a:sym typeface="Calibri"/>
            </a:endParaRPr>
          </a:p>
        </p:txBody>
      </p:sp>
      <p:sp>
        <p:nvSpPr>
          <p:cNvPr id="435" name="Google Shape;435;p14"/>
          <p:cNvSpPr/>
          <p:nvPr/>
        </p:nvSpPr>
        <p:spPr>
          <a:xfrm>
            <a:off x="8856613" y="6586835"/>
            <a:ext cx="2185095"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4"/>
          <p:cNvSpPr/>
          <p:nvPr/>
        </p:nvSpPr>
        <p:spPr>
          <a:xfrm>
            <a:off x="8780413" y="5977830"/>
            <a:ext cx="2261295"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0.3985</a:t>
            </a:r>
            <a:endParaRPr b="0" i="0" sz="2175" u="none" cap="none" strike="noStrike">
              <a:solidFill>
                <a:schemeClr val="dk1"/>
              </a:solidFill>
              <a:latin typeface="Calibri"/>
              <a:ea typeface="Calibri"/>
              <a:cs typeface="Calibri"/>
              <a:sym typeface="Calibri"/>
            </a:endParaRPr>
          </a:p>
        </p:txBody>
      </p:sp>
      <p:sp>
        <p:nvSpPr>
          <p:cNvPr id="437" name="Google Shape;437;p14"/>
          <p:cNvSpPr/>
          <p:nvPr/>
        </p:nvSpPr>
        <p:spPr>
          <a:xfrm>
            <a:off x="11041707" y="6586835"/>
            <a:ext cx="345742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4"/>
          <p:cNvSpPr/>
          <p:nvPr/>
        </p:nvSpPr>
        <p:spPr>
          <a:xfrm>
            <a:off x="10937985" y="5977830"/>
            <a:ext cx="3561149"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0.0382</a:t>
            </a:r>
            <a:endParaRPr b="0" i="0" sz="2175" u="none" cap="none" strike="noStrike">
              <a:solidFill>
                <a:schemeClr val="dk1"/>
              </a:solidFill>
              <a:latin typeface="Calibri"/>
              <a:ea typeface="Calibri"/>
              <a:cs typeface="Calibri"/>
              <a:sym typeface="Calibri"/>
            </a:endParaRPr>
          </a:p>
        </p:txBody>
      </p:sp>
      <p:sp>
        <p:nvSpPr>
          <p:cNvPr id="439" name="Google Shape;439;p14"/>
          <p:cNvSpPr/>
          <p:nvPr/>
        </p:nvSpPr>
        <p:spPr>
          <a:xfrm>
            <a:off x="14499134" y="6586835"/>
            <a:ext cx="287446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4"/>
          <p:cNvSpPr/>
          <p:nvPr/>
        </p:nvSpPr>
        <p:spPr>
          <a:xfrm>
            <a:off x="14412900" y="5977830"/>
            <a:ext cx="2960700"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0.83</a:t>
            </a:r>
            <a:endParaRPr b="0" i="0" sz="2175" u="none" cap="none" strike="noStrike">
              <a:solidFill>
                <a:schemeClr val="dk1"/>
              </a:solidFill>
              <a:latin typeface="Calibri"/>
              <a:ea typeface="Calibri"/>
              <a:cs typeface="Calibri"/>
              <a:sym typeface="Calibri"/>
            </a:endParaRPr>
          </a:p>
        </p:txBody>
      </p:sp>
      <p:sp>
        <p:nvSpPr>
          <p:cNvPr id="441" name="Google Shape;441;p14"/>
          <p:cNvSpPr/>
          <p:nvPr/>
        </p:nvSpPr>
        <p:spPr>
          <a:xfrm>
            <a:off x="914400" y="7395865"/>
            <a:ext cx="4636294"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4"/>
          <p:cNvSpPr/>
          <p:nvPr/>
        </p:nvSpPr>
        <p:spPr>
          <a:xfrm>
            <a:off x="914400" y="6786860"/>
            <a:ext cx="4775383" cy="466130"/>
          </a:xfrm>
          <a:prstGeom prst="rect">
            <a:avLst/>
          </a:prstGeom>
          <a:noFill/>
          <a:ln>
            <a:noFill/>
          </a:ln>
        </p:spPr>
        <p:txBody>
          <a:bodyPr anchorCtr="0" anchor="ctr" bIns="25400" lIns="25400" spcFirstLastPara="1" rIns="25400" wrap="square" tIns="25400">
            <a:noAutofit/>
          </a:bodyPr>
          <a:lstStyle/>
          <a:p>
            <a:pPr indent="0" lvl="0" marL="0" marR="0" rtl="0" algn="l">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Transformer</a:t>
            </a:r>
            <a:endParaRPr b="0" i="0" sz="2175" u="none" cap="none" strike="noStrike">
              <a:solidFill>
                <a:schemeClr val="dk1"/>
              </a:solidFill>
              <a:latin typeface="Calibri"/>
              <a:ea typeface="Calibri"/>
              <a:cs typeface="Calibri"/>
              <a:sym typeface="Calibri"/>
            </a:endParaRPr>
          </a:p>
        </p:txBody>
      </p:sp>
      <p:sp>
        <p:nvSpPr>
          <p:cNvPr id="443" name="Google Shape;443;p14"/>
          <p:cNvSpPr/>
          <p:nvPr/>
        </p:nvSpPr>
        <p:spPr>
          <a:xfrm>
            <a:off x="5550694" y="7395865"/>
            <a:ext cx="3305919"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4"/>
          <p:cNvSpPr/>
          <p:nvPr/>
        </p:nvSpPr>
        <p:spPr>
          <a:xfrm>
            <a:off x="5451516" y="6786860"/>
            <a:ext cx="3405097"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0.1973</a:t>
            </a:r>
            <a:endParaRPr b="0" i="0" sz="2175" u="none" cap="none" strike="noStrike">
              <a:solidFill>
                <a:schemeClr val="dk1"/>
              </a:solidFill>
              <a:latin typeface="Calibri"/>
              <a:ea typeface="Calibri"/>
              <a:cs typeface="Calibri"/>
              <a:sym typeface="Calibri"/>
            </a:endParaRPr>
          </a:p>
        </p:txBody>
      </p:sp>
      <p:sp>
        <p:nvSpPr>
          <p:cNvPr id="445" name="Google Shape;445;p14"/>
          <p:cNvSpPr/>
          <p:nvPr/>
        </p:nvSpPr>
        <p:spPr>
          <a:xfrm>
            <a:off x="8856613" y="7395865"/>
            <a:ext cx="2185095"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4"/>
          <p:cNvSpPr/>
          <p:nvPr/>
        </p:nvSpPr>
        <p:spPr>
          <a:xfrm>
            <a:off x="8780413" y="6786860"/>
            <a:ext cx="2261295"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0.4033</a:t>
            </a:r>
            <a:endParaRPr b="0" i="0" sz="2175" u="none" cap="none" strike="noStrike">
              <a:solidFill>
                <a:schemeClr val="dk1"/>
              </a:solidFill>
              <a:latin typeface="Calibri"/>
              <a:ea typeface="Calibri"/>
              <a:cs typeface="Calibri"/>
              <a:sym typeface="Calibri"/>
            </a:endParaRPr>
          </a:p>
        </p:txBody>
      </p:sp>
      <p:sp>
        <p:nvSpPr>
          <p:cNvPr id="447" name="Google Shape;447;p14"/>
          <p:cNvSpPr/>
          <p:nvPr/>
        </p:nvSpPr>
        <p:spPr>
          <a:xfrm>
            <a:off x="11041707" y="7395865"/>
            <a:ext cx="345742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4"/>
          <p:cNvSpPr/>
          <p:nvPr/>
        </p:nvSpPr>
        <p:spPr>
          <a:xfrm>
            <a:off x="10937985" y="6786860"/>
            <a:ext cx="3561149"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0.0389</a:t>
            </a:r>
            <a:endParaRPr b="0" i="0" sz="2175" u="none" cap="none" strike="noStrike">
              <a:solidFill>
                <a:schemeClr val="dk1"/>
              </a:solidFill>
              <a:latin typeface="Calibri"/>
              <a:ea typeface="Calibri"/>
              <a:cs typeface="Calibri"/>
              <a:sym typeface="Calibri"/>
            </a:endParaRPr>
          </a:p>
        </p:txBody>
      </p:sp>
      <p:sp>
        <p:nvSpPr>
          <p:cNvPr id="449" name="Google Shape;449;p14"/>
          <p:cNvSpPr/>
          <p:nvPr/>
        </p:nvSpPr>
        <p:spPr>
          <a:xfrm>
            <a:off x="14499134" y="7395865"/>
            <a:ext cx="2874466"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4"/>
          <p:cNvSpPr/>
          <p:nvPr/>
        </p:nvSpPr>
        <p:spPr>
          <a:xfrm>
            <a:off x="14412900" y="6786860"/>
            <a:ext cx="2960700" cy="466130"/>
          </a:xfrm>
          <a:prstGeom prst="rect">
            <a:avLst/>
          </a:prstGeom>
          <a:noFill/>
          <a:ln>
            <a:noFill/>
          </a:ln>
        </p:spPr>
        <p:txBody>
          <a:bodyPr anchorCtr="0" anchor="ctr" bIns="25400" lIns="25400" spcFirstLastPara="1" rIns="25400" wrap="square" tIns="25400">
            <a:noAutofit/>
          </a:bodyPr>
          <a:lstStyle/>
          <a:p>
            <a:pPr indent="0" lvl="0" marL="0" marR="0" rtl="0" algn="r">
              <a:lnSpc>
                <a:spcPct val="136212"/>
              </a:lnSpc>
              <a:spcBef>
                <a:spcPts val="0"/>
              </a:spcBef>
              <a:spcAft>
                <a:spcPts val="0"/>
              </a:spcAft>
              <a:buClr>
                <a:srgbClr val="201E1D"/>
              </a:buClr>
              <a:buSzPts val="2175"/>
              <a:buFont typeface="Arial"/>
              <a:buNone/>
            </a:pPr>
            <a:r>
              <a:rPr b="0" i="0" lang="en-US" sz="2175" u="none" cap="none" strike="noStrike">
                <a:solidFill>
                  <a:srgbClr val="201E1D"/>
                </a:solidFill>
                <a:latin typeface="Arial"/>
                <a:ea typeface="Arial"/>
                <a:cs typeface="Arial"/>
                <a:sym typeface="Arial"/>
              </a:rPr>
              <a:t>2.63</a:t>
            </a:r>
            <a:endParaRPr b="0" i="0" sz="2175" u="none" cap="none" strike="noStrike">
              <a:solidFill>
                <a:schemeClr val="dk1"/>
              </a:solidFill>
              <a:latin typeface="Calibri"/>
              <a:ea typeface="Calibri"/>
              <a:cs typeface="Calibri"/>
              <a:sym typeface="Calibri"/>
            </a:endParaRPr>
          </a:p>
        </p:txBody>
      </p:sp>
      <p:sp>
        <p:nvSpPr>
          <p:cNvPr id="451" name="Google Shape;451;p14"/>
          <p:cNvSpPr/>
          <p:nvPr/>
        </p:nvSpPr>
        <p:spPr>
          <a:xfrm>
            <a:off x="914400" y="7633990"/>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4"/>
          <p:cNvSpPr/>
          <p:nvPr/>
        </p:nvSpPr>
        <p:spPr>
          <a:xfrm>
            <a:off x="914400" y="7900690"/>
            <a:ext cx="8201787" cy="150971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1700" u="none" cap="none" strike="noStrike">
                <a:solidFill>
                  <a:srgbClr val="201E1D"/>
                </a:solidFill>
                <a:latin typeface="Arial"/>
                <a:ea typeface="Arial"/>
                <a:cs typeface="Arial"/>
                <a:sym typeface="Arial"/>
              </a:rPr>
              <a:t>The winner depends on the metric. Bahdanau leads on BLEU-4 and TF-IDF overlap, but the no-attention baseline has the highest METEOR (0.4150 vs 0.4115). None of these gaps is large.</a:t>
            </a:r>
            <a:endParaRPr/>
          </a:p>
        </p:txBody>
      </p:sp>
      <p:sp>
        <p:nvSpPr>
          <p:cNvPr id="453" name="Google Shape;453;p14"/>
          <p:cNvSpPr/>
          <p:nvPr/>
        </p:nvSpPr>
        <p:spPr>
          <a:xfrm>
            <a:off x="9410700" y="7900690"/>
            <a:ext cx="19050" cy="1471613"/>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14"/>
          <p:cNvSpPr/>
          <p:nvPr/>
        </p:nvSpPr>
        <p:spPr>
          <a:xfrm>
            <a:off x="9963150" y="7900690"/>
            <a:ext cx="7649337" cy="150971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1700" u="none" cap="none" strike="noStrike">
                <a:solidFill>
                  <a:srgbClr val="201E1D"/>
                </a:solidFill>
                <a:latin typeface="Arial"/>
                <a:ea typeface="Arial"/>
                <a:cs typeface="Arial"/>
                <a:sym typeface="Arial"/>
              </a:rPr>
              <a:t>Latency is not like-for-like. The Transformer decodes by prefix-recompute; every GRU reuses recurrent state. Its 2.63 ms/image reflects decode policy, not attention cost. TF-IDF overlap is a simplified cosine, not CIDEr-D.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459" name="Shape 459"/>
        <p:cNvGrpSpPr/>
        <p:nvPr/>
      </p:nvGrpSpPr>
      <p:grpSpPr>
        <a:xfrm>
          <a:off x="0" y="0"/>
          <a:ext cx="0" cy="0"/>
          <a:chOff x="0" y="0"/>
          <a:chExt cx="0" cy="0"/>
        </a:xfrm>
      </p:grpSpPr>
      <p:sp>
        <p:nvSpPr>
          <p:cNvPr id="460" name="Google Shape;460;p15"/>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4 — EVALUATION, RESULTS, AND ANALYSIS</a:t>
            </a:r>
            <a:endParaRPr b="0" i="0" sz="1800" u="none" cap="none" strike="noStrike">
              <a:solidFill>
                <a:schemeClr val="dk1"/>
              </a:solidFill>
              <a:latin typeface="Calibri"/>
              <a:ea typeface="Calibri"/>
              <a:cs typeface="Calibri"/>
              <a:sym typeface="Calibri"/>
            </a:endParaRPr>
          </a:p>
        </p:txBody>
      </p:sp>
      <p:sp>
        <p:nvSpPr>
          <p:cNvPr id="461" name="Google Shape;461;p15"/>
          <p:cNvSpPr/>
          <p:nvPr/>
        </p:nvSpPr>
        <p:spPr>
          <a:xfrm>
            <a:off x="914400" y="1440061"/>
            <a:ext cx="14716125" cy="130581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201E1D"/>
                </a:solidFill>
                <a:latin typeface="Arial"/>
                <a:ea typeface="Arial"/>
                <a:cs typeface="Arial"/>
                <a:sym typeface="Arial"/>
              </a:rPr>
              <a:t>Qualitative analysis: where attention changes — and where it gets stuck</a:t>
            </a:r>
            <a:endParaRPr/>
          </a:p>
        </p:txBody>
      </p:sp>
      <p:sp>
        <p:nvSpPr>
          <p:cNvPr id="462" name="Google Shape;462;p15"/>
          <p:cNvSpPr/>
          <p:nvPr/>
        </p:nvSpPr>
        <p:spPr>
          <a:xfrm>
            <a:off x="914400" y="2860179"/>
            <a:ext cx="18105120" cy="432346"/>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0" i="0" lang="en-US" sz="1500" u="none" cap="none" strike="noStrike">
                <a:solidFill>
                  <a:srgbClr val="605D5D"/>
                </a:solidFill>
                <a:latin typeface="Arial"/>
                <a:ea typeface="Arial"/>
                <a:cs typeface="Arial"/>
                <a:sym typeface="Arial"/>
              </a:rPr>
              <a:t>Per-word spatial attention on one validation image. Top: Bahdanau; bottom: Luong. This is an illustrative example, not proof of an architecture-wide cause.</a:t>
            </a:r>
            <a:endParaRPr/>
          </a:p>
        </p:txBody>
      </p:sp>
      <p:pic>
        <p:nvPicPr>
          <p:cNvPr descr="heatmap_combined_stacked.png" id="463" name="Google Shape;463;p15"/>
          <p:cNvPicPr preferRelativeResize="0"/>
          <p:nvPr/>
        </p:nvPicPr>
        <p:blipFill rotWithShape="1">
          <a:blip r:embed="rId3">
            <a:alphaModFix/>
          </a:blip>
          <a:srcRect b="0" l="0" r="0" t="0"/>
          <a:stretch/>
        </p:blipFill>
        <p:spPr>
          <a:xfrm>
            <a:off x="745747" y="2050000"/>
            <a:ext cx="17528026" cy="5968160"/>
          </a:xfrm>
          <a:prstGeom prst="rect">
            <a:avLst/>
          </a:prstGeom>
          <a:noFill/>
          <a:ln>
            <a:noFill/>
          </a:ln>
        </p:spPr>
      </p:pic>
      <p:sp>
        <p:nvSpPr>
          <p:cNvPr id="464" name="Google Shape;464;p15"/>
          <p:cNvSpPr txBox="1"/>
          <p:nvPr/>
        </p:nvSpPr>
        <p:spPr>
          <a:xfrm>
            <a:off x="731520" y="8138160"/>
            <a:ext cx="16824960" cy="914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800" u="none" cap="none" strike="noStrike">
                <a:solidFill>
                  <a:srgbClr val="222222"/>
                </a:solidFill>
                <a:latin typeface="Arial"/>
                <a:ea typeface="Arial"/>
                <a:cs typeface="Arial"/>
                <a:sym typeface="Arial"/>
              </a:rPr>
              <a:t>Bahdanau varies across words and image regions. Luong, after the first word, repeatedly concentrates on nearly the same lower-right region. Each panel is min-max normalized per word for visibility.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3013"/>
        </a:solidFill>
      </p:bgPr>
    </p:bg>
    <p:spTree>
      <p:nvGrpSpPr>
        <p:cNvPr id="469" name="Shape 469"/>
        <p:cNvGrpSpPr/>
        <p:nvPr/>
      </p:nvGrpSpPr>
      <p:grpSpPr>
        <a:xfrm>
          <a:off x="0" y="0"/>
          <a:ext cx="0" cy="0"/>
          <a:chOff x="0" y="0"/>
          <a:chExt cx="0" cy="0"/>
        </a:xfrm>
      </p:grpSpPr>
      <p:sp>
        <p:nvSpPr>
          <p:cNvPr id="470" name="Google Shape;470;p16"/>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FFE0D9"/>
              </a:buClr>
              <a:buSzPts val="1800"/>
              <a:buFont typeface="Arial"/>
              <a:buNone/>
            </a:pPr>
            <a:r>
              <a:rPr b="1" i="0" lang="en-US" sz="1800" u="none" cap="none" strike="noStrike">
                <a:solidFill>
                  <a:srgbClr val="FFE0D9"/>
                </a:solidFill>
                <a:latin typeface="Arial"/>
                <a:ea typeface="Arial"/>
                <a:cs typeface="Arial"/>
                <a:sym typeface="Arial"/>
              </a:rPr>
              <a:t>5 — LESSONS LEARNED</a:t>
            </a:r>
            <a:endParaRPr b="0" i="0" sz="1800" u="none" cap="none" strike="noStrike">
              <a:solidFill>
                <a:schemeClr val="dk1"/>
              </a:solidFill>
              <a:latin typeface="Calibri"/>
              <a:ea typeface="Calibri"/>
              <a:cs typeface="Calibri"/>
              <a:sym typeface="Calibri"/>
            </a:endParaRPr>
          </a:p>
        </p:txBody>
      </p:sp>
      <p:sp>
        <p:nvSpPr>
          <p:cNvPr id="471" name="Google Shape;471;p16"/>
          <p:cNvSpPr/>
          <p:nvPr/>
        </p:nvSpPr>
        <p:spPr>
          <a:xfrm>
            <a:off x="914400" y="1440061"/>
            <a:ext cx="14716125" cy="1359396"/>
          </a:xfrm>
          <a:prstGeom prst="rect">
            <a:avLst/>
          </a:prstGeom>
          <a:noFill/>
          <a:ln>
            <a:noFill/>
          </a:ln>
        </p:spPr>
        <p:txBody>
          <a:bodyPr anchorCtr="0" anchor="t" bIns="25400" lIns="25400" spcFirstLastPara="1" rIns="25400" wrap="square" tIns="25400">
            <a:noAutofit/>
          </a:bodyPr>
          <a:lstStyle/>
          <a:p>
            <a:pPr indent="0" lvl="0" marL="0" marR="0" rtl="0" algn="l">
              <a:lnSpc>
                <a:spcPct val="72250"/>
              </a:lnSpc>
              <a:spcBef>
                <a:spcPts val="0"/>
              </a:spcBef>
              <a:spcAft>
                <a:spcPts val="0"/>
              </a:spcAft>
              <a:buClr>
                <a:srgbClr val="F3F2F2"/>
              </a:buClr>
              <a:buSzPts val="5100"/>
              <a:buFont typeface="Arial"/>
              <a:buNone/>
            </a:pPr>
            <a:r>
              <a:rPr b="1" i="0" lang="en-US" sz="5100" u="none" cap="none" strike="noStrike">
                <a:solidFill>
                  <a:srgbClr val="F3F2F2"/>
                </a:solidFill>
                <a:latin typeface="Arial"/>
                <a:ea typeface="Arial"/>
                <a:cs typeface="Arial"/>
                <a:sym typeface="Arial"/>
              </a:rPr>
              <a:t>Most of our lessons were about discipline, not modeling</a:t>
            </a:r>
            <a:endParaRPr b="0" i="0" sz="5100" u="none" cap="none" strike="noStrike">
              <a:solidFill>
                <a:schemeClr val="dk1"/>
              </a:solidFill>
              <a:latin typeface="Calibri"/>
              <a:ea typeface="Calibri"/>
              <a:cs typeface="Calibri"/>
              <a:sym typeface="Calibri"/>
            </a:endParaRPr>
          </a:p>
        </p:txBody>
      </p:sp>
      <p:sp>
        <p:nvSpPr>
          <p:cNvPr id="472" name="Google Shape;472;p16"/>
          <p:cNvSpPr/>
          <p:nvPr/>
        </p:nvSpPr>
        <p:spPr>
          <a:xfrm>
            <a:off x="914400" y="3256657"/>
            <a:ext cx="7924800" cy="3810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16"/>
          <p:cNvSpPr/>
          <p:nvPr/>
        </p:nvSpPr>
        <p:spPr>
          <a:xfrm>
            <a:off x="914400" y="3542407"/>
            <a:ext cx="8717280" cy="454223"/>
          </a:xfrm>
          <a:prstGeom prst="rect">
            <a:avLst/>
          </a:prstGeom>
          <a:noFill/>
          <a:ln>
            <a:noFill/>
          </a:ln>
        </p:spPr>
        <p:txBody>
          <a:bodyPr anchorCtr="0" anchor="t" bIns="25400" lIns="25400" spcFirstLastPara="1" rIns="25400" wrap="square" tIns="25400">
            <a:noAutofit/>
          </a:bodyPr>
          <a:lstStyle/>
          <a:p>
            <a:pPr indent="0" lvl="0" marL="0" marR="0" rtl="0" algn="l">
              <a:lnSpc>
                <a:spcPct val="80926"/>
              </a:lnSpc>
              <a:spcBef>
                <a:spcPts val="0"/>
              </a:spcBef>
              <a:spcAft>
                <a:spcPts val="0"/>
              </a:spcAft>
              <a:buClr>
                <a:srgbClr val="F3F2F2"/>
              </a:buClr>
              <a:buSzPts val="2850"/>
              <a:buFont typeface="Arial"/>
              <a:buNone/>
            </a:pPr>
            <a:r>
              <a:rPr b="1" i="0" lang="en-US" sz="2850" u="none" cap="none" strike="noStrike">
                <a:solidFill>
                  <a:srgbClr val="F3F2F2"/>
                </a:solidFill>
                <a:latin typeface="Arial"/>
                <a:ea typeface="Arial"/>
                <a:cs typeface="Arial"/>
                <a:sym typeface="Arial"/>
              </a:rPr>
              <a:t>Measure the noise floor before ranking</a:t>
            </a:r>
            <a:endParaRPr b="0" i="0" sz="2850" u="none" cap="none" strike="noStrike">
              <a:solidFill>
                <a:schemeClr val="dk1"/>
              </a:solidFill>
              <a:latin typeface="Calibri"/>
              <a:ea typeface="Calibri"/>
              <a:cs typeface="Calibri"/>
              <a:sym typeface="Calibri"/>
            </a:endParaRPr>
          </a:p>
        </p:txBody>
      </p:sp>
      <p:sp>
        <p:nvSpPr>
          <p:cNvPr id="474" name="Google Shape;474;p16"/>
          <p:cNvSpPr/>
          <p:nvPr/>
        </p:nvSpPr>
        <p:spPr>
          <a:xfrm>
            <a:off x="914400" y="4110930"/>
            <a:ext cx="8162544" cy="1198066"/>
          </a:xfrm>
          <a:prstGeom prst="rect">
            <a:avLst/>
          </a:prstGeom>
          <a:noFill/>
          <a:ln>
            <a:noFill/>
          </a:ln>
        </p:spPr>
        <p:txBody>
          <a:bodyPr anchorCtr="0" anchor="t" bIns="25400" lIns="25400" spcFirstLastPara="1" rIns="25400" wrap="square" tIns="25400">
            <a:noAutofit/>
          </a:bodyPr>
          <a:lstStyle/>
          <a:p>
            <a:pPr indent="0" lvl="0" marL="0" marR="0" rtl="0" algn="l">
              <a:lnSpc>
                <a:spcPct val="123030"/>
              </a:lnSpc>
              <a:spcBef>
                <a:spcPts val="0"/>
              </a:spcBef>
              <a:spcAft>
                <a:spcPts val="0"/>
              </a:spcAft>
              <a:buClr>
                <a:srgbClr val="FFF2EF"/>
              </a:buClr>
              <a:buSzPts val="2175"/>
              <a:buFont typeface="Arial"/>
              <a:buNone/>
            </a:pPr>
            <a:r>
              <a:rPr b="0" i="0" lang="en-US" sz="2175" u="none" cap="none" strike="noStrike">
                <a:solidFill>
                  <a:srgbClr val="FFF2EF"/>
                </a:solidFill>
                <a:latin typeface="Arial"/>
                <a:ea typeface="Arial"/>
                <a:cs typeface="Arial"/>
                <a:sym typeface="Arial"/>
              </a:rPr>
              <a:t>The baseline's three-seed BLEU-4 spread was 0.0002. Without that number we would have read any difference as real; with it, "model A scored higher" becomes a claim we can qualify.</a:t>
            </a:r>
            <a:endParaRPr b="0" i="0" sz="2175" u="none" cap="none" strike="noStrike">
              <a:solidFill>
                <a:schemeClr val="dk1"/>
              </a:solidFill>
              <a:latin typeface="Calibri"/>
              <a:ea typeface="Calibri"/>
              <a:cs typeface="Calibri"/>
              <a:sym typeface="Calibri"/>
            </a:endParaRPr>
          </a:p>
        </p:txBody>
      </p:sp>
      <p:sp>
        <p:nvSpPr>
          <p:cNvPr id="475" name="Google Shape;475;p16"/>
          <p:cNvSpPr/>
          <p:nvPr/>
        </p:nvSpPr>
        <p:spPr>
          <a:xfrm>
            <a:off x="9448800" y="3256657"/>
            <a:ext cx="7924800" cy="3810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6"/>
          <p:cNvSpPr/>
          <p:nvPr/>
        </p:nvSpPr>
        <p:spPr>
          <a:xfrm>
            <a:off x="9448800" y="3542407"/>
            <a:ext cx="8717280" cy="454223"/>
          </a:xfrm>
          <a:prstGeom prst="rect">
            <a:avLst/>
          </a:prstGeom>
          <a:noFill/>
          <a:ln>
            <a:noFill/>
          </a:ln>
        </p:spPr>
        <p:txBody>
          <a:bodyPr anchorCtr="0" anchor="t" bIns="25400" lIns="25400" spcFirstLastPara="1" rIns="25400" wrap="square" tIns="25400">
            <a:noAutofit/>
          </a:bodyPr>
          <a:lstStyle/>
          <a:p>
            <a:pPr indent="0" lvl="0" marL="0" marR="0" rtl="0" algn="l">
              <a:lnSpc>
                <a:spcPct val="80926"/>
              </a:lnSpc>
              <a:spcBef>
                <a:spcPts val="0"/>
              </a:spcBef>
              <a:spcAft>
                <a:spcPts val="0"/>
              </a:spcAft>
              <a:buClr>
                <a:srgbClr val="F3F2F2"/>
              </a:buClr>
              <a:buSzPts val="2850"/>
              <a:buFont typeface="Arial"/>
              <a:buNone/>
            </a:pPr>
            <a:r>
              <a:rPr b="1" i="0" lang="en-US" sz="2850" u="none" cap="none" strike="noStrike">
                <a:solidFill>
                  <a:srgbClr val="F3F2F2"/>
                </a:solidFill>
                <a:latin typeface="Arial"/>
                <a:ea typeface="Arial"/>
                <a:cs typeface="Arial"/>
                <a:sym typeface="Arial"/>
              </a:rPr>
              <a:t>The selection metric changes the answer</a:t>
            </a:r>
            <a:endParaRPr b="0" i="0" sz="2850" u="none" cap="none" strike="noStrike">
              <a:solidFill>
                <a:schemeClr val="dk1"/>
              </a:solidFill>
              <a:latin typeface="Calibri"/>
              <a:ea typeface="Calibri"/>
              <a:cs typeface="Calibri"/>
              <a:sym typeface="Calibri"/>
            </a:endParaRPr>
          </a:p>
        </p:txBody>
      </p:sp>
      <p:sp>
        <p:nvSpPr>
          <p:cNvPr id="477" name="Google Shape;477;p16"/>
          <p:cNvSpPr/>
          <p:nvPr/>
        </p:nvSpPr>
        <p:spPr>
          <a:xfrm>
            <a:off x="9448800" y="4110930"/>
            <a:ext cx="8162544" cy="1198066"/>
          </a:xfrm>
          <a:prstGeom prst="rect">
            <a:avLst/>
          </a:prstGeom>
          <a:noFill/>
          <a:ln>
            <a:noFill/>
          </a:ln>
        </p:spPr>
        <p:txBody>
          <a:bodyPr anchorCtr="0" anchor="t" bIns="25400" lIns="25400" spcFirstLastPara="1" rIns="25400" wrap="square" tIns="25400">
            <a:noAutofit/>
          </a:bodyPr>
          <a:lstStyle/>
          <a:p>
            <a:pPr indent="0" lvl="0" marL="0" marR="0" rtl="0" algn="l">
              <a:lnSpc>
                <a:spcPct val="123030"/>
              </a:lnSpc>
              <a:spcBef>
                <a:spcPts val="0"/>
              </a:spcBef>
              <a:spcAft>
                <a:spcPts val="0"/>
              </a:spcAft>
              <a:buClr>
                <a:srgbClr val="FFF2EF"/>
              </a:buClr>
              <a:buSzPts val="2175"/>
              <a:buFont typeface="Arial"/>
              <a:buNone/>
            </a:pPr>
            <a:r>
              <a:rPr b="0" i="0" lang="en-US" sz="2175" u="none" cap="none" strike="noStrike">
                <a:solidFill>
                  <a:srgbClr val="FFF2EF"/>
                </a:solidFill>
                <a:latin typeface="Arial"/>
                <a:ea typeface="Arial"/>
                <a:cs typeface="Arial"/>
                <a:sym typeface="Arial"/>
              </a:rPr>
              <a:t>Validation loss and validation BLEU-4 peaked at different epochs. Checkpointing on loss would have shipped a different — and by our reported metric, worse — model.</a:t>
            </a:r>
            <a:endParaRPr b="0" i="0" sz="2175" u="none" cap="none" strike="noStrike">
              <a:solidFill>
                <a:schemeClr val="dk1"/>
              </a:solidFill>
              <a:latin typeface="Calibri"/>
              <a:ea typeface="Calibri"/>
              <a:cs typeface="Calibri"/>
              <a:sym typeface="Calibri"/>
            </a:endParaRPr>
          </a:p>
        </p:txBody>
      </p:sp>
      <p:sp>
        <p:nvSpPr>
          <p:cNvPr id="478" name="Google Shape;478;p16"/>
          <p:cNvSpPr/>
          <p:nvPr/>
        </p:nvSpPr>
        <p:spPr>
          <a:xfrm>
            <a:off x="914400" y="5728097"/>
            <a:ext cx="7924800" cy="3810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6"/>
          <p:cNvSpPr/>
          <p:nvPr/>
        </p:nvSpPr>
        <p:spPr>
          <a:xfrm>
            <a:off x="914400" y="6013847"/>
            <a:ext cx="8717280" cy="454223"/>
          </a:xfrm>
          <a:prstGeom prst="rect">
            <a:avLst/>
          </a:prstGeom>
          <a:noFill/>
          <a:ln>
            <a:noFill/>
          </a:ln>
        </p:spPr>
        <p:txBody>
          <a:bodyPr anchorCtr="0" anchor="t" bIns="25400" lIns="25400" spcFirstLastPara="1" rIns="25400" wrap="square" tIns="25400">
            <a:noAutofit/>
          </a:bodyPr>
          <a:lstStyle/>
          <a:p>
            <a:pPr indent="0" lvl="0" marL="0" marR="0" rtl="0" algn="l">
              <a:lnSpc>
                <a:spcPct val="80926"/>
              </a:lnSpc>
              <a:spcBef>
                <a:spcPts val="0"/>
              </a:spcBef>
              <a:spcAft>
                <a:spcPts val="0"/>
              </a:spcAft>
              <a:buClr>
                <a:srgbClr val="F3F2F2"/>
              </a:buClr>
              <a:buSzPts val="2850"/>
              <a:buFont typeface="Arial"/>
              <a:buNone/>
            </a:pPr>
            <a:r>
              <a:rPr b="1" i="0" lang="en-US" sz="2850" u="none" cap="none" strike="noStrike">
                <a:solidFill>
                  <a:srgbClr val="F3F2F2"/>
                </a:solidFill>
                <a:latin typeface="Arial"/>
                <a:ea typeface="Arial"/>
                <a:cs typeface="Arial"/>
                <a:sym typeface="Arial"/>
              </a:rPr>
              <a:t>Reproducibility infrastructure earns its keep</a:t>
            </a:r>
            <a:endParaRPr b="0" i="0" sz="2850" u="none" cap="none" strike="noStrike">
              <a:solidFill>
                <a:schemeClr val="dk1"/>
              </a:solidFill>
              <a:latin typeface="Calibri"/>
              <a:ea typeface="Calibri"/>
              <a:cs typeface="Calibri"/>
              <a:sym typeface="Calibri"/>
            </a:endParaRPr>
          </a:p>
        </p:txBody>
      </p:sp>
      <p:sp>
        <p:nvSpPr>
          <p:cNvPr id="480" name="Google Shape;480;p16"/>
          <p:cNvSpPr/>
          <p:nvPr/>
        </p:nvSpPr>
        <p:spPr>
          <a:xfrm>
            <a:off x="914400" y="6582370"/>
            <a:ext cx="8162544" cy="1198066"/>
          </a:xfrm>
          <a:prstGeom prst="rect">
            <a:avLst/>
          </a:prstGeom>
          <a:noFill/>
          <a:ln>
            <a:noFill/>
          </a:ln>
        </p:spPr>
        <p:txBody>
          <a:bodyPr anchorCtr="0" anchor="t" bIns="25400" lIns="25400" spcFirstLastPara="1" rIns="25400" wrap="square" tIns="25400">
            <a:noAutofit/>
          </a:bodyPr>
          <a:lstStyle/>
          <a:p>
            <a:pPr indent="0" lvl="0" marL="0" marR="0" rtl="0" algn="l">
              <a:lnSpc>
                <a:spcPct val="123030"/>
              </a:lnSpc>
              <a:spcBef>
                <a:spcPts val="0"/>
              </a:spcBef>
              <a:spcAft>
                <a:spcPts val="0"/>
              </a:spcAft>
              <a:buClr>
                <a:srgbClr val="FFF2EF"/>
              </a:buClr>
              <a:buSzPts val="2175"/>
              <a:buFont typeface="Arial"/>
              <a:buNone/>
            </a:pPr>
            <a:r>
              <a:rPr b="0" i="0" lang="en-US" sz="2175" u="none" cap="none" strike="noStrike">
                <a:solidFill>
                  <a:srgbClr val="FFF2EF"/>
                </a:solidFill>
                <a:latin typeface="Arial"/>
                <a:ea typeface="Arial"/>
                <a:cs typeface="Arial"/>
                <a:sym typeface="Arial"/>
              </a:rPr>
              <a:t>Two machines, merged results: a misordered feature cache or a stale checkpoint were real risks. Content hashes and a frozen manifest caught them mechanically rather than by luck.</a:t>
            </a:r>
            <a:endParaRPr b="0" i="0" sz="2175" u="none" cap="none" strike="noStrike">
              <a:solidFill>
                <a:schemeClr val="dk1"/>
              </a:solidFill>
              <a:latin typeface="Calibri"/>
              <a:ea typeface="Calibri"/>
              <a:cs typeface="Calibri"/>
              <a:sym typeface="Calibri"/>
            </a:endParaRPr>
          </a:p>
        </p:txBody>
      </p:sp>
      <p:sp>
        <p:nvSpPr>
          <p:cNvPr id="481" name="Google Shape;481;p16"/>
          <p:cNvSpPr/>
          <p:nvPr/>
        </p:nvSpPr>
        <p:spPr>
          <a:xfrm>
            <a:off x="9448800" y="5728097"/>
            <a:ext cx="7924800" cy="38100"/>
          </a:xfrm>
          <a:prstGeom prst="rect">
            <a:avLst/>
          </a:prstGeom>
          <a:solidFill>
            <a:srgbClr val="F3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6"/>
          <p:cNvSpPr/>
          <p:nvPr/>
        </p:nvSpPr>
        <p:spPr>
          <a:xfrm>
            <a:off x="9448800" y="6013847"/>
            <a:ext cx="8717280" cy="454223"/>
          </a:xfrm>
          <a:prstGeom prst="rect">
            <a:avLst/>
          </a:prstGeom>
          <a:noFill/>
          <a:ln>
            <a:noFill/>
          </a:ln>
        </p:spPr>
        <p:txBody>
          <a:bodyPr anchorCtr="0" anchor="t" bIns="25400" lIns="25400" spcFirstLastPara="1" rIns="25400" wrap="square" tIns="25400">
            <a:noAutofit/>
          </a:bodyPr>
          <a:lstStyle/>
          <a:p>
            <a:pPr indent="0" lvl="0" marL="0" marR="0" rtl="0" algn="l">
              <a:lnSpc>
                <a:spcPct val="80926"/>
              </a:lnSpc>
              <a:spcBef>
                <a:spcPts val="0"/>
              </a:spcBef>
              <a:spcAft>
                <a:spcPts val="0"/>
              </a:spcAft>
              <a:buClr>
                <a:srgbClr val="F3F2F2"/>
              </a:buClr>
              <a:buSzPts val="2850"/>
              <a:buFont typeface="Arial"/>
              <a:buNone/>
            </a:pPr>
            <a:r>
              <a:rPr b="1" i="0" lang="en-US" sz="2850" u="none" cap="none" strike="noStrike">
                <a:solidFill>
                  <a:srgbClr val="F3F2F2"/>
                </a:solidFill>
                <a:latin typeface="Arial"/>
                <a:ea typeface="Arial"/>
                <a:cs typeface="Arial"/>
                <a:sym typeface="Arial"/>
              </a:rPr>
              <a:t>A strong encoder did shrink the attention gap</a:t>
            </a:r>
            <a:endParaRPr b="0" i="0" sz="2850" u="none" cap="none" strike="noStrike">
              <a:solidFill>
                <a:schemeClr val="dk1"/>
              </a:solidFill>
              <a:latin typeface="Calibri"/>
              <a:ea typeface="Calibri"/>
              <a:cs typeface="Calibri"/>
              <a:sym typeface="Calibri"/>
            </a:endParaRPr>
          </a:p>
        </p:txBody>
      </p:sp>
      <p:sp>
        <p:nvSpPr>
          <p:cNvPr id="483" name="Google Shape;483;p16"/>
          <p:cNvSpPr/>
          <p:nvPr/>
        </p:nvSpPr>
        <p:spPr>
          <a:xfrm>
            <a:off x="9448800" y="6582370"/>
            <a:ext cx="8162544" cy="1584722"/>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0" i="0" lang="en-US" sz="1800" u="none" cap="none" strike="noStrike">
                <a:solidFill>
                  <a:srgbClr val="FFF2EF"/>
                </a:solidFill>
                <a:latin typeface="Arial"/>
                <a:ea typeface="Arial"/>
                <a:cs typeface="Arial"/>
                <a:sym typeface="Arial"/>
              </a:rPr>
              <a:t>Our hypothesis held. Only Bahdanau achieved higher mean test BLEU-4 than the baseline, while the baseline still led on METEOR. The gain was ~0.010 BLEU-4 — not the decisive win the early literature reports on weaker features.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488" name="Shape 488"/>
        <p:cNvGrpSpPr/>
        <p:nvPr/>
      </p:nvGrpSpPr>
      <p:grpSpPr>
        <a:xfrm>
          <a:off x="0" y="0"/>
          <a:ext cx="0" cy="0"/>
          <a:chOff x="0" y="0"/>
          <a:chExt cx="0" cy="0"/>
        </a:xfrm>
      </p:grpSpPr>
      <p:sp>
        <p:nvSpPr>
          <p:cNvPr id="489" name="Google Shape;489;p17"/>
          <p:cNvSpPr/>
          <p:nvPr/>
        </p:nvSpPr>
        <p:spPr>
          <a:xfrm>
            <a:off x="914400" y="838200"/>
            <a:ext cx="18105120"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EC3013"/>
              </a:buClr>
              <a:buSzPts val="1800"/>
              <a:buFont typeface="Arial"/>
              <a:buNone/>
            </a:pPr>
            <a:r>
              <a:rPr b="1" i="0" lang="en-US" sz="1800" u="none" cap="none" strike="noStrike">
                <a:solidFill>
                  <a:srgbClr val="EC3013"/>
                </a:solidFill>
                <a:latin typeface="Arial"/>
                <a:ea typeface="Arial"/>
                <a:cs typeface="Arial"/>
                <a:sym typeface="Arial"/>
              </a:rPr>
              <a:t>5 — LESSONS LEARNED</a:t>
            </a:r>
            <a:endParaRPr b="0" i="0" sz="1800" u="none" cap="none" strike="noStrike">
              <a:solidFill>
                <a:schemeClr val="dk1"/>
              </a:solidFill>
              <a:latin typeface="Calibri"/>
              <a:ea typeface="Calibri"/>
              <a:cs typeface="Calibri"/>
              <a:sym typeface="Calibri"/>
            </a:endParaRPr>
          </a:p>
        </p:txBody>
      </p:sp>
      <p:sp>
        <p:nvSpPr>
          <p:cNvPr id="490" name="Google Shape;490;p17"/>
          <p:cNvSpPr/>
          <p:nvPr/>
        </p:nvSpPr>
        <p:spPr>
          <a:xfrm>
            <a:off x="914400" y="1440061"/>
            <a:ext cx="14878050" cy="671959"/>
          </a:xfrm>
          <a:prstGeom prst="rect">
            <a:avLst/>
          </a:prstGeom>
          <a:noFill/>
          <a:ln>
            <a:noFill/>
          </a:ln>
        </p:spPr>
        <p:txBody>
          <a:bodyPr anchorCtr="0" anchor="t" bIns="25400" lIns="25400" spcFirstLastPara="1" rIns="25400" wrap="square" tIns="25400">
            <a:noAutofit/>
          </a:bodyPr>
          <a:lstStyle/>
          <a:p>
            <a:pPr indent="0" lvl="0" marL="0" marR="0" rtl="0" algn="l">
              <a:lnSpc>
                <a:spcPct val="73956"/>
              </a:lnSpc>
              <a:spcBef>
                <a:spcPts val="0"/>
              </a:spcBef>
              <a:spcAft>
                <a:spcPts val="0"/>
              </a:spcAft>
              <a:buClr>
                <a:srgbClr val="201E1D"/>
              </a:buClr>
              <a:buSzPts val="4800"/>
              <a:buFont typeface="Arial"/>
              <a:buNone/>
            </a:pPr>
            <a:r>
              <a:rPr b="1" i="0" lang="en-US" sz="4800" u="none" cap="none" strike="noStrike">
                <a:solidFill>
                  <a:srgbClr val="201E1D"/>
                </a:solidFill>
                <a:latin typeface="Arial"/>
                <a:ea typeface="Arial"/>
                <a:cs typeface="Arial"/>
                <a:sym typeface="Arial"/>
              </a:rPr>
              <a:t>What we would tell the next team</a:t>
            </a:r>
            <a:endParaRPr b="0" i="0" sz="4800" u="none" cap="none" strike="noStrike">
              <a:solidFill>
                <a:schemeClr val="dk1"/>
              </a:solidFill>
              <a:latin typeface="Calibri"/>
              <a:ea typeface="Calibri"/>
              <a:cs typeface="Calibri"/>
              <a:sym typeface="Calibri"/>
            </a:endParaRPr>
          </a:p>
        </p:txBody>
      </p:sp>
      <p:sp>
        <p:nvSpPr>
          <p:cNvPr id="491" name="Google Shape;491;p17"/>
          <p:cNvSpPr/>
          <p:nvPr/>
        </p:nvSpPr>
        <p:spPr>
          <a:xfrm>
            <a:off x="914400" y="2493020"/>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7"/>
          <p:cNvSpPr/>
          <p:nvPr/>
        </p:nvSpPr>
        <p:spPr>
          <a:xfrm>
            <a:off x="914400" y="2816870"/>
            <a:ext cx="8717280" cy="392311"/>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1600" u="none" cap="none" strike="noStrike">
                <a:solidFill>
                  <a:srgbClr val="EE2E16"/>
                </a:solidFill>
                <a:latin typeface="Arial"/>
                <a:ea typeface="Arial"/>
                <a:cs typeface="Arial"/>
                <a:sym typeface="Arial"/>
              </a:rPr>
              <a:t>RECOMMENDATION</a:t>
            </a:r>
            <a:endParaRPr/>
          </a:p>
        </p:txBody>
      </p:sp>
      <p:sp>
        <p:nvSpPr>
          <p:cNvPr id="493" name="Google Shape;493;p17"/>
          <p:cNvSpPr/>
          <p:nvPr/>
        </p:nvSpPr>
        <p:spPr>
          <a:xfrm>
            <a:off x="914400" y="3342531"/>
            <a:ext cx="8162544" cy="838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Bahdanau for the strongest mean BLEU-4 and TF-IDF overlap, plus interpretable heatmaps.</a:t>
            </a:r>
            <a:endParaRPr/>
          </a:p>
        </p:txBody>
      </p:sp>
      <p:sp>
        <p:nvSpPr>
          <p:cNvPr id="494" name="Google Shape;494;p17"/>
          <p:cNvSpPr/>
          <p:nvPr/>
        </p:nvSpPr>
        <p:spPr>
          <a:xfrm>
            <a:off x="914400" y="4314081"/>
            <a:ext cx="8162544" cy="838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plain GRU if cost matters: 4.19M parameters, 0.43 ms/image, highest METEOR of the five.</a:t>
            </a:r>
            <a:endParaRPr/>
          </a:p>
        </p:txBody>
      </p:sp>
      <p:sp>
        <p:nvSpPr>
          <p:cNvPr id="495" name="Google Shape;495;p17"/>
          <p:cNvSpPr/>
          <p:nvPr/>
        </p:nvSpPr>
        <p:spPr>
          <a:xfrm>
            <a:off x="9448800" y="2816870"/>
            <a:ext cx="19050" cy="269736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7"/>
          <p:cNvSpPr/>
          <p:nvPr/>
        </p:nvSpPr>
        <p:spPr>
          <a:xfrm>
            <a:off x="10077450" y="2816870"/>
            <a:ext cx="8025765" cy="392311"/>
          </a:xfrm>
          <a:prstGeom prst="rect">
            <a:avLst/>
          </a:prstGeom>
          <a:noFill/>
          <a:ln>
            <a:noFill/>
          </a:ln>
        </p:spPr>
        <p:txBody>
          <a:bodyPr anchorCtr="0" anchor="t" bIns="25400" lIns="25400" spcFirstLastPara="1" rIns="25400" wrap="square" tIns="25400">
            <a:noAutofit/>
          </a:bodyPr>
          <a:lstStyle/>
          <a:p>
            <a:pPr indent="0" lvl="0" marL="0" marR="0" rtl="0" algn="l">
              <a:lnSpc>
                <a:spcPct val="132857"/>
              </a:lnSpc>
              <a:spcBef>
                <a:spcPts val="0"/>
              </a:spcBef>
              <a:spcAft>
                <a:spcPts val="0"/>
              </a:spcAft>
              <a:buClr>
                <a:srgbClr val="605D5D"/>
              </a:buClr>
              <a:buSzPts val="1800"/>
              <a:buFont typeface="Arial"/>
              <a:buNone/>
            </a:pPr>
            <a:r>
              <a:rPr b="1" i="0" lang="en-US" sz="1800" u="none" cap="none" strike="noStrike">
                <a:solidFill>
                  <a:srgbClr val="605D5D"/>
                </a:solidFill>
                <a:latin typeface="Arial"/>
                <a:ea typeface="Arial"/>
                <a:cs typeface="Arial"/>
                <a:sym typeface="Arial"/>
              </a:rPr>
              <a:t>LIMITS OF THIS STUDY</a:t>
            </a:r>
            <a:endParaRPr b="0" i="0" sz="1800" u="none" cap="none" strike="noStrike">
              <a:solidFill>
                <a:schemeClr val="dk1"/>
              </a:solidFill>
              <a:latin typeface="Calibri"/>
              <a:ea typeface="Calibri"/>
              <a:cs typeface="Calibri"/>
              <a:sym typeface="Calibri"/>
            </a:endParaRPr>
          </a:p>
        </p:txBody>
      </p:sp>
      <p:sp>
        <p:nvSpPr>
          <p:cNvPr id="497" name="Google Shape;497;p17"/>
          <p:cNvSpPr/>
          <p:nvPr/>
        </p:nvSpPr>
        <p:spPr>
          <a:xfrm>
            <a:off x="10077450" y="3342531"/>
            <a:ext cx="7515035" cy="838200"/>
          </a:xfrm>
          <a:prstGeom prst="rect">
            <a:avLst/>
          </a:prstGeom>
          <a:noFill/>
          <a:ln>
            <a:noFill/>
          </a:ln>
        </p:spPr>
        <p:txBody>
          <a:bodyPr anchorCtr="0" anchor="t" bIns="25400" lIns="25400" spcFirstLastPara="1" rIns="25400" wrap="square" tIns="25400">
            <a:noAutofit/>
          </a:bodyPr>
          <a:lstStyle/>
          <a:p>
            <a:pPr indent="0" lvl="0" marL="0" marR="0" rtl="0" algn="l">
              <a:lnSpc>
                <a:spcPct val="123529"/>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Three seeds show the sign of an effect, not a strong statistical claim.</a:t>
            </a:r>
            <a:endParaRPr b="0" i="0" sz="2250" u="none" cap="none" strike="noStrike">
              <a:solidFill>
                <a:schemeClr val="dk1"/>
              </a:solidFill>
              <a:latin typeface="Calibri"/>
              <a:ea typeface="Calibri"/>
              <a:cs typeface="Calibri"/>
              <a:sym typeface="Calibri"/>
            </a:endParaRPr>
          </a:p>
        </p:txBody>
      </p:sp>
      <p:sp>
        <p:nvSpPr>
          <p:cNvPr id="498" name="Google Shape;498;p17"/>
          <p:cNvSpPr/>
          <p:nvPr/>
        </p:nvSpPr>
        <p:spPr>
          <a:xfrm>
            <a:off x="10077450" y="4314081"/>
            <a:ext cx="7515035" cy="1238250"/>
          </a:xfrm>
          <a:prstGeom prst="rect">
            <a:avLst/>
          </a:prstGeom>
          <a:noFill/>
          <a:ln>
            <a:noFill/>
          </a:ln>
        </p:spPr>
        <p:txBody>
          <a:bodyPr anchorCtr="0" anchor="t" bIns="25400" lIns="25400" spcFirstLastPara="1" rIns="25400" wrap="square" tIns="25400">
            <a:noAutofit/>
          </a:bodyPr>
          <a:lstStyle/>
          <a:p>
            <a:pPr indent="0" lvl="0" marL="0" marR="0" rtl="0" algn="l">
              <a:lnSpc>
                <a:spcPct val="123529"/>
              </a:lnSpc>
              <a:spcBef>
                <a:spcPts val="0"/>
              </a:spcBef>
              <a:spcAft>
                <a:spcPts val="0"/>
              </a:spcAft>
              <a:buClr>
                <a:srgbClr val="444141"/>
              </a:buClr>
              <a:buSzPts val="2250"/>
              <a:buFont typeface="Arial"/>
              <a:buNone/>
            </a:pPr>
            <a:r>
              <a:rPr b="0" i="0" lang="en-US" sz="2250" u="none" cap="none" strike="noStrike">
                <a:solidFill>
                  <a:srgbClr val="444141"/>
                </a:solidFill>
                <a:latin typeface="Arial"/>
                <a:ea typeface="Arial"/>
                <a:cs typeface="Arial"/>
                <a:sym typeface="Arial"/>
              </a:rPr>
              <a:t>Flickr8k is small; the Transformer likely never got the data it wants. Beam search and a fine-tuned encoder remain untested.</a:t>
            </a:r>
            <a:endParaRPr b="0" i="0" sz="2250" u="none" cap="none" strike="noStrike">
              <a:solidFill>
                <a:schemeClr val="dk1"/>
              </a:solidFill>
              <a:latin typeface="Calibri"/>
              <a:ea typeface="Calibri"/>
              <a:cs typeface="Calibri"/>
              <a:sym typeface="Calibri"/>
            </a:endParaRPr>
          </a:p>
        </p:txBody>
      </p:sp>
      <p:sp>
        <p:nvSpPr>
          <p:cNvPr id="499" name="Google Shape;499;p17"/>
          <p:cNvSpPr/>
          <p:nvPr/>
        </p:nvSpPr>
        <p:spPr>
          <a:xfrm>
            <a:off x="914400" y="8471595"/>
            <a:ext cx="16459200" cy="19050"/>
          </a:xfrm>
          <a:prstGeom prst="rect">
            <a:avLst/>
          </a:prstGeom>
          <a:solidFill>
            <a:srgbClr val="201E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7"/>
          <p:cNvSpPr/>
          <p:nvPr/>
        </p:nvSpPr>
        <p:spPr>
          <a:xfrm>
            <a:off x="914400" y="8795450"/>
            <a:ext cx="2557800" cy="805800"/>
          </a:xfrm>
          <a:prstGeom prst="rect">
            <a:avLst/>
          </a:prstGeom>
          <a:noFill/>
          <a:ln>
            <a:noFill/>
          </a:ln>
        </p:spPr>
        <p:txBody>
          <a:bodyPr anchorCtr="0" anchor="t" bIns="25400" lIns="25400" spcFirstLastPara="1" rIns="25400" wrap="square" tIns="25400">
            <a:noAutofit/>
          </a:bodyPr>
          <a:lstStyle/>
          <a:p>
            <a:pPr indent="0" lvl="0" marL="0" marR="0" rtl="0" algn="l">
              <a:lnSpc>
                <a:spcPct val="110411"/>
              </a:lnSpc>
              <a:spcBef>
                <a:spcPts val="0"/>
              </a:spcBef>
              <a:spcAft>
                <a:spcPts val="0"/>
              </a:spcAft>
              <a:buClr>
                <a:srgbClr val="201E1D"/>
              </a:buClr>
              <a:buSzPts val="3900"/>
              <a:buFont typeface="Arial"/>
              <a:buNone/>
            </a:pPr>
            <a:r>
              <a:rPr b="1" i="0" lang="en-US" sz="3900" u="none" cap="none" strike="noStrike">
                <a:solidFill>
                  <a:srgbClr val="201E1D"/>
                </a:solidFill>
                <a:latin typeface="Arial"/>
                <a:ea typeface="Arial"/>
                <a:cs typeface="Arial"/>
                <a:sym typeface="Arial"/>
              </a:rPr>
              <a:t>Questions</a:t>
            </a:r>
            <a:endParaRPr b="0" i="0" sz="3900" u="none" cap="none" strike="noStrike">
              <a:solidFill>
                <a:schemeClr val="dk1"/>
              </a:solidFill>
              <a:latin typeface="Calibri"/>
              <a:ea typeface="Calibri"/>
              <a:cs typeface="Calibri"/>
              <a:sym typeface="Calibri"/>
            </a:endParaRPr>
          </a:p>
        </p:txBody>
      </p:sp>
      <p:sp>
        <p:nvSpPr>
          <p:cNvPr id="501" name="Google Shape;501;p17"/>
          <p:cNvSpPr/>
          <p:nvPr/>
        </p:nvSpPr>
        <p:spPr>
          <a:xfrm>
            <a:off x="9385846" y="9179272"/>
            <a:ext cx="8786530" cy="42192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05D5D"/>
              </a:buClr>
              <a:buSzPts val="1950"/>
              <a:buFont typeface="Arial"/>
              <a:buNone/>
            </a:pPr>
            <a:r>
              <a:rPr b="1" i="0" lang="en-US" sz="1950" u="none" cap="none" strike="noStrike">
                <a:solidFill>
                  <a:srgbClr val="605D5D"/>
                </a:solidFill>
                <a:latin typeface="Arial"/>
                <a:ea typeface="Arial"/>
                <a:cs typeface="Arial"/>
                <a:sym typeface="Arial"/>
              </a:rPr>
              <a:t>ANTHONY KANG · AADIT CHETAN · UNC CHARLOTTE ECE</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